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124712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600" b="1">
                <a:solidFill>
                  <a:srgbClr val="FFFFFF"/>
                </a:solidFill>
                <a:latin typeface="メイリオ"/>
              </a:rPr>
              <a:t>AI概論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0">
                <a:solidFill>
                  <a:srgbClr val="FFC000"/>
                </a:solidFill>
                <a:latin typeface="メイリオ"/>
              </a:rPr>
              <a:t>第 1 回：AI（人工知能）とは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メイリオ"/>
              </a:rPr>
              <a:t>齋藤 邦彦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BDD7EE"/>
                </a:solidFill>
                <a:latin typeface="メイリオ"/>
              </a:rPr>
              <a:t>AIの歴史・生成AI・LLM・産業応用 — AIの全体像を一回で学ぶ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本日の目標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595959"/>
                </a:solidFill>
                <a:latin typeface="メイリオ"/>
              </a:rPr>
              <a:t>このセッションを終了する時点で、以下のことができるようになります：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AIの定義と人間の知性との関係を説明できる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AIの歴史（第1〜第4次ブーム）を時系列で説明できる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ディープラーニングが第3次ブームを起こした理由を理解できる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3756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8328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生成AI・LLM・ChatGPTの概要を説明できる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4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産業別（金融・農漁業・工場・商店）のAI活用例を挙げられる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11247120" cy="566928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6344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262626"/>
                </a:solidFill>
                <a:latin typeface="メイリオ"/>
              </a:rPr>
              <a:t>・ AIを学ぶために必要な知識（統計学・Python）を理解できる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11247120" cy="566928"/>
          </a:xfrm>
          <a:prstGeom prst="rect">
            <a:avLst/>
          </a:prstGeom>
          <a:solidFill>
            <a:srgbClr val="E1F5FE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706E"/>
                </a:solidFill>
                <a:latin typeface="メイリオ"/>
              </a:rPr>
              <a:t>・ 【New】Claude Code でAI分析・プロンプト設計ができる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AIとは — 人工知能の定義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What is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AI（Artificial Intelligence）= 人工知能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BDD7EE"/>
                </a:solidFill>
                <a:latin typeface="メイリオ"/>
              </a:rPr>
              <a:t>人が実現するさまざまな知覚・知性・判断を人工的に再現するコンピュータ技術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278892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知覚・認識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278892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606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視覚：画像・映像の認識（物体・顔・文字）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聴覚：音声認識・音楽生成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言語：自然言語理解・翻訳・要約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103120"/>
            <a:ext cx="278892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推論・学習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697480"/>
            <a:ext cx="278892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788920"/>
            <a:ext cx="2606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パターン学習（機械学習）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深層学習（ディープラーニング）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強化学習（ゲーム・ロボット制御）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78892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生成・創造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80"/>
            <a:ext cx="278892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2606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テキスト生成（LLM・ChatGPT）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画像生成（Stable Diffusion等）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動画・音声・3Dコンテンツ生成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103120"/>
            <a:ext cx="278892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判断・最適化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697480"/>
            <a:ext cx="2788920" cy="210312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788920"/>
            <a:ext cx="2606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自動運転・経路最適化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医療診断支援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金融リスク評価・投資判断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83480"/>
            <a:ext cx="11430000" cy="54864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1F3864"/>
                </a:solidFill>
                <a:latin typeface="メイリオ"/>
              </a:rPr>
              <a:t>AGI（汎用人工知能）への道：現在のAIは「特化型AI」。AGIは人間と同等の汎用知性を持つAIの第一歩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ディープラーニング技術によってAIの精度が大幅に向上し、生成AIにより日常生活でもAIを使う時代に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→ AIは特定タスクで人間を超える能力を持つ段階に到達（画像認識・囲碁・タンパク質構造予測等）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AIの歴史：4つのブーム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History of AI — 4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78892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第1次ブーム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8892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1950〜1960年代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889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推論と探索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27889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チェス・数学定理証明への応用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特定問題の最適解探索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限界：現実の複雑な問題に対応できず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AIの「冬の時代」（1970年代）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960120"/>
            <a:ext cx="278892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005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第2次ブーム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554480"/>
            <a:ext cx="278892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1980〜1990年代初頭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011680"/>
            <a:ext cx="278892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エキスパートシステム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514600"/>
            <a:ext cx="27889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260604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専門知識をコンピュータに実装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条件式で複雑な問題を解決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限界：全事例対応の難しさが露呈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再び「冬の時代」（1990年代）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960120"/>
            <a:ext cx="278892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005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第3次ブーム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278892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2010年代〜現在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11680"/>
            <a:ext cx="278892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ディープラーニング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14600"/>
            <a:ext cx="27889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60604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2012年画像認識コンテストで革命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ビッグデータ×機械学習の実用化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画像・音声・翻訳で精度が急上昇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AI実用化の本格時代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960120"/>
            <a:ext cx="278892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005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第4次ブーム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554480"/>
            <a:ext cx="278892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2018年〜現在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011680"/>
            <a:ext cx="2788920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057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生成AI・LLM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2514600"/>
            <a:ext cx="2788920" cy="29260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606040"/>
            <a:ext cx="2606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GAN・大規模言語モデルの登場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ChatGPT（2022年）が世界を変えた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テキスト・画像・動画を自在に生成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AIが日常生活・業務に浸透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現在の位置：第4次ブーム — 生成AI×LLMが産業・社会・学術を同時に変革中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第3次ブームを起こしたディープラーニング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Deep Learning Revolution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2012年 — 画像認識コンテスト（ImageNet LSVRC）でニューラルネットが圧倒的勝利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486400" cy="4572000"/>
          </a:xfrm>
          <a:prstGeom prst="rect">
            <a:avLst/>
          </a:prstGeom>
          <a:solidFill>
            <a:srgbClr val="E1F5FE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F3864"/>
                </a:solidFill>
                <a:latin typeface="メイリオ"/>
              </a:rPr>
              <a:t>なぜディープラーニングが強いのか？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182880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大量データ活用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240280"/>
            <a:ext cx="3383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331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ビッグデータから自動的に特徴を学習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82880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918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多層ネットワーク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200400"/>
            <a:ext cx="3383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29184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何百・何千層のニューラル層で複雑なパターンを表現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182880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GPU並列計算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160520"/>
            <a:ext cx="3383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25196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従来のCPUと比べて100倍以上の処理速度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828800" cy="7772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12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転移学習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120640"/>
            <a:ext cx="3383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52120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一度学習したモデルを別タスクに再利用可能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554480"/>
            <a:ext cx="5669280" cy="4572000"/>
          </a:xfrm>
          <a:prstGeom prst="rect">
            <a:avLst/>
          </a:prstGeom>
          <a:solidFill>
            <a:srgbClr val="F2F2F2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45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C000"/>
                </a:solidFill>
                <a:latin typeface="メイリオ"/>
              </a:rPr>
              <a:t>AIの進化の系譜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240280"/>
            <a:ext cx="1554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30428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1990年代後半〜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240280"/>
            <a:ext cx="3840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2585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機械学習の実用化：教師あり学習・SVMなど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34640"/>
            <a:ext cx="155448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89864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2012年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2834640"/>
            <a:ext cx="3840480" cy="502920"/>
          </a:xfrm>
          <a:prstGeom prst="rect">
            <a:avLst/>
          </a:prstGeom>
          <a:solidFill>
            <a:srgbClr val="FFF2CC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28529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ディープラーニング革命：ImageNetで従来手法を大幅凌駕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429000"/>
            <a:ext cx="1554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349300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2014年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3429000"/>
            <a:ext cx="3840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34472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GAN登場：画像生成AIの原点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023360"/>
            <a:ext cx="1554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08736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2017年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4023360"/>
            <a:ext cx="3840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0" y="40416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Transformer登場：「Attention is All You Need」論文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617720"/>
            <a:ext cx="1554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468172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2018年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4617720"/>
            <a:ext cx="3840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463600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BERT・GPTシリーズ：大規模言語モデルの時代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5212080"/>
            <a:ext cx="155448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27608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2022年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212080"/>
            <a:ext cx="3840480" cy="502920"/>
          </a:xfrm>
          <a:prstGeom prst="rect">
            <a:avLst/>
          </a:prstGeom>
          <a:solidFill>
            <a:srgbClr val="FFF2CC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52303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ChatGPT公開：生成AIが一般普及（史上最速で1億ユーザー）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806440"/>
            <a:ext cx="15544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870448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</a:rPr>
              <a:t>2024〜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5806440"/>
            <a:ext cx="38404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63840" y="58247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メイリオ"/>
              </a:rPr>
              <a:t>マルチモーダルAI：テキスト・画像・音声・動画を統合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第4次ブーム：生成AIとLLM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Generative AI &amp;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8686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生成AI = 既存データに基づいてテキスト・画像・音声・動画などを生成できるAI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BDD7EE"/>
                </a:solidFill>
                <a:latin typeface="メイリオ"/>
              </a:rPr>
              <a:t>LLM（Large Language Model）= テキストを大規模に学習し自動生成する言語モデル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788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Transformer
（2017年）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27889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「Attention is All You Need」論文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注意機構（アテンション）で並列処理を実現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RNN・LSTMの逐次処理を超えた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920240"/>
            <a:ext cx="2788920" cy="8229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BERT
（2018年Google）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27889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83464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Transformerのエンコーダ部分を活用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文の双方向理解が可能に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質問応答・文章分類で高精度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788920" cy="8229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GPT/ChatGPT
（OpenAI）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7889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Transformerのデコーダ部分を活用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入力から直接回答を生成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ChatGPT3は無料で世界に普及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920240"/>
            <a:ext cx="2788920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659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Claude
（Anthropic）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743200"/>
            <a:ext cx="2788920" cy="219456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Constitutional AI採用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安全性・倫理重視の設計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長文理解・コード生成に強み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ChatGPTの主な能力：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77840"/>
            <a:ext cx="2788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文章生成・要約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80760"/>
            <a:ext cx="278892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6126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レポート・メール・企画書の自動作成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577840"/>
            <a:ext cx="2788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623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翻訳・多言語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6080760"/>
            <a:ext cx="278892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6126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高精度な英語⇔日本語変換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577840"/>
            <a:ext cx="2788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623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プログラミング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6080760"/>
            <a:ext cx="278892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6126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Python・Excel・HTMLコードを生成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5577840"/>
            <a:ext cx="278892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56235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英会話練習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6080760"/>
            <a:ext cx="278892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61264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音声機能で英会話トレーニング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AIを学ぶために必要な知識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Learning Path for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AIを理解し活用するために必要な3つの柱：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データサイエンス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データ処理・分析の技術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36576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383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CSVデータの読み込み・クリーニング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統計分析・可視化（グラフ・ダッシュボード）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機械学習モデルの構築・評価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AIに必要なデータの前処理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6576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統計学・数学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3657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AIの基礎となる学問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468880"/>
            <a:ext cx="36576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560320"/>
            <a:ext cx="3383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確率論・統計的推論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線形代数（行列・ベクトル）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微分・最適化（勾配降下法）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文系学生も必要！概念理解が重要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365760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463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メイリオ"/>
              </a:rPr>
              <a:t>プログラミング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057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AIを実装・活用するツール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468880"/>
            <a:ext cx="3657600" cy="24688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560320"/>
            <a:ext cx="3383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Python（NumPy・pandas・sklearn）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Excel（統計関数・マクロ）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ChatGPT/Claude API活用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Jupyter Notebook・Google Colab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114300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20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本講義のロードマップ：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23560"/>
            <a:ext cx="13716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62356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5623560"/>
            <a:ext cx="274320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83080" y="56235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テーマ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5623560"/>
            <a:ext cx="7040880" cy="438912"/>
          </a:xfrm>
          <a:prstGeom prst="rect">
            <a:avLst/>
          </a:prstGeom>
          <a:solidFill>
            <a:srgbClr val="1F38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5623560"/>
            <a:ext cx="6949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内容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62472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0624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第1回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6062472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60624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AI概論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6062472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6062472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AIの全体像・歴史・生成AI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379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37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第2回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653796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83080" y="6537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データサイエンス入門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6537960"/>
            <a:ext cx="7040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65379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データ経営・DX・産業応用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7013448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7013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第3回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37360" y="7013448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83080" y="7013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統計学基礎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80560" y="7013448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7013448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平均・分散・Σ記号・Excel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748893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74889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第8-10回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7488936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83080" y="748893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機械学習・DL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0560" y="7488936"/>
            <a:ext cx="7040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7488936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回帰・分類・ニューラルネット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7964424"/>
            <a:ext cx="13716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79644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第11回〜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37360" y="7964424"/>
            <a:ext cx="274320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83080" y="796442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生成AI実践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7964424"/>
            <a:ext cx="7040880" cy="45720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26280" y="7964424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ChatGPT・Claude・プロンプト設計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生成AIの種類：画像・音声・3D・動画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Types of 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78892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画像生成AI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889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ChatGPT（DALL-E 3）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Midjourney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Stable Diffusion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Adobe Firefly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2788920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テキストから高品質な画像を生成
マーケティング・デザイン・映像制作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278892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005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音声・音楽生成AI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54480"/>
            <a:ext cx="27889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2763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ElevenLabs（音声クローン）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VOICEVOX（日本語TTS）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Suno AI（楽曲生成）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OpenAI Whisper（音声認識）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200400"/>
            <a:ext cx="2788920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24612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テキスト→音声変換・音声クローン
ナレーション・音楽制作・翻訳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960120"/>
            <a:ext cx="278892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005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3D・XR・メタバース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27889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2763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Unreal Engine（ゲーム・映像）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Unity（3Dゲーム・XR）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Blender + ChatGPT（3Dモデル）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デジタルツイン技術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2788920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24612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AR（拡張現実）・VR（仮想現実）
メタバース・デジタルツイン構築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960120"/>
            <a:ext cx="2788920" cy="5943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0058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動画生成AI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554480"/>
            <a:ext cx="27889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627632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Sora（OpenAI）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Runway Gen-3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Kling（快手）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Lumiere（Google）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200400"/>
            <a:ext cx="2788920" cy="10058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246120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テキスト・画像から動画を生成
広告・映像・教育コンテンツ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80"/>
            <a:ext cx="11430000" cy="50292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1F3864"/>
                </a:solidFill>
                <a:latin typeface="メイリオ"/>
              </a:rPr>
              <a:t>マルチモーダルAI：テキスト・画像・音声・動画を統合して扱う次世代AI（GPT-4o・Gemini等）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937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ビジネス活用の広がり：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0680"/>
            <a:ext cx="27889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コンテンツ制作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43600"/>
            <a:ext cx="2788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989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広告・SNS・カタログを自動生成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5440680"/>
            <a:ext cx="278892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486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教育・研修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943600"/>
            <a:ext cx="2788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5989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パーソナライズ学習コンテンツ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440680"/>
            <a:ext cx="278892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86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製品開発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5943600"/>
            <a:ext cx="2788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5989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3Dモデル・プロトタイプ自動生成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5440680"/>
            <a:ext cx="2788920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54864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エンタメ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5943600"/>
            <a:ext cx="27889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52" y="59893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メイリオ"/>
              </a:rPr>
              <a:t>映画・ゲーム・VTuber制作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産業別AIの応用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AI Applications by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49039" cy="5486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ヘルスケア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病気の早期発見・画像診断AI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新薬開発の候補化合物予測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電子カルテの自動要約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患者リスク層別化モデル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960120"/>
            <a:ext cx="3749039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0332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金融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信用リスク評価・不正検出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アルゴリズム取引・高頻度取引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顧客セグメンテーション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投資戦略・ポートフォリオ最適化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960120"/>
            <a:ext cx="3749039" cy="548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0332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製造・工場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スマートファクトリー（IoT×AI）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異常検知・故障予測・予防保全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工程の総合管理・最適化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品質検査の自動化（画像AI）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749039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39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農漁業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ハウス農業（温度・CO2管理）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漁場予測（海水温画像処理）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農業ロボット・ドローン管理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需要予測による廃棄ロス削減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566160"/>
            <a:ext cx="3749039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639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商店・流通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42062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売れ筋分析（統計・可視化）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需要予測・在庫最適化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顧客行動分析・推薦システム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価格最適化（ダイナミックP）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3749039" cy="548640"/>
          </a:xfrm>
          <a:prstGeom prst="rect">
            <a:avLst/>
          </a:prstGeom>
          <a:solidFill>
            <a:srgbClr val="00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6393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経営・AI経営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114800"/>
            <a:ext cx="3749039" cy="1920240"/>
          </a:xfrm>
          <a:prstGeom prst="rect">
            <a:avLst/>
          </a:prstGeom>
          <a:solidFill>
            <a:srgbClr val="F2F2F2"/>
          </a:solidFill>
          <a:ln w="10160">
            <a:solidFill>
              <a:srgbClr val="007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2062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事業計画書・報告書の自動生成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競合分析・SWOT自動作成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データドリブン意思決定支援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・ 中小企業診断士育成支援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第1回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Lecture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今日学んだキーワード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AI（人工知能）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54480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2763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人間の知覚・推論・判断を人工的に再現する技術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12848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4次ブーム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12848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探索→エキスパート→ディープラーニング→生成AI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71216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443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ディープラーニング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871216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944368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多層ニューラルネットで大量データから自動学習する技術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9584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02736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生成AI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529584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602736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テキスト・画像・音声・動画を自動生成するAI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87952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61104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4187952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4261104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大規模言語モデル。Transformer・BERT・GPT・Claudeなど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46320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19472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産業応用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846320"/>
            <a:ext cx="8686800" cy="594360"/>
          </a:xfrm>
          <a:prstGeom prst="rect">
            <a:avLst/>
          </a:prstGeom>
          <a:solidFill>
            <a:srgbClr val="FFFFFF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491947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ヘルスケア・金融・工場・農漁業・商店×AIの具体例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04688"/>
            <a:ext cx="2743200" cy="5943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AI学習ロードマップ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5504688"/>
            <a:ext cx="8686800" cy="594360"/>
          </a:xfrm>
          <a:prstGeom prst="rect">
            <a:avLst/>
          </a:prstGeom>
          <a:solidFill>
            <a:srgbClr val="F2F2F2"/>
          </a:solidFill>
          <a:ln w="381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5577840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データサイエンス・統計学・Pythonの3本柱で学ぶ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B88600"/>
                </a:solidFill>
                <a:latin typeface="メイリオ"/>
              </a:rPr>
              <a:t>次回：データサイエンス入門 — データ経営・データドリブン意思決定の基礎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機械学習の3つのアプローチ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Types of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49039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教師あり学習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Supervised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正解ラベル付きデータで学習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入力→出力のパターンを学ぶ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例：スパムフィルター・画像分類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例：住宅価格予測・医療診断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回帰（Regression）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分類（Classification）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決定木・SVM・ランダムフォレスト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960120"/>
            <a:ext cx="3749039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005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教師なし学習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25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Unsupervised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正解なしでデータのパターンを発見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データ構造の隠れた規則を見つける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例：顧客セグメンテーション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例：異常検知・推薦システム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クラスタリング（k-means）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次元削減（PCA・t-SNE）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自己符号化器（Autoencoder）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960120"/>
            <a:ext cx="3749039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005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強化学習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325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メイリオ"/>
              </a:rPr>
              <a:t>Reinforcement Learning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54480"/>
            <a:ext cx="3749039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4592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試行錯誤で報酬を最大化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エージェントが環境と相互作用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例：囲碁（AlphaGo）・将棋AI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例：自動運転・ロボット制御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749039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3192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Q学習・方策勾配法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Deep Q-Network（DQN）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595959"/>
                </a:solidFill>
                <a:latin typeface="メイリオ"/>
              </a:rPr>
              <a:t>ChatGPT（RLHF）にも応用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86400"/>
            <a:ext cx="11430000" cy="59436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ディープラーニング（深層学習）は教師あり・教師なし・強化学習すべてに応用可能な汎用技術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→ 生成AI（ChatGPT等）は主に教師あり学習＋RLHF（人間フィードバック強化学習）で構築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ニューラルネットワークの仕組み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How Neural Networks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人間の脳の神経回路を模倣した数学モデル — 入力層・隠れ層・出力層で構成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49039" cy="6400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入力層
Input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749039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特徴量（ピクセル・数値・テキスト）を受け取る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各ノード＝1つの入力変数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例：28×28画像→784ノード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749039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隠れ層
Hidden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749039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60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重み（Weight）×入力を計算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活性化関数で非線形変換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多層化→ディープラーニング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749039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74519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出力層
Output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468880"/>
            <a:ext cx="3749039" cy="20116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最終的な予測結果を出力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分類：ソフトマックス関数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回帰：線形出力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ディープラーニングの学習プロセス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66360"/>
            <a:ext cx="27889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順伝播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69280"/>
            <a:ext cx="278892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715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入力→隠れ層→出力を計算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166360"/>
            <a:ext cx="278892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損失計算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5669280"/>
            <a:ext cx="278892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4992" y="5715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正解と予測の誤差（Loss）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166360"/>
            <a:ext cx="278892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逆伝播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669280"/>
            <a:ext cx="278892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5715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誤差を各層に伝達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5166360"/>
            <a:ext cx="278892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重み更新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5669280"/>
            <a:ext cx="278892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5715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勾配降下法で自動最適化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メイリオ"/>
              </a:rPr>
              <a:t>この繰り返し（エポック）で精度が向上 → 大量データ×GPU処理で驚異的な性能を実現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生成AIの活用事例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Generative AI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テキスト・画像・音声・動画・コードを「生成」するAI — 2022年以降に急速に普及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889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テキスト生成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メイリオ"/>
              </a:rPr>
              <a:t>ChatGPT / Claude / 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278892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2606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文章作成・要約・翻訳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プログラムコード生成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質問応答・チャットボット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報告書・企画書の自動作成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737360"/>
            <a:ext cx="2788920" cy="5029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画像生成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24028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メイリオ"/>
              </a:rPr>
              <a:t>Stable Diffusion / DALL-E / Midjourney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43200"/>
            <a:ext cx="278892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834640"/>
            <a:ext cx="2606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広告デザイン・イラスト制作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製品デザインのプロトタイプ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医療画像の生成・拡張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ゲームキャラクター・背景生成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2788920" cy="5029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音声・動画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24028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メイリオ"/>
              </a:rPr>
              <a:t>Suno / ElevenLabs / Runway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278892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834640"/>
            <a:ext cx="2606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AI音楽・BGM自動作成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テキストから動画を生成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バーチャル講師・デジタル人間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字幕・吹き替え自動化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737360"/>
            <a:ext cx="2788920" cy="5029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1783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コード生成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2240280"/>
            <a:ext cx="2788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メイリオ"/>
              </a:rPr>
              <a:t>GitHub Copilot / Claude 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743200"/>
            <a:ext cx="2788920" cy="2377440"/>
          </a:xfrm>
          <a:prstGeom prst="rect">
            <a:avLst/>
          </a:prstGeom>
          <a:solidFill>
            <a:srgbClr val="F2F2F2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834640"/>
            <a:ext cx="2606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コード補完・バグ修正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テストコード自動生成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APIドキュメント作成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システム設計・リファクタリング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57800"/>
            <a:ext cx="11430000" cy="594360"/>
          </a:xfrm>
          <a:prstGeom prst="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B88600"/>
                </a:solidFill>
                <a:latin typeface="メイリオ"/>
              </a:rPr>
              <a:t>市場規模：生成AI市場は2023年の約400億ドルから2030年には約1.3兆ドルに成長予測（Goldman Sachs）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メイリオ"/>
              </a:rPr>
              <a:t>→ あらゆる産業でAIが「道具」となり、使いこなせる人材の価値が急上昇している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AIと倫理・社会的課題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AI Ethics &amp; Social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</a:rPr>
              <a:t>AIの普及とともに顕在化するリスクと倫理的課題 — 技術者・利用者として理解が必須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88920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バイアス・差別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2788920" cy="2606040"/>
          </a:xfrm>
          <a:prstGeom prst="rect">
            <a:avLst/>
          </a:prstGeom>
          <a:solidFill>
            <a:srgbClr val="F2F2F2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2606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学習データに含まれる偏見を継承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人種・性別・年齢への不公平な判断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採用・融資・司法でのAI差別事例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多様なデータと公平性検証が必要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88920" cy="5486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フェイク・誤情報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2788920" cy="2606040"/>
          </a:xfrm>
          <a:prstGeom prst="rect">
            <a:avLst/>
          </a:prstGeom>
          <a:solidFill>
            <a:srgbClr val="F2F2F2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2606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ディープフェイク動画の悪用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AIが生成した偽ニュース拡散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なりすまし詐欺への応用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透明性と出典明示が重要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88920" cy="548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プライバシー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2788920" cy="2606040"/>
          </a:xfrm>
          <a:prstGeom prst="rect">
            <a:avLst/>
          </a:prstGeom>
          <a:solidFill>
            <a:srgbClr val="F2F2F2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606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個人データの無断学習・利用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顔認識による監視社会の懸念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GDPR（EU）・個人情報保護法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データ最小化と同意管理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88920" cy="548640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7152" y="17830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メイリオ"/>
              </a:rPr>
              <a:t>雇用・経済格差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286000"/>
            <a:ext cx="2788920" cy="2606040"/>
          </a:xfrm>
          <a:prstGeom prst="rect">
            <a:avLst/>
          </a:prstGeom>
          <a:solidFill>
            <a:srgbClr val="F2F2F2"/>
          </a:solidFill>
          <a:ln w="6350">
            <a:solidFill>
              <a:srgbClr val="B8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606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ルーティン業務のAI代替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ホワイトカラーの仕事への影響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AI格差（持つ者・持たざる者）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62626"/>
                </a:solidFill>
                <a:latin typeface="メイリオ"/>
              </a:rPr>
              <a:t>→ リスキリングと教育が鍵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11430000" cy="59436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メイリオ"/>
              </a:rPr>
              <a:t>AI開発原則（Google・Microsoft・Anthropic）：安全性・公平性・透明性・プライバシー保護・説明責任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日本：AI戦略2022・AI安全保障・内閣府「人間中心のAI社会原則」— 国際ルール形成に参加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メイリオ"/>
              </a:rPr>
              <a:t>→ AIを使う際は「誰が・何のために・どんなデータを使うか」を常に意識すること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日本のAI政策と世界の動向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Japan AI Policy &amp; Global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日本のAI推進政策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286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AI戦略2022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メイリオ"/>
              </a:rPr>
              <a:t>内閣府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914400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544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2022年策定。デジタル社会実現に向けAI人材育成・研究開発・社会実装を推進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2286000" cy="7315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134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Digi田甲子園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メイリオ"/>
              </a:rPr>
              <a:t>総務省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2240280"/>
            <a:ext cx="9144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377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地方自治体のDX・AI活用事例を発掘・表彰。農漁業・医療・行政への応用を支援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2286000" cy="7315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36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AI安全保障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メイリオ"/>
              </a:rPr>
              <a:t>経産省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063240"/>
            <a:ext cx="914400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32004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AIチップ・基盤モデルの国産化推進。米国との連携でAI覇権に対応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2286000" cy="73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593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メイリオ"/>
              </a:rPr>
              <a:t>教育DX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メイリオ"/>
              </a:rPr>
              <a:t>文科省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886200"/>
            <a:ext cx="91440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02336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大学・高校でのAIリテラシー教育を必修化。生成AI活用ガイドラインを策定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世界のAIトレンド 2025-2030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57800"/>
            <a:ext cx="2286000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9437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AGIへの競争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294376"/>
            <a:ext cx="8961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OpenAI・Google・Anthropicが汎用人工知能の実現を目指して開発競争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41848"/>
            <a:ext cx="2286000" cy="34747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7842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マルチモーダルAI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678424"/>
            <a:ext cx="8961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テキスト・画像・音声・動画を横断して処理するAIモデルの実用化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25896"/>
            <a:ext cx="228600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0624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AIエージェント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6062472"/>
            <a:ext cx="8961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自律的にタスクを実行するAIエージェントが企業業務を変革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9944"/>
            <a:ext cx="228600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省エネAI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446520"/>
            <a:ext cx="8961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大規模モデルの計算コスト・電力消費削減が次の技術課題に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メイリオ"/>
              </a:rPr>
              <a:t>課題・次回予告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41248"/>
            <a:ext cx="115516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472C4"/>
                </a:solidFill>
                <a:latin typeface="メイリオ"/>
              </a:rPr>
              <a:t>Assignment &amp; Next Lecture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33271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メイリオ"/>
              </a:rPr>
              <a:t>【今週の課題】AIを活用した体験レポート（初回は提出なし・体験してみよう）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486400" cy="4526280"/>
          </a:xfrm>
          <a:prstGeom prst="rect">
            <a:avLst/>
          </a:prstGeom>
          <a:solidFill>
            <a:srgbClr val="F2F2F2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課題の内容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371600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TASK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3172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4231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ChatGPTまたはClaudeに自由な質問をする（3回以上）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1371600" cy="56692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TASK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97180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06324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画像生成AI（DALL-E等）で画像を1枚生成してみる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371600" cy="5669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TASK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61188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70332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AIの回答が正しいか自分で調べて確認する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371600" cy="5669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4340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TASK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25196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34340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AIを使った感想を200字でまとめる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371600" cy="5669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98348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メイリオ"/>
              </a:rPr>
              <a:t>TASK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89204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498348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メイリオ"/>
              </a:rPr>
              <a:t>「AIに向いている仕事・向かない仕事」を考える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691640"/>
            <a:ext cx="5760720" cy="4526280"/>
          </a:xfrm>
          <a:prstGeom prst="rect">
            <a:avLst/>
          </a:prstGeom>
          <a:solidFill>
            <a:srgbClr val="E1F5FE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7830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メイリオ"/>
              </a:rPr>
              <a:t>■ 次回（第2回）の内容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33172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📘 データサイエンスの基礎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　　 — データの種類・構造・収集方法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📊 データの前処理と可視化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　　 — 欠損値・外れ値・グラフの読み方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🐍 Pythonでデータを扱う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　　 — pandas基礎・DataFrame操作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🔑 キーワード：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62626"/>
                </a:solidFill>
                <a:latin typeface="メイリオ"/>
              </a:rPr>
              <a:t>　　 量的データ・質的データ・EDA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メイリオ"/>
              </a:rPr>
              <a:t>次回までにChatGPTまたはClaudeのアカウントを作成しておくこと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