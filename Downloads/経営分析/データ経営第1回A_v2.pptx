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1828800"/>
            <a:ext cx="11247120" cy="45720"/>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731520"/>
            <a:ext cx="9418320" cy="1097280"/>
          </a:xfrm>
          <a:prstGeom prst="rect">
            <a:avLst/>
          </a:prstGeom>
          <a:noFill/>
        </p:spPr>
        <p:txBody>
          <a:bodyPr wrap="square">
            <a:spAutoFit/>
          </a:bodyPr>
          <a:lstStyle/>
          <a:p>
            <a:pPr algn="ctr">
              <a:spcAft>
                <a:spcPts val="200"/>
              </a:spcAft>
            </a:pPr>
            <a:r>
              <a:rPr sz="4400" b="1">
                <a:solidFill>
                  <a:srgbClr val="FFFFFF"/>
                </a:solidFill>
                <a:latin typeface="メイリオ"/>
              </a:rPr>
              <a:t>データ経営入門</a:t>
            </a:r>
          </a:p>
        </p:txBody>
      </p:sp>
      <p:sp>
        <p:nvSpPr>
          <p:cNvPr id="5" name="TextBox 4"/>
          <p:cNvSpPr txBox="1"/>
          <p:nvPr/>
        </p:nvSpPr>
        <p:spPr>
          <a:xfrm>
            <a:off x="1371600" y="2103120"/>
            <a:ext cx="9418320" cy="914400"/>
          </a:xfrm>
          <a:prstGeom prst="rect">
            <a:avLst/>
          </a:prstGeom>
          <a:noFill/>
        </p:spPr>
        <p:txBody>
          <a:bodyPr wrap="square">
            <a:spAutoFit/>
          </a:bodyPr>
          <a:lstStyle/>
          <a:p>
            <a:pPr algn="ctr">
              <a:spcAft>
                <a:spcPts val="200"/>
              </a:spcAft>
            </a:pPr>
            <a:r>
              <a:rPr sz="3000" b="0">
                <a:solidFill>
                  <a:srgbClr val="FFC000"/>
                </a:solidFill>
                <a:latin typeface="メイリオ"/>
              </a:rPr>
              <a:t>第 1 回：データ経営・データサイエンス入門</a:t>
            </a:r>
          </a:p>
        </p:txBody>
      </p:sp>
      <p:sp>
        <p:nvSpPr>
          <p:cNvPr id="6" name="TextBox 5"/>
          <p:cNvSpPr txBox="1"/>
          <p:nvPr/>
        </p:nvSpPr>
        <p:spPr>
          <a:xfrm>
            <a:off x="1371600" y="3200400"/>
            <a:ext cx="9418320" cy="548640"/>
          </a:xfrm>
          <a:prstGeom prst="rect">
            <a:avLst/>
          </a:prstGeom>
          <a:noFill/>
        </p:spPr>
        <p:txBody>
          <a:bodyPr wrap="square">
            <a:spAutoFit/>
          </a:bodyPr>
          <a:lstStyle/>
          <a:p>
            <a:pPr algn="ctr">
              <a:spcAft>
                <a:spcPts val="200"/>
              </a:spcAft>
            </a:pPr>
            <a:r>
              <a:rPr sz="2200" b="0">
                <a:solidFill>
                  <a:srgbClr val="FFFFFF"/>
                </a:solidFill>
                <a:latin typeface="メイリオ"/>
              </a:rPr>
              <a:t>齋藤 邦彦</a:t>
            </a:r>
          </a:p>
        </p:txBody>
      </p:sp>
      <p:sp>
        <p:nvSpPr>
          <p:cNvPr id="7" name="TextBox 6"/>
          <p:cNvSpPr txBox="1"/>
          <p:nvPr/>
        </p:nvSpPr>
        <p:spPr>
          <a:xfrm>
            <a:off x="1371600" y="3931920"/>
            <a:ext cx="9418320" cy="457200"/>
          </a:xfrm>
          <a:prstGeom prst="rect">
            <a:avLst/>
          </a:prstGeom>
          <a:noFill/>
        </p:spPr>
        <p:txBody>
          <a:bodyPr wrap="square">
            <a:spAutoFit/>
          </a:bodyPr>
          <a:lstStyle/>
          <a:p>
            <a:pPr algn="ctr">
              <a:spcAft>
                <a:spcPts val="200"/>
              </a:spcAft>
            </a:pPr>
            <a:r>
              <a:rPr sz="1800" b="0">
                <a:solidFill>
                  <a:srgbClr val="BDD7EE"/>
                </a:solidFill>
                <a:latin typeface="メイリオ"/>
              </a:rPr>
              <a:t>データで経営を変える — データサイエンス×経営学の融合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1551615" cy="658368"/>
          </a:xfrm>
          <a:prstGeom prst="rect">
            <a:avLst/>
          </a:prstGeom>
          <a:noFill/>
        </p:spPr>
        <p:txBody>
          <a:bodyPr wrap="square">
            <a:spAutoFit/>
          </a:bodyPr>
          <a:lstStyle/>
          <a:p>
            <a:pPr algn="l">
              <a:spcAft>
                <a:spcPts val="200"/>
              </a:spcAft>
            </a:pPr>
            <a:r>
              <a:rPr sz="2600" b="1">
                <a:solidFill>
                  <a:srgbClr val="FFFFFF"/>
                </a:solidFill>
                <a:latin typeface="メイリオ"/>
              </a:rPr>
              <a:t>本日の目標</a:t>
            </a:r>
          </a:p>
        </p:txBody>
      </p:sp>
      <p:sp>
        <p:nvSpPr>
          <p:cNvPr id="4" name="TextBox 3"/>
          <p:cNvSpPr txBox="1"/>
          <p:nvPr/>
        </p:nvSpPr>
        <p:spPr>
          <a:xfrm>
            <a:off x="548640" y="914400"/>
            <a:ext cx="11247120" cy="457200"/>
          </a:xfrm>
          <a:prstGeom prst="rect">
            <a:avLst/>
          </a:prstGeom>
          <a:noFill/>
        </p:spPr>
        <p:txBody>
          <a:bodyPr wrap="square">
            <a:spAutoFit/>
          </a:bodyPr>
          <a:lstStyle/>
          <a:p>
            <a:pPr algn="l">
              <a:spcAft>
                <a:spcPts val="200"/>
              </a:spcAft>
            </a:pPr>
            <a:r>
              <a:rPr sz="2000" b="0">
                <a:solidFill>
                  <a:srgbClr val="595959"/>
                </a:solidFill>
                <a:latin typeface="メイリオ"/>
              </a:rPr>
              <a:t>このセッションを終了する時点で、以下のことができるようになります：</a:t>
            </a:r>
          </a:p>
        </p:txBody>
      </p:sp>
      <p:sp>
        <p:nvSpPr>
          <p:cNvPr id="5" name="Rectangle 4"/>
          <p:cNvSpPr/>
          <p:nvPr/>
        </p:nvSpPr>
        <p:spPr>
          <a:xfrm>
            <a:off x="457200" y="1463040"/>
            <a:ext cx="11247120" cy="566928"/>
          </a:xfrm>
          <a:prstGeom prst="rect">
            <a:avLst/>
          </a:prstGeom>
          <a:solidFill>
            <a:srgbClr val="F2F2F2"/>
          </a:solidFill>
          <a:ln w="63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508760"/>
            <a:ext cx="10972800" cy="548640"/>
          </a:xfrm>
          <a:prstGeom prst="rect">
            <a:avLst/>
          </a:prstGeom>
          <a:noFill/>
        </p:spPr>
        <p:txBody>
          <a:bodyPr wrap="square">
            <a:spAutoFit/>
          </a:bodyPr>
          <a:lstStyle/>
          <a:p>
            <a:pPr algn="l">
              <a:spcAft>
                <a:spcPts val="200"/>
              </a:spcAft>
            </a:pPr>
            <a:r>
              <a:rPr sz="2000" b="0">
                <a:solidFill>
                  <a:srgbClr val="262626"/>
                </a:solidFill>
                <a:latin typeface="メイリオ"/>
              </a:rPr>
              <a:t>・ データ経営・データサイエンスの定義と位置付けを説明できる</a:t>
            </a:r>
          </a:p>
        </p:txBody>
      </p:sp>
      <p:sp>
        <p:nvSpPr>
          <p:cNvPr id="7" name="Rectangle 6"/>
          <p:cNvSpPr/>
          <p:nvPr/>
        </p:nvSpPr>
        <p:spPr>
          <a:xfrm>
            <a:off x="457200" y="2103120"/>
            <a:ext cx="11247120" cy="566928"/>
          </a:xfrm>
          <a:prstGeom prst="rect">
            <a:avLst/>
          </a:prstGeom>
          <a:solidFill>
            <a:srgbClr val="F2F2F2"/>
          </a:solidFill>
          <a:ln w="63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2148840"/>
            <a:ext cx="10972800" cy="548640"/>
          </a:xfrm>
          <a:prstGeom prst="rect">
            <a:avLst/>
          </a:prstGeom>
          <a:noFill/>
        </p:spPr>
        <p:txBody>
          <a:bodyPr wrap="square">
            <a:spAutoFit/>
          </a:bodyPr>
          <a:lstStyle/>
          <a:p>
            <a:pPr algn="l">
              <a:spcAft>
                <a:spcPts val="200"/>
              </a:spcAft>
            </a:pPr>
            <a:r>
              <a:rPr sz="2000" b="0">
                <a:solidFill>
                  <a:srgbClr val="262626"/>
                </a:solidFill>
                <a:latin typeface="メイリオ"/>
              </a:rPr>
              <a:t>・ ビッグデータ時代の背景と重要性を理解できる</a:t>
            </a:r>
          </a:p>
        </p:txBody>
      </p:sp>
      <p:sp>
        <p:nvSpPr>
          <p:cNvPr id="9" name="Rectangle 8"/>
          <p:cNvSpPr/>
          <p:nvPr/>
        </p:nvSpPr>
        <p:spPr>
          <a:xfrm>
            <a:off x="457200" y="2743200"/>
            <a:ext cx="11247120" cy="566928"/>
          </a:xfrm>
          <a:prstGeom prst="rect">
            <a:avLst/>
          </a:prstGeom>
          <a:solidFill>
            <a:srgbClr val="F2F2F2"/>
          </a:solidFill>
          <a:ln w="63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2788920"/>
            <a:ext cx="10972800" cy="548640"/>
          </a:xfrm>
          <a:prstGeom prst="rect">
            <a:avLst/>
          </a:prstGeom>
          <a:noFill/>
        </p:spPr>
        <p:txBody>
          <a:bodyPr wrap="square">
            <a:spAutoFit/>
          </a:bodyPr>
          <a:lstStyle/>
          <a:p>
            <a:pPr algn="l">
              <a:spcAft>
                <a:spcPts val="200"/>
              </a:spcAft>
            </a:pPr>
            <a:r>
              <a:rPr sz="2000" b="0">
                <a:solidFill>
                  <a:srgbClr val="262626"/>
                </a:solidFill>
                <a:latin typeface="メイリオ"/>
              </a:rPr>
              <a:t>・ データドリブン経営の具体的な効果・事例を挙げられる</a:t>
            </a:r>
          </a:p>
        </p:txBody>
      </p:sp>
      <p:sp>
        <p:nvSpPr>
          <p:cNvPr id="11" name="Rectangle 10"/>
          <p:cNvSpPr/>
          <p:nvPr/>
        </p:nvSpPr>
        <p:spPr>
          <a:xfrm>
            <a:off x="457200" y="3383280"/>
            <a:ext cx="11247120" cy="566928"/>
          </a:xfrm>
          <a:prstGeom prst="rect">
            <a:avLst/>
          </a:prstGeom>
          <a:solidFill>
            <a:srgbClr val="F2F2F2"/>
          </a:solidFill>
          <a:ln w="63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3429000"/>
            <a:ext cx="10972800" cy="548640"/>
          </a:xfrm>
          <a:prstGeom prst="rect">
            <a:avLst/>
          </a:prstGeom>
          <a:noFill/>
        </p:spPr>
        <p:txBody>
          <a:bodyPr wrap="square">
            <a:spAutoFit/>
          </a:bodyPr>
          <a:lstStyle/>
          <a:p>
            <a:pPr algn="l">
              <a:spcAft>
                <a:spcPts val="200"/>
              </a:spcAft>
            </a:pPr>
            <a:r>
              <a:rPr sz="2000" b="0">
                <a:solidFill>
                  <a:srgbClr val="262626"/>
                </a:solidFill>
                <a:latin typeface="メイリオ"/>
              </a:rPr>
              <a:t>・ DX時代のデータ利活用の2つの柱（分析支援・業務自動化）を説明できる</a:t>
            </a:r>
          </a:p>
        </p:txBody>
      </p:sp>
      <p:sp>
        <p:nvSpPr>
          <p:cNvPr id="13" name="Rectangle 12"/>
          <p:cNvSpPr/>
          <p:nvPr/>
        </p:nvSpPr>
        <p:spPr>
          <a:xfrm>
            <a:off x="457200" y="4023360"/>
            <a:ext cx="11247120" cy="566928"/>
          </a:xfrm>
          <a:prstGeom prst="rect">
            <a:avLst/>
          </a:prstGeom>
          <a:solidFill>
            <a:srgbClr val="F2F2F2"/>
          </a:solidFill>
          <a:ln w="63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4069080"/>
            <a:ext cx="10972800" cy="548640"/>
          </a:xfrm>
          <a:prstGeom prst="rect">
            <a:avLst/>
          </a:prstGeom>
          <a:noFill/>
        </p:spPr>
        <p:txBody>
          <a:bodyPr wrap="square">
            <a:spAutoFit/>
          </a:bodyPr>
          <a:lstStyle/>
          <a:p>
            <a:pPr algn="l">
              <a:spcAft>
                <a:spcPts val="200"/>
              </a:spcAft>
            </a:pPr>
            <a:r>
              <a:rPr sz="2000" b="0">
                <a:solidFill>
                  <a:srgbClr val="262626"/>
                </a:solidFill>
                <a:latin typeface="メイリオ"/>
              </a:rPr>
              <a:t>・ 産業別（金融・工場・農漁業・商店）のデータ活用を理解できる</a:t>
            </a:r>
          </a:p>
        </p:txBody>
      </p:sp>
      <p:sp>
        <p:nvSpPr>
          <p:cNvPr id="15" name="Rectangle 14"/>
          <p:cNvSpPr/>
          <p:nvPr/>
        </p:nvSpPr>
        <p:spPr>
          <a:xfrm>
            <a:off x="457200" y="4663440"/>
            <a:ext cx="11247120" cy="566928"/>
          </a:xfrm>
          <a:prstGeom prst="rect">
            <a:avLst/>
          </a:prstGeom>
          <a:solidFill>
            <a:srgbClr val="F2F2F2"/>
          </a:solidFill>
          <a:ln w="63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4709160"/>
            <a:ext cx="10972800" cy="548640"/>
          </a:xfrm>
          <a:prstGeom prst="rect">
            <a:avLst/>
          </a:prstGeom>
          <a:noFill/>
        </p:spPr>
        <p:txBody>
          <a:bodyPr wrap="square">
            <a:spAutoFit/>
          </a:bodyPr>
          <a:lstStyle/>
          <a:p>
            <a:pPr algn="l">
              <a:spcAft>
                <a:spcPts val="200"/>
              </a:spcAft>
            </a:pPr>
            <a:r>
              <a:rPr sz="2000" b="0">
                <a:solidFill>
                  <a:srgbClr val="262626"/>
                </a:solidFill>
                <a:latin typeface="メイリオ"/>
              </a:rPr>
              <a:t>・ 生成AI・LLMのビジネス活用を概説できる</a:t>
            </a:r>
          </a:p>
        </p:txBody>
      </p:sp>
      <p:sp>
        <p:nvSpPr>
          <p:cNvPr id="17" name="Rectangle 16"/>
          <p:cNvSpPr/>
          <p:nvPr/>
        </p:nvSpPr>
        <p:spPr>
          <a:xfrm>
            <a:off x="457200" y="5303520"/>
            <a:ext cx="11247120" cy="566928"/>
          </a:xfrm>
          <a:prstGeom prst="rect">
            <a:avLst/>
          </a:prstGeom>
          <a:solidFill>
            <a:srgbClr val="E1F5FE"/>
          </a:solidFill>
          <a:ln w="63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349240"/>
            <a:ext cx="10972800" cy="548640"/>
          </a:xfrm>
          <a:prstGeom prst="rect">
            <a:avLst/>
          </a:prstGeom>
          <a:noFill/>
        </p:spPr>
        <p:txBody>
          <a:bodyPr wrap="square">
            <a:spAutoFit/>
          </a:bodyPr>
          <a:lstStyle/>
          <a:p>
            <a:pPr algn="l">
              <a:spcAft>
                <a:spcPts val="200"/>
              </a:spcAft>
            </a:pPr>
            <a:r>
              <a:rPr sz="2000" b="1">
                <a:solidFill>
                  <a:srgbClr val="00706E"/>
                </a:solidFill>
                <a:latin typeface="メイリオ"/>
              </a:rPr>
              <a:t>・ 【New】Claude Code でデータ経営分析を自動化できる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1551615" cy="658368"/>
          </a:xfrm>
          <a:prstGeom prst="rect">
            <a:avLst/>
          </a:prstGeom>
          <a:noFill/>
        </p:spPr>
        <p:txBody>
          <a:bodyPr wrap="square">
            <a:spAutoFit/>
          </a:bodyPr>
          <a:lstStyle/>
          <a:p>
            <a:pPr algn="l">
              <a:spcAft>
                <a:spcPts val="200"/>
              </a:spcAft>
            </a:pPr>
            <a:r>
              <a:rPr sz="2600" b="1">
                <a:solidFill>
                  <a:srgbClr val="FFFFFF"/>
                </a:solidFill>
                <a:latin typeface="メイリオ"/>
              </a:rPr>
              <a:t>データ経営とは</a:t>
            </a:r>
          </a:p>
        </p:txBody>
      </p:sp>
      <p:sp>
        <p:nvSpPr>
          <p:cNvPr id="4" name="TextBox 3"/>
          <p:cNvSpPr txBox="1"/>
          <p:nvPr/>
        </p:nvSpPr>
        <p:spPr>
          <a:xfrm>
            <a:off x="320040" y="841248"/>
            <a:ext cx="11551615" cy="457200"/>
          </a:xfrm>
          <a:prstGeom prst="rect">
            <a:avLst/>
          </a:prstGeom>
          <a:noFill/>
        </p:spPr>
        <p:txBody>
          <a:bodyPr wrap="square">
            <a:spAutoFit/>
          </a:bodyPr>
          <a:lstStyle/>
          <a:p>
            <a:pPr algn="l">
              <a:spcAft>
                <a:spcPts val="200"/>
              </a:spcAft>
            </a:pPr>
            <a:r>
              <a:rPr sz="1800" b="1">
                <a:solidFill>
                  <a:srgbClr val="4472C4"/>
                </a:solidFill>
                <a:latin typeface="メイリオ"/>
              </a:rPr>
              <a:t>Data-Driven Management</a:t>
            </a:r>
          </a:p>
        </p:txBody>
      </p:sp>
      <p:sp>
        <p:nvSpPr>
          <p:cNvPr id="5" name="Rectangle 4"/>
          <p:cNvSpPr/>
          <p:nvPr/>
        </p:nvSpPr>
        <p:spPr>
          <a:xfrm>
            <a:off x="365760" y="960120"/>
            <a:ext cx="11430000" cy="10972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05840"/>
            <a:ext cx="11064240" cy="1005840"/>
          </a:xfrm>
          <a:prstGeom prst="rect">
            <a:avLst/>
          </a:prstGeom>
          <a:noFill/>
        </p:spPr>
        <p:txBody>
          <a:bodyPr wrap="square">
            <a:spAutoFit/>
          </a:bodyPr>
          <a:lstStyle/>
          <a:p>
            <a:pPr algn="l">
              <a:spcAft>
                <a:spcPts val="200"/>
              </a:spcAft>
            </a:pPr>
            <a:r>
              <a:rPr sz="2800" b="1">
                <a:solidFill>
                  <a:srgbClr val="FFFFFF"/>
                </a:solidFill>
                <a:latin typeface="メイリオ"/>
              </a:rPr>
              <a:t>データを用いた経営・データによる経営学</a:t>
            </a:r>
          </a:p>
        </p:txBody>
      </p:sp>
      <p:sp>
        <p:nvSpPr>
          <p:cNvPr id="7" name="TextBox 6"/>
          <p:cNvSpPr txBox="1"/>
          <p:nvPr/>
        </p:nvSpPr>
        <p:spPr>
          <a:xfrm>
            <a:off x="548640" y="1417320"/>
            <a:ext cx="11064240" cy="548640"/>
          </a:xfrm>
          <a:prstGeom prst="rect">
            <a:avLst/>
          </a:prstGeom>
          <a:noFill/>
        </p:spPr>
        <p:txBody>
          <a:bodyPr wrap="square">
            <a:spAutoFit/>
          </a:bodyPr>
          <a:lstStyle/>
          <a:p>
            <a:pPr algn="l">
              <a:spcAft>
                <a:spcPts val="200"/>
              </a:spcAft>
            </a:pPr>
            <a:r>
              <a:rPr sz="2000" b="0">
                <a:solidFill>
                  <a:srgbClr val="BDD7EE"/>
                </a:solidFill>
                <a:latin typeface="メイリオ"/>
              </a:rPr>
              <a:t>データサイエンスを基礎とし、経営的課題を解決するための意思決定手法・プロセス</a:t>
            </a:r>
          </a:p>
        </p:txBody>
      </p:sp>
      <p:sp>
        <p:nvSpPr>
          <p:cNvPr id="8" name="Rectangle 7"/>
          <p:cNvSpPr/>
          <p:nvPr/>
        </p:nvSpPr>
        <p:spPr>
          <a:xfrm>
            <a:off x="365760" y="2194560"/>
            <a:ext cx="2560320" cy="7772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286000"/>
            <a:ext cx="2377440" cy="685800"/>
          </a:xfrm>
          <a:prstGeom prst="rect">
            <a:avLst/>
          </a:prstGeom>
          <a:noFill/>
        </p:spPr>
        <p:txBody>
          <a:bodyPr wrap="square">
            <a:spAutoFit/>
          </a:bodyPr>
          <a:lstStyle/>
          <a:p>
            <a:pPr algn="ctr">
              <a:spcAft>
                <a:spcPts val="200"/>
              </a:spcAft>
            </a:pPr>
            <a:r>
              <a:rPr sz="2200" b="1">
                <a:solidFill>
                  <a:srgbClr val="FFFFFF"/>
                </a:solidFill>
                <a:latin typeface="メイリオ"/>
              </a:rPr>
              <a:t>概念</a:t>
            </a:r>
          </a:p>
        </p:txBody>
      </p:sp>
      <p:sp>
        <p:nvSpPr>
          <p:cNvPr id="10" name="Rectangle 9"/>
          <p:cNvSpPr/>
          <p:nvPr/>
        </p:nvSpPr>
        <p:spPr>
          <a:xfrm>
            <a:off x="2926080" y="2194560"/>
            <a:ext cx="8869680" cy="777240"/>
          </a:xfrm>
          <a:prstGeom prst="rect">
            <a:avLst/>
          </a:prstGeom>
          <a:solidFill>
            <a:srgbClr val="E1F5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017520" y="2267712"/>
            <a:ext cx="8686800" cy="731520"/>
          </a:xfrm>
          <a:prstGeom prst="rect">
            <a:avLst/>
          </a:prstGeom>
          <a:noFill/>
        </p:spPr>
        <p:txBody>
          <a:bodyPr wrap="square">
            <a:spAutoFit/>
          </a:bodyPr>
          <a:lstStyle/>
          <a:p>
            <a:pPr algn="l">
              <a:spcAft>
                <a:spcPts val="200"/>
              </a:spcAft>
            </a:pPr>
            <a:r>
              <a:rPr sz="2000" b="0">
                <a:solidFill>
                  <a:srgbClr val="262626"/>
                </a:solidFill>
                <a:latin typeface="メイリオ"/>
              </a:rPr>
              <a:t>データ経営は、データサイエンスを用いてビジネスの意思決定を科学的に支援する経営手法</a:t>
            </a:r>
          </a:p>
        </p:txBody>
      </p:sp>
      <p:sp>
        <p:nvSpPr>
          <p:cNvPr id="12" name="Rectangle 11"/>
          <p:cNvSpPr/>
          <p:nvPr/>
        </p:nvSpPr>
        <p:spPr>
          <a:xfrm>
            <a:off x="365760" y="3063240"/>
            <a:ext cx="2560320" cy="7772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154680"/>
            <a:ext cx="2377440" cy="685800"/>
          </a:xfrm>
          <a:prstGeom prst="rect">
            <a:avLst/>
          </a:prstGeom>
          <a:noFill/>
        </p:spPr>
        <p:txBody>
          <a:bodyPr wrap="square">
            <a:spAutoFit/>
          </a:bodyPr>
          <a:lstStyle/>
          <a:p>
            <a:pPr algn="ctr">
              <a:spcAft>
                <a:spcPts val="200"/>
              </a:spcAft>
            </a:pPr>
            <a:r>
              <a:rPr sz="2200" b="1">
                <a:solidFill>
                  <a:srgbClr val="FFFFFF"/>
                </a:solidFill>
                <a:latin typeface="メイリオ"/>
              </a:rPr>
              <a:t>対象</a:t>
            </a:r>
          </a:p>
        </p:txBody>
      </p:sp>
      <p:sp>
        <p:nvSpPr>
          <p:cNvPr id="14" name="Rectangle 13"/>
          <p:cNvSpPr/>
          <p:nvPr/>
        </p:nvSpPr>
        <p:spPr>
          <a:xfrm>
            <a:off x="2926080" y="3063240"/>
            <a:ext cx="8869680" cy="777240"/>
          </a:xfrm>
          <a:prstGeom prst="rect">
            <a:avLst/>
          </a:prstGeom>
          <a:solidFill>
            <a:srgbClr val="E2EF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17520" y="3136392"/>
            <a:ext cx="8686800" cy="731520"/>
          </a:xfrm>
          <a:prstGeom prst="rect">
            <a:avLst/>
          </a:prstGeom>
          <a:noFill/>
        </p:spPr>
        <p:txBody>
          <a:bodyPr wrap="square">
            <a:spAutoFit/>
          </a:bodyPr>
          <a:lstStyle/>
          <a:p>
            <a:pPr algn="l">
              <a:spcAft>
                <a:spcPts val="200"/>
              </a:spcAft>
            </a:pPr>
            <a:r>
              <a:rPr sz="2000" b="0">
                <a:solidFill>
                  <a:srgbClr val="262626"/>
                </a:solidFill>
                <a:latin typeface="メイリオ"/>
              </a:rPr>
              <a:t>マーケティング、ファイナンス、会計、人事など経営の広い応用分野</a:t>
            </a:r>
          </a:p>
        </p:txBody>
      </p:sp>
      <p:sp>
        <p:nvSpPr>
          <p:cNvPr id="16" name="Rectangle 15"/>
          <p:cNvSpPr/>
          <p:nvPr/>
        </p:nvSpPr>
        <p:spPr>
          <a:xfrm>
            <a:off x="365760" y="3931920"/>
            <a:ext cx="2560320" cy="7772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4023360"/>
            <a:ext cx="2377440" cy="685800"/>
          </a:xfrm>
          <a:prstGeom prst="rect">
            <a:avLst/>
          </a:prstGeom>
          <a:noFill/>
        </p:spPr>
        <p:txBody>
          <a:bodyPr wrap="square">
            <a:spAutoFit/>
          </a:bodyPr>
          <a:lstStyle/>
          <a:p>
            <a:pPr algn="ctr">
              <a:spcAft>
                <a:spcPts val="200"/>
              </a:spcAft>
            </a:pPr>
            <a:r>
              <a:rPr sz="2200" b="1">
                <a:solidFill>
                  <a:srgbClr val="FFFFFF"/>
                </a:solidFill>
                <a:latin typeface="メイリオ"/>
              </a:rPr>
              <a:t>目的</a:t>
            </a:r>
          </a:p>
        </p:txBody>
      </p:sp>
      <p:sp>
        <p:nvSpPr>
          <p:cNvPr id="18" name="Rectangle 17"/>
          <p:cNvSpPr/>
          <p:nvPr/>
        </p:nvSpPr>
        <p:spPr>
          <a:xfrm>
            <a:off x="2926080" y="3931920"/>
            <a:ext cx="8869680" cy="777240"/>
          </a:xfrm>
          <a:prstGeom prst="rect">
            <a:avLst/>
          </a:prstGeom>
          <a:solidFill>
            <a:srgbClr val="FFF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017520" y="4005072"/>
            <a:ext cx="8686800" cy="731520"/>
          </a:xfrm>
          <a:prstGeom prst="rect">
            <a:avLst/>
          </a:prstGeom>
          <a:noFill/>
        </p:spPr>
        <p:txBody>
          <a:bodyPr wrap="square">
            <a:spAutoFit/>
          </a:bodyPr>
          <a:lstStyle/>
          <a:p>
            <a:pPr algn="l">
              <a:spcAft>
                <a:spcPts val="200"/>
              </a:spcAft>
            </a:pPr>
            <a:r>
              <a:rPr sz="2000" b="0">
                <a:solidFill>
                  <a:srgbClr val="262626"/>
                </a:solidFill>
                <a:latin typeface="メイリオ"/>
              </a:rPr>
              <a:t>意思決定の質・速度を高め、競合優位性を確立する</a:t>
            </a:r>
          </a:p>
        </p:txBody>
      </p:sp>
      <p:sp>
        <p:nvSpPr>
          <p:cNvPr id="20" name="Rectangle 19"/>
          <p:cNvSpPr/>
          <p:nvPr/>
        </p:nvSpPr>
        <p:spPr>
          <a:xfrm>
            <a:off x="365760" y="4800600"/>
            <a:ext cx="2560320" cy="7772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4892040"/>
            <a:ext cx="2377440" cy="685800"/>
          </a:xfrm>
          <a:prstGeom prst="rect">
            <a:avLst/>
          </a:prstGeom>
          <a:noFill/>
        </p:spPr>
        <p:txBody>
          <a:bodyPr wrap="square">
            <a:spAutoFit/>
          </a:bodyPr>
          <a:lstStyle/>
          <a:p>
            <a:pPr algn="ctr">
              <a:spcAft>
                <a:spcPts val="200"/>
              </a:spcAft>
            </a:pPr>
            <a:r>
              <a:rPr sz="2200" b="1">
                <a:solidFill>
                  <a:srgbClr val="FFFFFF"/>
                </a:solidFill>
                <a:latin typeface="メイリオ"/>
              </a:rPr>
              <a:t>手段</a:t>
            </a:r>
          </a:p>
        </p:txBody>
      </p:sp>
      <p:sp>
        <p:nvSpPr>
          <p:cNvPr id="22" name="Rectangle 21"/>
          <p:cNvSpPr/>
          <p:nvPr/>
        </p:nvSpPr>
        <p:spPr>
          <a:xfrm>
            <a:off x="2926080" y="4800600"/>
            <a:ext cx="8869680" cy="777240"/>
          </a:xfrm>
          <a:prstGeom prst="rect">
            <a:avLst/>
          </a:prstGeom>
          <a:solidFill>
            <a:srgbClr val="BDD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017520" y="4873752"/>
            <a:ext cx="8686800" cy="731520"/>
          </a:xfrm>
          <a:prstGeom prst="rect">
            <a:avLst/>
          </a:prstGeom>
          <a:noFill/>
        </p:spPr>
        <p:txBody>
          <a:bodyPr wrap="square">
            <a:spAutoFit/>
          </a:bodyPr>
          <a:lstStyle/>
          <a:p>
            <a:pPr algn="l">
              <a:spcAft>
                <a:spcPts val="200"/>
              </a:spcAft>
            </a:pPr>
            <a:r>
              <a:rPr sz="2000" b="0">
                <a:solidFill>
                  <a:srgbClr val="262626"/>
                </a:solidFill>
                <a:latin typeface="メイリオ"/>
              </a:rPr>
              <a:t>統計分析・機械学習・AI・可視化ツールを組み合わせてデータを価値に変換</a:t>
            </a:r>
          </a:p>
        </p:txBody>
      </p:sp>
      <p:sp>
        <p:nvSpPr>
          <p:cNvPr id="24" name="TextBox 23"/>
          <p:cNvSpPr txBox="1"/>
          <p:nvPr/>
        </p:nvSpPr>
        <p:spPr>
          <a:xfrm>
            <a:off x="365760" y="5806440"/>
            <a:ext cx="11430000" cy="457200"/>
          </a:xfrm>
          <a:prstGeom prst="rect">
            <a:avLst/>
          </a:prstGeom>
          <a:noFill/>
        </p:spPr>
        <p:txBody>
          <a:bodyPr wrap="square">
            <a:spAutoFit/>
          </a:bodyPr>
          <a:lstStyle/>
          <a:p>
            <a:pPr algn="l">
              <a:spcAft>
                <a:spcPts val="200"/>
              </a:spcAft>
            </a:pPr>
            <a:r>
              <a:rPr sz="2000" b="1">
                <a:solidFill>
                  <a:srgbClr val="1F3864"/>
                </a:solidFill>
                <a:latin typeface="メイリオ"/>
              </a:rPr>
              <a:t>📌 データ経営 ＝ 統計・AI・プログラミングの力で経営判断を科学する学問</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1551615" cy="658368"/>
          </a:xfrm>
          <a:prstGeom prst="rect">
            <a:avLst/>
          </a:prstGeom>
          <a:noFill/>
        </p:spPr>
        <p:txBody>
          <a:bodyPr wrap="square">
            <a:spAutoFit/>
          </a:bodyPr>
          <a:lstStyle/>
          <a:p>
            <a:pPr algn="l">
              <a:spcAft>
                <a:spcPts val="200"/>
              </a:spcAft>
            </a:pPr>
            <a:r>
              <a:rPr sz="2600" b="1">
                <a:solidFill>
                  <a:srgbClr val="FFFFFF"/>
                </a:solidFill>
                <a:latin typeface="メイリオ"/>
              </a:rPr>
              <a:t>データサイエンスとは</a:t>
            </a:r>
          </a:p>
        </p:txBody>
      </p:sp>
      <p:sp>
        <p:nvSpPr>
          <p:cNvPr id="4" name="TextBox 3"/>
          <p:cNvSpPr txBox="1"/>
          <p:nvPr/>
        </p:nvSpPr>
        <p:spPr>
          <a:xfrm>
            <a:off x="320040" y="841248"/>
            <a:ext cx="11551615" cy="457200"/>
          </a:xfrm>
          <a:prstGeom prst="rect">
            <a:avLst/>
          </a:prstGeom>
          <a:noFill/>
        </p:spPr>
        <p:txBody>
          <a:bodyPr wrap="square">
            <a:spAutoFit/>
          </a:bodyPr>
          <a:lstStyle/>
          <a:p>
            <a:pPr algn="l">
              <a:spcAft>
                <a:spcPts val="200"/>
              </a:spcAft>
            </a:pPr>
            <a:r>
              <a:rPr sz="1800" b="1">
                <a:solidFill>
                  <a:srgbClr val="4472C4"/>
                </a:solidFill>
                <a:latin typeface="メイリオ"/>
              </a:rPr>
              <a:t>Data Science Foundation</a:t>
            </a:r>
          </a:p>
        </p:txBody>
      </p:sp>
      <p:sp>
        <p:nvSpPr>
          <p:cNvPr id="5" name="Rectangle 4"/>
          <p:cNvSpPr/>
          <p:nvPr/>
        </p:nvSpPr>
        <p:spPr>
          <a:xfrm>
            <a:off x="457200" y="1005840"/>
            <a:ext cx="3657600" cy="64008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51560"/>
            <a:ext cx="3474720" cy="594360"/>
          </a:xfrm>
          <a:prstGeom prst="rect">
            <a:avLst/>
          </a:prstGeom>
          <a:noFill/>
        </p:spPr>
        <p:txBody>
          <a:bodyPr wrap="square">
            <a:spAutoFit/>
          </a:bodyPr>
          <a:lstStyle/>
          <a:p>
            <a:pPr algn="ctr">
              <a:spcAft>
                <a:spcPts val="200"/>
              </a:spcAft>
            </a:pPr>
            <a:r>
              <a:rPr sz="2200" b="1">
                <a:solidFill>
                  <a:srgbClr val="FFFFFF"/>
                </a:solidFill>
                <a:latin typeface="メイリオ"/>
              </a:rPr>
              <a:t>統計学・数学</a:t>
            </a:r>
          </a:p>
        </p:txBody>
      </p:sp>
      <p:sp>
        <p:nvSpPr>
          <p:cNvPr id="7" name="Rectangle 6"/>
          <p:cNvSpPr/>
          <p:nvPr/>
        </p:nvSpPr>
        <p:spPr>
          <a:xfrm>
            <a:off x="457200" y="1645920"/>
            <a:ext cx="3657600" cy="2011680"/>
          </a:xfrm>
          <a:prstGeom prst="rect">
            <a:avLst/>
          </a:prstGeom>
          <a:solidFill>
            <a:srgbClr val="F2F2F2"/>
          </a:solidFill>
          <a:ln w="190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737360"/>
            <a:ext cx="3383280" cy="1828800"/>
          </a:xfrm>
          <a:prstGeom prst="rect">
            <a:avLst/>
          </a:prstGeom>
          <a:noFill/>
        </p:spPr>
        <p:txBody>
          <a:bodyPr wrap="square">
            <a:spAutoFit/>
          </a:bodyPr>
          <a:lstStyle/>
          <a:p>
            <a:pPr algn="l">
              <a:spcAft>
                <a:spcPts val="200"/>
              </a:spcAft>
            </a:pPr>
            <a:r>
              <a:rPr sz="2000" b="0">
                <a:solidFill>
                  <a:srgbClr val="262626"/>
                </a:solidFill>
                <a:latin typeface="メイリオ"/>
              </a:rPr>
              <a:t>・ 記述統計・推測統計</a:t>
            </a:r>
          </a:p>
          <a:p>
            <a:pPr algn="l">
              <a:spcAft>
                <a:spcPts val="200"/>
              </a:spcAft>
            </a:pPr>
            <a:r>
              <a:rPr sz="2000" b="0">
                <a:solidFill>
                  <a:srgbClr val="262626"/>
                </a:solidFill>
                <a:latin typeface="メイリオ"/>
              </a:rPr>
              <a:t>・ 確率論・線形代数</a:t>
            </a:r>
          </a:p>
          <a:p>
            <a:pPr algn="l">
              <a:spcAft>
                <a:spcPts val="200"/>
              </a:spcAft>
            </a:pPr>
            <a:r>
              <a:rPr sz="2000" b="0">
                <a:solidFill>
                  <a:srgbClr val="262626"/>
                </a:solidFill>
                <a:latin typeface="メイリオ"/>
              </a:rPr>
              <a:t>・ 機械学習理論</a:t>
            </a:r>
          </a:p>
        </p:txBody>
      </p:sp>
      <p:sp>
        <p:nvSpPr>
          <p:cNvPr id="9" name="Rectangle 8"/>
          <p:cNvSpPr/>
          <p:nvPr/>
        </p:nvSpPr>
        <p:spPr>
          <a:xfrm>
            <a:off x="4297680" y="1005840"/>
            <a:ext cx="3657600" cy="640080"/>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89120" y="1051560"/>
            <a:ext cx="3474720" cy="594360"/>
          </a:xfrm>
          <a:prstGeom prst="rect">
            <a:avLst/>
          </a:prstGeom>
          <a:noFill/>
        </p:spPr>
        <p:txBody>
          <a:bodyPr wrap="square">
            <a:spAutoFit/>
          </a:bodyPr>
          <a:lstStyle/>
          <a:p>
            <a:pPr algn="ctr">
              <a:spcAft>
                <a:spcPts val="200"/>
              </a:spcAft>
            </a:pPr>
            <a:r>
              <a:rPr sz="2200" b="1">
                <a:solidFill>
                  <a:srgbClr val="FFFFFF"/>
                </a:solidFill>
                <a:latin typeface="メイリオ"/>
              </a:rPr>
              <a:t>情報技術</a:t>
            </a:r>
          </a:p>
        </p:txBody>
      </p:sp>
      <p:sp>
        <p:nvSpPr>
          <p:cNvPr id="11" name="Rectangle 10"/>
          <p:cNvSpPr/>
          <p:nvPr/>
        </p:nvSpPr>
        <p:spPr>
          <a:xfrm>
            <a:off x="4297680" y="1645920"/>
            <a:ext cx="3657600" cy="2011680"/>
          </a:xfrm>
          <a:prstGeom prst="rect">
            <a:avLst/>
          </a:prstGeom>
          <a:solidFill>
            <a:srgbClr val="F2F2F2"/>
          </a:solidFill>
          <a:ln w="1905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34840" y="1737360"/>
            <a:ext cx="3383280" cy="1828800"/>
          </a:xfrm>
          <a:prstGeom prst="rect">
            <a:avLst/>
          </a:prstGeom>
          <a:noFill/>
        </p:spPr>
        <p:txBody>
          <a:bodyPr wrap="square">
            <a:spAutoFit/>
          </a:bodyPr>
          <a:lstStyle/>
          <a:p>
            <a:pPr algn="l">
              <a:spcAft>
                <a:spcPts val="200"/>
              </a:spcAft>
            </a:pPr>
            <a:r>
              <a:rPr sz="2000" b="0">
                <a:solidFill>
                  <a:srgbClr val="262626"/>
                </a:solidFill>
                <a:latin typeface="メイリオ"/>
              </a:rPr>
              <a:t>・ Python・Excel</a:t>
            </a:r>
          </a:p>
          <a:p>
            <a:pPr algn="l">
              <a:spcAft>
                <a:spcPts val="200"/>
              </a:spcAft>
            </a:pPr>
            <a:r>
              <a:rPr sz="2000" b="0">
                <a:solidFill>
                  <a:srgbClr val="262626"/>
                </a:solidFill>
                <a:latin typeface="メイリオ"/>
              </a:rPr>
              <a:t>・ データベース・SQL</a:t>
            </a:r>
          </a:p>
          <a:p>
            <a:pPr algn="l">
              <a:spcAft>
                <a:spcPts val="200"/>
              </a:spcAft>
            </a:pPr>
            <a:r>
              <a:rPr sz="2000" b="0">
                <a:solidFill>
                  <a:srgbClr val="262626"/>
                </a:solidFill>
                <a:latin typeface="メイリオ"/>
              </a:rPr>
              <a:t>・ クラウド・AI API</a:t>
            </a:r>
          </a:p>
        </p:txBody>
      </p:sp>
      <p:sp>
        <p:nvSpPr>
          <p:cNvPr id="13" name="Rectangle 12"/>
          <p:cNvSpPr/>
          <p:nvPr/>
        </p:nvSpPr>
        <p:spPr>
          <a:xfrm>
            <a:off x="8138160" y="1005840"/>
            <a:ext cx="3657600" cy="640080"/>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1051560"/>
            <a:ext cx="3474720" cy="594360"/>
          </a:xfrm>
          <a:prstGeom prst="rect">
            <a:avLst/>
          </a:prstGeom>
          <a:noFill/>
        </p:spPr>
        <p:txBody>
          <a:bodyPr wrap="square">
            <a:spAutoFit/>
          </a:bodyPr>
          <a:lstStyle/>
          <a:p>
            <a:pPr algn="ctr">
              <a:spcAft>
                <a:spcPts val="200"/>
              </a:spcAft>
            </a:pPr>
            <a:r>
              <a:rPr sz="2200" b="1">
                <a:solidFill>
                  <a:srgbClr val="FFFFFF"/>
                </a:solidFill>
                <a:latin typeface="メイリオ"/>
              </a:rPr>
              <a:t>ビジネス・経営</a:t>
            </a:r>
          </a:p>
        </p:txBody>
      </p:sp>
      <p:sp>
        <p:nvSpPr>
          <p:cNvPr id="15" name="Rectangle 14"/>
          <p:cNvSpPr/>
          <p:nvPr/>
        </p:nvSpPr>
        <p:spPr>
          <a:xfrm>
            <a:off x="8138160" y="1645920"/>
            <a:ext cx="3657600" cy="2011680"/>
          </a:xfrm>
          <a:prstGeom prst="rect">
            <a:avLst/>
          </a:prstGeom>
          <a:solidFill>
            <a:srgbClr val="F2F2F2"/>
          </a:solidFill>
          <a:ln w="19050">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75320" y="1737360"/>
            <a:ext cx="3383280" cy="1828800"/>
          </a:xfrm>
          <a:prstGeom prst="rect">
            <a:avLst/>
          </a:prstGeom>
          <a:noFill/>
        </p:spPr>
        <p:txBody>
          <a:bodyPr wrap="square">
            <a:spAutoFit/>
          </a:bodyPr>
          <a:lstStyle/>
          <a:p>
            <a:pPr algn="l">
              <a:spcAft>
                <a:spcPts val="200"/>
              </a:spcAft>
            </a:pPr>
            <a:r>
              <a:rPr sz="2000" b="0">
                <a:solidFill>
                  <a:srgbClr val="262626"/>
                </a:solidFill>
                <a:latin typeface="メイリオ"/>
              </a:rPr>
              <a:t>・ 業務課題の定義</a:t>
            </a:r>
          </a:p>
          <a:p>
            <a:pPr algn="l">
              <a:spcAft>
                <a:spcPts val="200"/>
              </a:spcAft>
            </a:pPr>
            <a:r>
              <a:rPr sz="2000" b="0">
                <a:solidFill>
                  <a:srgbClr val="262626"/>
                </a:solidFill>
                <a:latin typeface="メイリオ"/>
              </a:rPr>
              <a:t>・ KPI設計・意思決定</a:t>
            </a:r>
          </a:p>
          <a:p>
            <a:pPr algn="l">
              <a:spcAft>
                <a:spcPts val="200"/>
              </a:spcAft>
            </a:pPr>
            <a:r>
              <a:rPr sz="2000" b="0">
                <a:solidFill>
                  <a:srgbClr val="262626"/>
                </a:solidFill>
                <a:latin typeface="メイリオ"/>
              </a:rPr>
              <a:t>・ 経営戦略への応用</a:t>
            </a:r>
          </a:p>
        </p:txBody>
      </p:sp>
      <p:sp>
        <p:nvSpPr>
          <p:cNvPr id="17" name="Rectangle 16"/>
          <p:cNvSpPr/>
          <p:nvPr/>
        </p:nvSpPr>
        <p:spPr>
          <a:xfrm>
            <a:off x="3840480" y="3840480"/>
            <a:ext cx="4480560" cy="914400"/>
          </a:xfrm>
          <a:prstGeom prst="rect">
            <a:avLst/>
          </a:prstGeom>
          <a:solidFill>
            <a:srgbClr val="E1F5FE"/>
          </a:solidFill>
          <a:ln w="25400">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31920" y="3931920"/>
            <a:ext cx="4297680" cy="822960"/>
          </a:xfrm>
          <a:prstGeom prst="rect">
            <a:avLst/>
          </a:prstGeom>
          <a:noFill/>
        </p:spPr>
        <p:txBody>
          <a:bodyPr wrap="square">
            <a:spAutoFit/>
          </a:bodyPr>
          <a:lstStyle/>
          <a:p>
            <a:pPr algn="ctr">
              <a:spcAft>
                <a:spcPts val="200"/>
              </a:spcAft>
            </a:pPr>
            <a:r>
              <a:rPr sz="2000" b="1">
                <a:solidFill>
                  <a:srgbClr val="1F3864"/>
                </a:solidFill>
                <a:latin typeface="メイリオ"/>
              </a:rPr>
              <a:t>データサイエンティスト
の活躍領域</a:t>
            </a:r>
          </a:p>
        </p:txBody>
      </p:sp>
      <p:sp>
        <p:nvSpPr>
          <p:cNvPr id="19" name="TextBox 18"/>
          <p:cNvSpPr txBox="1"/>
          <p:nvPr/>
        </p:nvSpPr>
        <p:spPr>
          <a:xfrm>
            <a:off x="457200" y="5029200"/>
            <a:ext cx="11247120" cy="457200"/>
          </a:xfrm>
          <a:prstGeom prst="rect">
            <a:avLst/>
          </a:prstGeom>
          <a:noFill/>
        </p:spPr>
        <p:txBody>
          <a:bodyPr wrap="square">
            <a:spAutoFit/>
          </a:bodyPr>
          <a:lstStyle/>
          <a:p>
            <a:pPr algn="l">
              <a:spcAft>
                <a:spcPts val="200"/>
              </a:spcAft>
            </a:pPr>
            <a:r>
              <a:rPr sz="2000" b="1">
                <a:solidFill>
                  <a:srgbClr val="1F3864"/>
                </a:solidFill>
                <a:latin typeface="メイリオ"/>
              </a:rPr>
              <a:t>データサイエンスの特徴：</a:t>
            </a:r>
          </a:p>
        </p:txBody>
      </p:sp>
      <p:sp>
        <p:nvSpPr>
          <p:cNvPr id="20" name="TextBox 19"/>
          <p:cNvSpPr txBox="1"/>
          <p:nvPr/>
        </p:nvSpPr>
        <p:spPr>
          <a:xfrm>
            <a:off x="457200" y="5486400"/>
            <a:ext cx="11247120" cy="822960"/>
          </a:xfrm>
          <a:prstGeom prst="rect">
            <a:avLst/>
          </a:prstGeom>
          <a:noFill/>
        </p:spPr>
        <p:txBody>
          <a:bodyPr wrap="square">
            <a:spAutoFit/>
          </a:bodyPr>
          <a:lstStyle/>
          <a:p>
            <a:pPr algn="l">
              <a:spcAft>
                <a:spcPts val="200"/>
              </a:spcAft>
            </a:pPr>
            <a:r>
              <a:rPr sz="2000" b="0">
                <a:solidFill>
                  <a:srgbClr val="262626"/>
                </a:solidFill>
                <a:latin typeface="メイリオ"/>
              </a:rPr>
              <a:t>・ 課題解決に向けたデータ処理・分析の手法体系（学際的）</a:t>
            </a:r>
          </a:p>
          <a:p>
            <a:pPr algn="l">
              <a:spcAft>
                <a:spcPts val="200"/>
              </a:spcAft>
            </a:pPr>
            <a:r>
              <a:rPr sz="2000" b="0">
                <a:solidFill>
                  <a:srgbClr val="262626"/>
                </a:solidFill>
                <a:latin typeface="メイリオ"/>
              </a:rPr>
              <a:t>・ 様々な分野（科学・金融・ヘルスケア）に適用可能  ・ AIと組み合わせで自動化</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1551615" cy="658368"/>
          </a:xfrm>
          <a:prstGeom prst="rect">
            <a:avLst/>
          </a:prstGeom>
          <a:noFill/>
        </p:spPr>
        <p:txBody>
          <a:bodyPr wrap="square">
            <a:spAutoFit/>
          </a:bodyPr>
          <a:lstStyle/>
          <a:p>
            <a:pPr algn="l">
              <a:spcAft>
                <a:spcPts val="200"/>
              </a:spcAft>
            </a:pPr>
            <a:r>
              <a:rPr sz="2600" b="1">
                <a:solidFill>
                  <a:srgbClr val="FFFFFF"/>
                </a:solidFill>
                <a:latin typeface="メイリオ"/>
              </a:rPr>
              <a:t>データ経営：学ぶべき内容</a:t>
            </a:r>
          </a:p>
        </p:txBody>
      </p:sp>
      <p:sp>
        <p:nvSpPr>
          <p:cNvPr id="4" name="TextBox 3"/>
          <p:cNvSpPr txBox="1"/>
          <p:nvPr/>
        </p:nvSpPr>
        <p:spPr>
          <a:xfrm>
            <a:off x="320040" y="841248"/>
            <a:ext cx="11551615" cy="457200"/>
          </a:xfrm>
          <a:prstGeom prst="rect">
            <a:avLst/>
          </a:prstGeom>
          <a:noFill/>
        </p:spPr>
        <p:txBody>
          <a:bodyPr wrap="square">
            <a:spAutoFit/>
          </a:bodyPr>
          <a:lstStyle/>
          <a:p>
            <a:pPr algn="l">
              <a:spcAft>
                <a:spcPts val="200"/>
              </a:spcAft>
            </a:pPr>
            <a:r>
              <a:rPr sz="1800" b="1">
                <a:solidFill>
                  <a:srgbClr val="4472C4"/>
                </a:solidFill>
                <a:latin typeface="メイリオ"/>
              </a:rPr>
              <a:t>Learning Roadmap</a:t>
            </a:r>
          </a:p>
        </p:txBody>
      </p:sp>
      <p:sp>
        <p:nvSpPr>
          <p:cNvPr id="5" name="Rectangle 4"/>
          <p:cNvSpPr/>
          <p:nvPr/>
        </p:nvSpPr>
        <p:spPr>
          <a:xfrm>
            <a:off x="365760" y="1005840"/>
            <a:ext cx="2743200" cy="59436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051560"/>
            <a:ext cx="2560320" cy="548640"/>
          </a:xfrm>
          <a:prstGeom prst="rect">
            <a:avLst/>
          </a:prstGeom>
          <a:noFill/>
        </p:spPr>
        <p:txBody>
          <a:bodyPr wrap="square">
            <a:spAutoFit/>
          </a:bodyPr>
          <a:lstStyle/>
          <a:p>
            <a:pPr algn="ctr">
              <a:spcAft>
                <a:spcPts val="200"/>
              </a:spcAft>
            </a:pPr>
            <a:r>
              <a:rPr sz="1900" b="1">
                <a:solidFill>
                  <a:srgbClr val="FFFFFF"/>
                </a:solidFill>
                <a:latin typeface="メイリオ"/>
              </a:rPr>
              <a:t>データサイエンス基礎</a:t>
            </a:r>
          </a:p>
        </p:txBody>
      </p:sp>
      <p:sp>
        <p:nvSpPr>
          <p:cNvPr id="7" name="Rectangle 6"/>
          <p:cNvSpPr/>
          <p:nvPr/>
        </p:nvSpPr>
        <p:spPr>
          <a:xfrm>
            <a:off x="365760" y="1600200"/>
            <a:ext cx="2743200" cy="2286000"/>
          </a:xfrm>
          <a:prstGeom prst="rect">
            <a:avLst/>
          </a:prstGeom>
          <a:solidFill>
            <a:srgbClr val="F2F2F2"/>
          </a:solidFill>
          <a:ln w="1270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737360"/>
            <a:ext cx="2514600" cy="594360"/>
          </a:xfrm>
          <a:prstGeom prst="rect">
            <a:avLst/>
          </a:prstGeom>
          <a:noFill/>
        </p:spPr>
        <p:txBody>
          <a:bodyPr wrap="square">
            <a:spAutoFit/>
          </a:bodyPr>
          <a:lstStyle/>
          <a:p>
            <a:pPr algn="l">
              <a:spcAft>
                <a:spcPts val="200"/>
              </a:spcAft>
            </a:pPr>
            <a:r>
              <a:rPr sz="1900" b="0">
                <a:solidFill>
                  <a:srgbClr val="262626"/>
                </a:solidFill>
                <a:latin typeface="メイリオ"/>
              </a:rPr>
              <a:t>▶ データ収集・クリーニング</a:t>
            </a:r>
          </a:p>
        </p:txBody>
      </p:sp>
      <p:sp>
        <p:nvSpPr>
          <p:cNvPr id="9" name="TextBox 8"/>
          <p:cNvSpPr txBox="1"/>
          <p:nvPr/>
        </p:nvSpPr>
        <p:spPr>
          <a:xfrm>
            <a:off x="502920" y="2423160"/>
            <a:ext cx="2514600" cy="594360"/>
          </a:xfrm>
          <a:prstGeom prst="rect">
            <a:avLst/>
          </a:prstGeom>
          <a:noFill/>
        </p:spPr>
        <p:txBody>
          <a:bodyPr wrap="square">
            <a:spAutoFit/>
          </a:bodyPr>
          <a:lstStyle/>
          <a:p>
            <a:pPr algn="l">
              <a:spcAft>
                <a:spcPts val="200"/>
              </a:spcAft>
            </a:pPr>
            <a:r>
              <a:rPr sz="1900" b="0">
                <a:solidFill>
                  <a:srgbClr val="262626"/>
                </a:solidFill>
                <a:latin typeface="メイリオ"/>
              </a:rPr>
              <a:t>▶ データ処理・分析手法</a:t>
            </a:r>
          </a:p>
        </p:txBody>
      </p:sp>
      <p:sp>
        <p:nvSpPr>
          <p:cNvPr id="10" name="TextBox 9"/>
          <p:cNvSpPr txBox="1"/>
          <p:nvPr/>
        </p:nvSpPr>
        <p:spPr>
          <a:xfrm>
            <a:off x="502920" y="3108960"/>
            <a:ext cx="2514600" cy="594360"/>
          </a:xfrm>
          <a:prstGeom prst="rect">
            <a:avLst/>
          </a:prstGeom>
          <a:noFill/>
        </p:spPr>
        <p:txBody>
          <a:bodyPr wrap="square">
            <a:spAutoFit/>
          </a:bodyPr>
          <a:lstStyle/>
          <a:p>
            <a:pPr algn="l">
              <a:spcAft>
                <a:spcPts val="200"/>
              </a:spcAft>
            </a:pPr>
            <a:r>
              <a:rPr sz="1900" b="0">
                <a:solidFill>
                  <a:srgbClr val="262626"/>
                </a:solidFill>
                <a:latin typeface="メイリオ"/>
              </a:rPr>
              <a:t>▶ データ可視化（グラフ・ダッシュボード）</a:t>
            </a:r>
          </a:p>
        </p:txBody>
      </p:sp>
      <p:sp>
        <p:nvSpPr>
          <p:cNvPr id="11" name="Rectangle 10"/>
          <p:cNvSpPr/>
          <p:nvPr/>
        </p:nvSpPr>
        <p:spPr>
          <a:xfrm>
            <a:off x="3291840" y="1005840"/>
            <a:ext cx="2743200" cy="594360"/>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83280" y="1051560"/>
            <a:ext cx="2560320" cy="548640"/>
          </a:xfrm>
          <a:prstGeom prst="rect">
            <a:avLst/>
          </a:prstGeom>
          <a:noFill/>
        </p:spPr>
        <p:txBody>
          <a:bodyPr wrap="square">
            <a:spAutoFit/>
          </a:bodyPr>
          <a:lstStyle/>
          <a:p>
            <a:pPr algn="ctr">
              <a:spcAft>
                <a:spcPts val="200"/>
              </a:spcAft>
            </a:pPr>
            <a:r>
              <a:rPr sz="1900" b="1">
                <a:solidFill>
                  <a:srgbClr val="FFFFFF"/>
                </a:solidFill>
                <a:latin typeface="メイリオ"/>
              </a:rPr>
              <a:t>統計学・数学</a:t>
            </a:r>
          </a:p>
        </p:txBody>
      </p:sp>
      <p:sp>
        <p:nvSpPr>
          <p:cNvPr id="13" name="Rectangle 12"/>
          <p:cNvSpPr/>
          <p:nvPr/>
        </p:nvSpPr>
        <p:spPr>
          <a:xfrm>
            <a:off x="3291840" y="1600200"/>
            <a:ext cx="2743200" cy="2286000"/>
          </a:xfrm>
          <a:prstGeom prst="rect">
            <a:avLst/>
          </a:prstGeom>
          <a:solidFill>
            <a:srgbClr val="F2F2F2"/>
          </a:solidFill>
          <a:ln w="1270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29000" y="1737360"/>
            <a:ext cx="2514600" cy="594360"/>
          </a:xfrm>
          <a:prstGeom prst="rect">
            <a:avLst/>
          </a:prstGeom>
          <a:noFill/>
        </p:spPr>
        <p:txBody>
          <a:bodyPr wrap="square">
            <a:spAutoFit/>
          </a:bodyPr>
          <a:lstStyle/>
          <a:p>
            <a:pPr algn="l">
              <a:spcAft>
                <a:spcPts val="200"/>
              </a:spcAft>
            </a:pPr>
            <a:r>
              <a:rPr sz="1900" b="0">
                <a:solidFill>
                  <a:srgbClr val="262626"/>
                </a:solidFill>
                <a:latin typeface="メイリオ"/>
              </a:rPr>
              <a:t>▶ 記述統計・推測統計</a:t>
            </a:r>
          </a:p>
        </p:txBody>
      </p:sp>
      <p:sp>
        <p:nvSpPr>
          <p:cNvPr id="15" name="TextBox 14"/>
          <p:cNvSpPr txBox="1"/>
          <p:nvPr/>
        </p:nvSpPr>
        <p:spPr>
          <a:xfrm>
            <a:off x="3429000" y="2423160"/>
            <a:ext cx="2514600" cy="594360"/>
          </a:xfrm>
          <a:prstGeom prst="rect">
            <a:avLst/>
          </a:prstGeom>
          <a:noFill/>
        </p:spPr>
        <p:txBody>
          <a:bodyPr wrap="square">
            <a:spAutoFit/>
          </a:bodyPr>
          <a:lstStyle/>
          <a:p>
            <a:pPr algn="l">
              <a:spcAft>
                <a:spcPts val="200"/>
              </a:spcAft>
            </a:pPr>
            <a:r>
              <a:rPr sz="1900" b="0">
                <a:solidFill>
                  <a:srgbClr val="262626"/>
                </a:solidFill>
                <a:latin typeface="メイリオ"/>
              </a:rPr>
              <a:t>▶ 回帰分析・相関分析</a:t>
            </a:r>
          </a:p>
        </p:txBody>
      </p:sp>
      <p:sp>
        <p:nvSpPr>
          <p:cNvPr id="16" name="TextBox 15"/>
          <p:cNvSpPr txBox="1"/>
          <p:nvPr/>
        </p:nvSpPr>
        <p:spPr>
          <a:xfrm>
            <a:off x="3429000" y="3108960"/>
            <a:ext cx="2514600" cy="594360"/>
          </a:xfrm>
          <a:prstGeom prst="rect">
            <a:avLst/>
          </a:prstGeom>
          <a:noFill/>
        </p:spPr>
        <p:txBody>
          <a:bodyPr wrap="square">
            <a:spAutoFit/>
          </a:bodyPr>
          <a:lstStyle/>
          <a:p>
            <a:pPr algn="l">
              <a:spcAft>
                <a:spcPts val="200"/>
              </a:spcAft>
            </a:pPr>
            <a:r>
              <a:rPr sz="1900" b="0">
                <a:solidFill>
                  <a:srgbClr val="262626"/>
                </a:solidFill>
                <a:latin typeface="メイリオ"/>
              </a:rPr>
              <a:t>▶ 機械学習・ディープラーニング</a:t>
            </a:r>
          </a:p>
        </p:txBody>
      </p:sp>
      <p:sp>
        <p:nvSpPr>
          <p:cNvPr id="17" name="Rectangle 16"/>
          <p:cNvSpPr/>
          <p:nvPr/>
        </p:nvSpPr>
        <p:spPr>
          <a:xfrm>
            <a:off x="6217920" y="1005840"/>
            <a:ext cx="2743200" cy="594360"/>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60" y="1051560"/>
            <a:ext cx="2560320" cy="548640"/>
          </a:xfrm>
          <a:prstGeom prst="rect">
            <a:avLst/>
          </a:prstGeom>
          <a:noFill/>
        </p:spPr>
        <p:txBody>
          <a:bodyPr wrap="square">
            <a:spAutoFit/>
          </a:bodyPr>
          <a:lstStyle/>
          <a:p>
            <a:pPr algn="ctr">
              <a:spcAft>
                <a:spcPts val="200"/>
              </a:spcAft>
            </a:pPr>
            <a:r>
              <a:rPr sz="1900" b="1">
                <a:solidFill>
                  <a:srgbClr val="FFFFFF"/>
                </a:solidFill>
                <a:latin typeface="メイリオ"/>
              </a:rPr>
              <a:t>プログラミング・ツール</a:t>
            </a:r>
          </a:p>
        </p:txBody>
      </p:sp>
      <p:sp>
        <p:nvSpPr>
          <p:cNvPr id="19" name="Rectangle 18"/>
          <p:cNvSpPr/>
          <p:nvPr/>
        </p:nvSpPr>
        <p:spPr>
          <a:xfrm>
            <a:off x="6217920" y="1600200"/>
            <a:ext cx="2743200" cy="2286000"/>
          </a:xfrm>
          <a:prstGeom prst="rect">
            <a:avLst/>
          </a:prstGeom>
          <a:solidFill>
            <a:srgbClr val="F2F2F2"/>
          </a:solidFill>
          <a:ln w="12700">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1737360"/>
            <a:ext cx="2514600" cy="594360"/>
          </a:xfrm>
          <a:prstGeom prst="rect">
            <a:avLst/>
          </a:prstGeom>
          <a:noFill/>
        </p:spPr>
        <p:txBody>
          <a:bodyPr wrap="square">
            <a:spAutoFit/>
          </a:bodyPr>
          <a:lstStyle/>
          <a:p>
            <a:pPr algn="l">
              <a:spcAft>
                <a:spcPts val="200"/>
              </a:spcAft>
            </a:pPr>
            <a:r>
              <a:rPr sz="1900" b="0">
                <a:solidFill>
                  <a:srgbClr val="262626"/>
                </a:solidFill>
                <a:latin typeface="メイリオ"/>
              </a:rPr>
              <a:t>▶ Excel（関数・ピボット）</a:t>
            </a:r>
          </a:p>
        </p:txBody>
      </p:sp>
      <p:sp>
        <p:nvSpPr>
          <p:cNvPr id="21" name="TextBox 20"/>
          <p:cNvSpPr txBox="1"/>
          <p:nvPr/>
        </p:nvSpPr>
        <p:spPr>
          <a:xfrm>
            <a:off x="6355080" y="2423160"/>
            <a:ext cx="2514600" cy="594360"/>
          </a:xfrm>
          <a:prstGeom prst="rect">
            <a:avLst/>
          </a:prstGeom>
          <a:noFill/>
        </p:spPr>
        <p:txBody>
          <a:bodyPr wrap="square">
            <a:spAutoFit/>
          </a:bodyPr>
          <a:lstStyle/>
          <a:p>
            <a:pPr algn="l">
              <a:spcAft>
                <a:spcPts val="200"/>
              </a:spcAft>
            </a:pPr>
            <a:r>
              <a:rPr sz="1900" b="0">
                <a:solidFill>
                  <a:srgbClr val="262626"/>
                </a:solidFill>
                <a:latin typeface="メイリオ"/>
              </a:rPr>
              <a:t>▶ Python（pandas・sklearn）</a:t>
            </a:r>
          </a:p>
        </p:txBody>
      </p:sp>
      <p:sp>
        <p:nvSpPr>
          <p:cNvPr id="22" name="TextBox 21"/>
          <p:cNvSpPr txBox="1"/>
          <p:nvPr/>
        </p:nvSpPr>
        <p:spPr>
          <a:xfrm>
            <a:off x="6355080" y="3108960"/>
            <a:ext cx="2514600" cy="594360"/>
          </a:xfrm>
          <a:prstGeom prst="rect">
            <a:avLst/>
          </a:prstGeom>
          <a:noFill/>
        </p:spPr>
        <p:txBody>
          <a:bodyPr wrap="square">
            <a:spAutoFit/>
          </a:bodyPr>
          <a:lstStyle/>
          <a:p>
            <a:pPr algn="l">
              <a:spcAft>
                <a:spcPts val="200"/>
              </a:spcAft>
            </a:pPr>
            <a:r>
              <a:rPr sz="1900" b="0">
                <a:solidFill>
                  <a:srgbClr val="262626"/>
                </a:solidFill>
                <a:latin typeface="メイリオ"/>
              </a:rPr>
              <a:t>▶ 生成AI・LLM・ChatGPT活用</a:t>
            </a:r>
          </a:p>
        </p:txBody>
      </p:sp>
      <p:sp>
        <p:nvSpPr>
          <p:cNvPr id="23" name="Rectangle 22"/>
          <p:cNvSpPr/>
          <p:nvPr/>
        </p:nvSpPr>
        <p:spPr>
          <a:xfrm>
            <a:off x="9144000" y="1005840"/>
            <a:ext cx="2743200" cy="594360"/>
          </a:xfrm>
          <a:prstGeom prst="rect">
            <a:avLst/>
          </a:prstGeom>
          <a:solidFill>
            <a:srgbClr val="703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35440" y="1051560"/>
            <a:ext cx="2560320" cy="548640"/>
          </a:xfrm>
          <a:prstGeom prst="rect">
            <a:avLst/>
          </a:prstGeom>
          <a:noFill/>
        </p:spPr>
        <p:txBody>
          <a:bodyPr wrap="square">
            <a:spAutoFit/>
          </a:bodyPr>
          <a:lstStyle/>
          <a:p>
            <a:pPr algn="ctr">
              <a:spcAft>
                <a:spcPts val="200"/>
              </a:spcAft>
            </a:pPr>
            <a:r>
              <a:rPr sz="1900" b="1">
                <a:solidFill>
                  <a:srgbClr val="FFFFFF"/>
                </a:solidFill>
                <a:latin typeface="メイリオ"/>
              </a:rPr>
              <a:t>経営・ビジネス応用</a:t>
            </a:r>
          </a:p>
        </p:txBody>
      </p:sp>
      <p:sp>
        <p:nvSpPr>
          <p:cNvPr id="25" name="Rectangle 24"/>
          <p:cNvSpPr/>
          <p:nvPr/>
        </p:nvSpPr>
        <p:spPr>
          <a:xfrm>
            <a:off x="9144000" y="1600200"/>
            <a:ext cx="2743200" cy="2286000"/>
          </a:xfrm>
          <a:prstGeom prst="rect">
            <a:avLst/>
          </a:prstGeom>
          <a:solidFill>
            <a:srgbClr val="F2F2F2"/>
          </a:solidFill>
          <a:ln w="12700">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81160" y="1737360"/>
            <a:ext cx="2514600" cy="594360"/>
          </a:xfrm>
          <a:prstGeom prst="rect">
            <a:avLst/>
          </a:prstGeom>
          <a:noFill/>
        </p:spPr>
        <p:txBody>
          <a:bodyPr wrap="square">
            <a:spAutoFit/>
          </a:bodyPr>
          <a:lstStyle/>
          <a:p>
            <a:pPr algn="l">
              <a:spcAft>
                <a:spcPts val="200"/>
              </a:spcAft>
            </a:pPr>
            <a:r>
              <a:rPr sz="1900" b="0">
                <a:solidFill>
                  <a:srgbClr val="262626"/>
                </a:solidFill>
                <a:latin typeface="メイリオ"/>
              </a:rPr>
              <a:t>▶ 経営意思決定支援</a:t>
            </a:r>
          </a:p>
        </p:txBody>
      </p:sp>
      <p:sp>
        <p:nvSpPr>
          <p:cNvPr id="27" name="TextBox 26"/>
          <p:cNvSpPr txBox="1"/>
          <p:nvPr/>
        </p:nvSpPr>
        <p:spPr>
          <a:xfrm>
            <a:off x="9281160" y="2423160"/>
            <a:ext cx="2514600" cy="594360"/>
          </a:xfrm>
          <a:prstGeom prst="rect">
            <a:avLst/>
          </a:prstGeom>
          <a:noFill/>
        </p:spPr>
        <p:txBody>
          <a:bodyPr wrap="square">
            <a:spAutoFit/>
          </a:bodyPr>
          <a:lstStyle/>
          <a:p>
            <a:pPr algn="l">
              <a:spcAft>
                <a:spcPts val="200"/>
              </a:spcAft>
            </a:pPr>
            <a:r>
              <a:rPr sz="1900" b="0">
                <a:solidFill>
                  <a:srgbClr val="262626"/>
                </a:solidFill>
                <a:latin typeface="メイリオ"/>
              </a:rPr>
              <a:t>▶ マーケティング分析</a:t>
            </a:r>
          </a:p>
        </p:txBody>
      </p:sp>
      <p:sp>
        <p:nvSpPr>
          <p:cNvPr id="28" name="TextBox 27"/>
          <p:cNvSpPr txBox="1"/>
          <p:nvPr/>
        </p:nvSpPr>
        <p:spPr>
          <a:xfrm>
            <a:off x="9281160" y="3108960"/>
            <a:ext cx="2514600" cy="594360"/>
          </a:xfrm>
          <a:prstGeom prst="rect">
            <a:avLst/>
          </a:prstGeom>
          <a:noFill/>
        </p:spPr>
        <p:txBody>
          <a:bodyPr wrap="square">
            <a:spAutoFit/>
          </a:bodyPr>
          <a:lstStyle/>
          <a:p>
            <a:pPr algn="l">
              <a:spcAft>
                <a:spcPts val="200"/>
              </a:spcAft>
            </a:pPr>
            <a:r>
              <a:rPr sz="1900" b="0">
                <a:solidFill>
                  <a:srgbClr val="262626"/>
                </a:solidFill>
                <a:latin typeface="メイリオ"/>
              </a:rPr>
              <a:t>▶ ファイナンス・会計データ分析</a:t>
            </a:r>
          </a:p>
        </p:txBody>
      </p:sp>
      <p:sp>
        <p:nvSpPr>
          <p:cNvPr id="29" name="Rectangle 28"/>
          <p:cNvSpPr/>
          <p:nvPr/>
        </p:nvSpPr>
        <p:spPr>
          <a:xfrm>
            <a:off x="365760" y="4069080"/>
            <a:ext cx="11430000" cy="59436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7200" y="4114800"/>
            <a:ext cx="11247120" cy="548640"/>
          </a:xfrm>
          <a:prstGeom prst="rect">
            <a:avLst/>
          </a:prstGeom>
          <a:noFill/>
        </p:spPr>
        <p:txBody>
          <a:bodyPr wrap="square">
            <a:spAutoFit/>
          </a:bodyPr>
          <a:lstStyle/>
          <a:p>
            <a:pPr algn="ctr">
              <a:spcAft>
                <a:spcPts val="200"/>
              </a:spcAft>
            </a:pPr>
            <a:r>
              <a:rPr sz="2000" b="1">
                <a:solidFill>
                  <a:srgbClr val="FFFFFF"/>
                </a:solidFill>
                <a:latin typeface="メイリオ"/>
              </a:rPr>
              <a:t>本講義のゴール：データで経営判断を科学できる「データ経営人材」の育成</a:t>
            </a:r>
          </a:p>
        </p:txBody>
      </p:sp>
      <p:sp>
        <p:nvSpPr>
          <p:cNvPr id="31" name="TextBox 30"/>
          <p:cNvSpPr txBox="1"/>
          <p:nvPr/>
        </p:nvSpPr>
        <p:spPr>
          <a:xfrm>
            <a:off x="365760" y="4846320"/>
            <a:ext cx="11430000" cy="457200"/>
          </a:xfrm>
          <a:prstGeom prst="rect">
            <a:avLst/>
          </a:prstGeom>
          <a:noFill/>
        </p:spPr>
        <p:txBody>
          <a:bodyPr wrap="square">
            <a:spAutoFit/>
          </a:bodyPr>
          <a:lstStyle/>
          <a:p>
            <a:pPr algn="l">
              <a:spcAft>
                <a:spcPts val="200"/>
              </a:spcAft>
            </a:pPr>
            <a:r>
              <a:rPr sz="2000" b="1">
                <a:solidFill>
                  <a:srgbClr val="1F3864"/>
                </a:solidFill>
                <a:latin typeface="メイリオ"/>
              </a:rPr>
              <a:t>この講義で使うツール・技術：</a:t>
            </a:r>
          </a:p>
        </p:txBody>
      </p:sp>
      <p:sp>
        <p:nvSpPr>
          <p:cNvPr id="32" name="Rectangle 31"/>
          <p:cNvSpPr/>
          <p:nvPr/>
        </p:nvSpPr>
        <p:spPr>
          <a:xfrm>
            <a:off x="365760" y="5394960"/>
            <a:ext cx="2743200" cy="1188720"/>
          </a:xfrm>
          <a:prstGeom prst="rect">
            <a:avLst/>
          </a:prstGeom>
          <a:solidFill>
            <a:srgbClr val="BDD7EE"/>
          </a:solidFill>
          <a:ln w="1016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7200" y="5486400"/>
            <a:ext cx="2560320" cy="457200"/>
          </a:xfrm>
          <a:prstGeom prst="rect">
            <a:avLst/>
          </a:prstGeom>
          <a:noFill/>
        </p:spPr>
        <p:txBody>
          <a:bodyPr wrap="square">
            <a:spAutoFit/>
          </a:bodyPr>
          <a:lstStyle/>
          <a:p>
            <a:pPr algn="ctr">
              <a:spcAft>
                <a:spcPts val="200"/>
              </a:spcAft>
            </a:pPr>
            <a:r>
              <a:rPr sz="2000" b="1">
                <a:solidFill>
                  <a:srgbClr val="1F3864"/>
                </a:solidFill>
                <a:latin typeface="メイリオ"/>
              </a:rPr>
              <a:t>Excel</a:t>
            </a:r>
          </a:p>
        </p:txBody>
      </p:sp>
      <p:sp>
        <p:nvSpPr>
          <p:cNvPr id="34" name="TextBox 33"/>
          <p:cNvSpPr txBox="1"/>
          <p:nvPr/>
        </p:nvSpPr>
        <p:spPr>
          <a:xfrm>
            <a:off x="457200" y="5943600"/>
            <a:ext cx="2560320" cy="502920"/>
          </a:xfrm>
          <a:prstGeom prst="rect">
            <a:avLst/>
          </a:prstGeom>
          <a:noFill/>
        </p:spPr>
        <p:txBody>
          <a:bodyPr wrap="square">
            <a:spAutoFit/>
          </a:bodyPr>
          <a:lstStyle/>
          <a:p>
            <a:pPr algn="ctr">
              <a:spcAft>
                <a:spcPts val="200"/>
              </a:spcAft>
            </a:pPr>
            <a:r>
              <a:rPr sz="1700" b="0">
                <a:solidFill>
                  <a:srgbClr val="262626"/>
                </a:solidFill>
                <a:latin typeface="メイリオ"/>
              </a:rPr>
              <a:t>基本分析・可視化</a:t>
            </a:r>
          </a:p>
        </p:txBody>
      </p:sp>
      <p:sp>
        <p:nvSpPr>
          <p:cNvPr id="35" name="Rectangle 34"/>
          <p:cNvSpPr/>
          <p:nvPr/>
        </p:nvSpPr>
        <p:spPr>
          <a:xfrm>
            <a:off x="3200400" y="5394960"/>
            <a:ext cx="2743200" cy="1188720"/>
          </a:xfrm>
          <a:prstGeom prst="rect">
            <a:avLst/>
          </a:prstGeom>
          <a:solidFill>
            <a:srgbClr val="E2EFDA"/>
          </a:solidFill>
          <a:ln w="1016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291840" y="5486400"/>
            <a:ext cx="2560320" cy="457200"/>
          </a:xfrm>
          <a:prstGeom prst="rect">
            <a:avLst/>
          </a:prstGeom>
          <a:noFill/>
        </p:spPr>
        <p:txBody>
          <a:bodyPr wrap="square">
            <a:spAutoFit/>
          </a:bodyPr>
          <a:lstStyle/>
          <a:p>
            <a:pPr algn="ctr">
              <a:spcAft>
                <a:spcPts val="200"/>
              </a:spcAft>
            </a:pPr>
            <a:r>
              <a:rPr sz="2000" b="1">
                <a:solidFill>
                  <a:srgbClr val="1F3864"/>
                </a:solidFill>
                <a:latin typeface="メイリオ"/>
              </a:rPr>
              <a:t>Python</a:t>
            </a:r>
          </a:p>
        </p:txBody>
      </p:sp>
      <p:sp>
        <p:nvSpPr>
          <p:cNvPr id="37" name="TextBox 36"/>
          <p:cNvSpPr txBox="1"/>
          <p:nvPr/>
        </p:nvSpPr>
        <p:spPr>
          <a:xfrm>
            <a:off x="3291840" y="5943600"/>
            <a:ext cx="2560320" cy="502920"/>
          </a:xfrm>
          <a:prstGeom prst="rect">
            <a:avLst/>
          </a:prstGeom>
          <a:noFill/>
        </p:spPr>
        <p:txBody>
          <a:bodyPr wrap="square">
            <a:spAutoFit/>
          </a:bodyPr>
          <a:lstStyle/>
          <a:p>
            <a:pPr algn="ctr">
              <a:spcAft>
                <a:spcPts val="200"/>
              </a:spcAft>
            </a:pPr>
            <a:r>
              <a:rPr sz="1700" b="0">
                <a:solidFill>
                  <a:srgbClr val="262626"/>
                </a:solidFill>
                <a:latin typeface="メイリオ"/>
              </a:rPr>
              <a:t>機械学習・自動化</a:t>
            </a:r>
          </a:p>
        </p:txBody>
      </p:sp>
      <p:sp>
        <p:nvSpPr>
          <p:cNvPr id="38" name="Rectangle 37"/>
          <p:cNvSpPr/>
          <p:nvPr/>
        </p:nvSpPr>
        <p:spPr>
          <a:xfrm>
            <a:off x="6035040" y="5394960"/>
            <a:ext cx="2743200" cy="1188720"/>
          </a:xfrm>
          <a:prstGeom prst="rect">
            <a:avLst/>
          </a:prstGeom>
          <a:solidFill>
            <a:srgbClr val="FFF2CC"/>
          </a:solidFill>
          <a:ln w="1016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126480" y="5486400"/>
            <a:ext cx="2560320" cy="457200"/>
          </a:xfrm>
          <a:prstGeom prst="rect">
            <a:avLst/>
          </a:prstGeom>
          <a:noFill/>
        </p:spPr>
        <p:txBody>
          <a:bodyPr wrap="square">
            <a:spAutoFit/>
          </a:bodyPr>
          <a:lstStyle/>
          <a:p>
            <a:pPr algn="ctr">
              <a:spcAft>
                <a:spcPts val="200"/>
              </a:spcAft>
            </a:pPr>
            <a:r>
              <a:rPr sz="2000" b="1">
                <a:solidFill>
                  <a:srgbClr val="1F3864"/>
                </a:solidFill>
                <a:latin typeface="メイリオ"/>
              </a:rPr>
              <a:t>ChatGPT/Claude</a:t>
            </a:r>
          </a:p>
        </p:txBody>
      </p:sp>
      <p:sp>
        <p:nvSpPr>
          <p:cNvPr id="40" name="TextBox 39"/>
          <p:cNvSpPr txBox="1"/>
          <p:nvPr/>
        </p:nvSpPr>
        <p:spPr>
          <a:xfrm>
            <a:off x="6126480" y="5943600"/>
            <a:ext cx="2560320" cy="502920"/>
          </a:xfrm>
          <a:prstGeom prst="rect">
            <a:avLst/>
          </a:prstGeom>
          <a:noFill/>
        </p:spPr>
        <p:txBody>
          <a:bodyPr wrap="square">
            <a:spAutoFit/>
          </a:bodyPr>
          <a:lstStyle/>
          <a:p>
            <a:pPr algn="ctr">
              <a:spcAft>
                <a:spcPts val="200"/>
              </a:spcAft>
            </a:pPr>
            <a:r>
              <a:rPr sz="1700" b="0">
                <a:solidFill>
                  <a:srgbClr val="262626"/>
                </a:solidFill>
                <a:latin typeface="メイリオ"/>
              </a:rPr>
              <a:t>生成AI活用</a:t>
            </a:r>
          </a:p>
        </p:txBody>
      </p:sp>
      <p:sp>
        <p:nvSpPr>
          <p:cNvPr id="41" name="Rectangle 40"/>
          <p:cNvSpPr/>
          <p:nvPr/>
        </p:nvSpPr>
        <p:spPr>
          <a:xfrm>
            <a:off x="8869680" y="5394960"/>
            <a:ext cx="2743200" cy="1188720"/>
          </a:xfrm>
          <a:prstGeom prst="rect">
            <a:avLst/>
          </a:prstGeom>
          <a:solidFill>
            <a:srgbClr val="D0F0EE"/>
          </a:solidFill>
          <a:ln w="1016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961120" y="5486400"/>
            <a:ext cx="2560320" cy="457200"/>
          </a:xfrm>
          <a:prstGeom prst="rect">
            <a:avLst/>
          </a:prstGeom>
          <a:noFill/>
        </p:spPr>
        <p:txBody>
          <a:bodyPr wrap="square">
            <a:spAutoFit/>
          </a:bodyPr>
          <a:lstStyle/>
          <a:p>
            <a:pPr algn="ctr">
              <a:spcAft>
                <a:spcPts val="200"/>
              </a:spcAft>
            </a:pPr>
            <a:r>
              <a:rPr sz="2000" b="1">
                <a:solidFill>
                  <a:srgbClr val="1F3864"/>
                </a:solidFill>
                <a:latin typeface="メイリオ"/>
              </a:rPr>
              <a:t>EDINET API</a:t>
            </a:r>
          </a:p>
        </p:txBody>
      </p:sp>
      <p:sp>
        <p:nvSpPr>
          <p:cNvPr id="43" name="TextBox 42"/>
          <p:cNvSpPr txBox="1"/>
          <p:nvPr/>
        </p:nvSpPr>
        <p:spPr>
          <a:xfrm>
            <a:off x="8961120" y="5943600"/>
            <a:ext cx="2560320" cy="502920"/>
          </a:xfrm>
          <a:prstGeom prst="rect">
            <a:avLst/>
          </a:prstGeom>
          <a:noFill/>
        </p:spPr>
        <p:txBody>
          <a:bodyPr wrap="square">
            <a:spAutoFit/>
          </a:bodyPr>
          <a:lstStyle/>
          <a:p>
            <a:pPr algn="ctr">
              <a:spcAft>
                <a:spcPts val="200"/>
              </a:spcAft>
            </a:pPr>
            <a:r>
              <a:rPr sz="1700" b="0">
                <a:solidFill>
                  <a:srgbClr val="262626"/>
                </a:solidFill>
                <a:latin typeface="メイリオ"/>
              </a:rPr>
              <a:t>財務データ取得</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1551615" cy="658368"/>
          </a:xfrm>
          <a:prstGeom prst="rect">
            <a:avLst/>
          </a:prstGeom>
          <a:noFill/>
        </p:spPr>
        <p:txBody>
          <a:bodyPr wrap="square">
            <a:spAutoFit/>
          </a:bodyPr>
          <a:lstStyle/>
          <a:p>
            <a:pPr algn="l">
              <a:spcAft>
                <a:spcPts val="200"/>
              </a:spcAft>
            </a:pPr>
            <a:r>
              <a:rPr sz="2600" b="1">
                <a:solidFill>
                  <a:srgbClr val="FFFFFF"/>
                </a:solidFill>
                <a:latin typeface="メイリオ"/>
              </a:rPr>
              <a:t>ビッグデータの時代とデータサイエンス</a:t>
            </a:r>
          </a:p>
        </p:txBody>
      </p:sp>
      <p:sp>
        <p:nvSpPr>
          <p:cNvPr id="4" name="TextBox 3"/>
          <p:cNvSpPr txBox="1"/>
          <p:nvPr/>
        </p:nvSpPr>
        <p:spPr>
          <a:xfrm>
            <a:off x="320040" y="841248"/>
            <a:ext cx="11551615" cy="457200"/>
          </a:xfrm>
          <a:prstGeom prst="rect">
            <a:avLst/>
          </a:prstGeom>
          <a:noFill/>
        </p:spPr>
        <p:txBody>
          <a:bodyPr wrap="square">
            <a:spAutoFit/>
          </a:bodyPr>
          <a:lstStyle/>
          <a:p>
            <a:pPr algn="l">
              <a:spcAft>
                <a:spcPts val="200"/>
              </a:spcAft>
            </a:pPr>
            <a:r>
              <a:rPr sz="1800" b="1">
                <a:solidFill>
                  <a:srgbClr val="4472C4"/>
                </a:solidFill>
                <a:latin typeface="メイリオ"/>
              </a:rPr>
              <a:t>Big Data Era</a:t>
            </a:r>
          </a:p>
        </p:txBody>
      </p:sp>
      <p:sp>
        <p:nvSpPr>
          <p:cNvPr id="5" name="Rectangle 4"/>
          <p:cNvSpPr/>
          <p:nvPr/>
        </p:nvSpPr>
        <p:spPr>
          <a:xfrm>
            <a:off x="457200" y="1005840"/>
            <a:ext cx="2377440" cy="137160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97280"/>
            <a:ext cx="2194560" cy="1188720"/>
          </a:xfrm>
          <a:prstGeom prst="rect">
            <a:avLst/>
          </a:prstGeom>
          <a:noFill/>
        </p:spPr>
        <p:txBody>
          <a:bodyPr wrap="square">
            <a:spAutoFit/>
          </a:bodyPr>
          <a:lstStyle/>
          <a:p>
            <a:pPr algn="ctr">
              <a:spcAft>
                <a:spcPts val="200"/>
              </a:spcAft>
            </a:pPr>
            <a:r>
              <a:rPr sz="2000" b="1">
                <a:solidFill>
                  <a:srgbClr val="FFFFFF"/>
                </a:solidFill>
                <a:latin typeface="メイリオ"/>
              </a:rPr>
              <a:t>Volume
大量性</a:t>
            </a:r>
          </a:p>
        </p:txBody>
      </p:sp>
      <p:sp>
        <p:nvSpPr>
          <p:cNvPr id="7" name="Rectangle 6"/>
          <p:cNvSpPr/>
          <p:nvPr/>
        </p:nvSpPr>
        <p:spPr>
          <a:xfrm>
            <a:off x="457200" y="2377440"/>
            <a:ext cx="2377440" cy="1005840"/>
          </a:xfrm>
          <a:prstGeom prst="rect">
            <a:avLst/>
          </a:prstGeom>
          <a:solidFill>
            <a:srgbClr val="F2F2F2"/>
          </a:solidFill>
          <a:ln w="1270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468880"/>
            <a:ext cx="2194560" cy="914400"/>
          </a:xfrm>
          <a:prstGeom prst="rect">
            <a:avLst/>
          </a:prstGeom>
          <a:noFill/>
        </p:spPr>
        <p:txBody>
          <a:bodyPr wrap="square">
            <a:spAutoFit/>
          </a:bodyPr>
          <a:lstStyle/>
          <a:p>
            <a:pPr algn="ctr">
              <a:spcAft>
                <a:spcPts val="200"/>
              </a:spcAft>
            </a:pPr>
            <a:r>
              <a:rPr sz="1700" b="0">
                <a:solidFill>
                  <a:srgbClr val="262626"/>
                </a:solidFill>
                <a:latin typeface="メイリオ"/>
              </a:rPr>
              <a:t>SNS・IoT・購買履歴など
膨大なデータが蓄積</a:t>
            </a:r>
          </a:p>
        </p:txBody>
      </p:sp>
      <p:sp>
        <p:nvSpPr>
          <p:cNvPr id="9" name="Rectangle 8"/>
          <p:cNvSpPr/>
          <p:nvPr/>
        </p:nvSpPr>
        <p:spPr>
          <a:xfrm>
            <a:off x="3017520" y="1005840"/>
            <a:ext cx="2377440" cy="1371600"/>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08960" y="1097280"/>
            <a:ext cx="2194560" cy="1188720"/>
          </a:xfrm>
          <a:prstGeom prst="rect">
            <a:avLst/>
          </a:prstGeom>
          <a:noFill/>
        </p:spPr>
        <p:txBody>
          <a:bodyPr wrap="square">
            <a:spAutoFit/>
          </a:bodyPr>
          <a:lstStyle/>
          <a:p>
            <a:pPr algn="ctr">
              <a:spcAft>
                <a:spcPts val="200"/>
              </a:spcAft>
            </a:pPr>
            <a:r>
              <a:rPr sz="2000" b="1">
                <a:solidFill>
                  <a:srgbClr val="FFFFFF"/>
                </a:solidFill>
                <a:latin typeface="メイリオ"/>
              </a:rPr>
              <a:t>Variety
多様性</a:t>
            </a:r>
          </a:p>
        </p:txBody>
      </p:sp>
      <p:sp>
        <p:nvSpPr>
          <p:cNvPr id="11" name="Rectangle 10"/>
          <p:cNvSpPr/>
          <p:nvPr/>
        </p:nvSpPr>
        <p:spPr>
          <a:xfrm>
            <a:off x="3017520" y="2377440"/>
            <a:ext cx="2377440" cy="1005840"/>
          </a:xfrm>
          <a:prstGeom prst="rect">
            <a:avLst/>
          </a:prstGeom>
          <a:solidFill>
            <a:srgbClr val="F2F2F2"/>
          </a:solidFill>
          <a:ln w="1270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108960" y="2468880"/>
            <a:ext cx="2194560" cy="914400"/>
          </a:xfrm>
          <a:prstGeom prst="rect">
            <a:avLst/>
          </a:prstGeom>
          <a:noFill/>
        </p:spPr>
        <p:txBody>
          <a:bodyPr wrap="square">
            <a:spAutoFit/>
          </a:bodyPr>
          <a:lstStyle/>
          <a:p>
            <a:pPr algn="ctr">
              <a:spcAft>
                <a:spcPts val="200"/>
              </a:spcAft>
            </a:pPr>
            <a:r>
              <a:rPr sz="1700" b="0">
                <a:solidFill>
                  <a:srgbClr val="262626"/>
                </a:solidFill>
                <a:latin typeface="メイリオ"/>
              </a:rPr>
              <a:t>テキスト・画像・音声・
センサーなど多種多様</a:t>
            </a:r>
          </a:p>
        </p:txBody>
      </p:sp>
      <p:sp>
        <p:nvSpPr>
          <p:cNvPr id="13" name="Rectangle 12"/>
          <p:cNvSpPr/>
          <p:nvPr/>
        </p:nvSpPr>
        <p:spPr>
          <a:xfrm>
            <a:off x="5577840" y="1005840"/>
            <a:ext cx="2377440" cy="1371600"/>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0" y="1097280"/>
            <a:ext cx="2194560" cy="1188720"/>
          </a:xfrm>
          <a:prstGeom prst="rect">
            <a:avLst/>
          </a:prstGeom>
          <a:noFill/>
        </p:spPr>
        <p:txBody>
          <a:bodyPr wrap="square">
            <a:spAutoFit/>
          </a:bodyPr>
          <a:lstStyle/>
          <a:p>
            <a:pPr algn="ctr">
              <a:spcAft>
                <a:spcPts val="200"/>
              </a:spcAft>
            </a:pPr>
            <a:r>
              <a:rPr sz="2000" b="1">
                <a:solidFill>
                  <a:srgbClr val="FFFFFF"/>
                </a:solidFill>
                <a:latin typeface="メイリオ"/>
              </a:rPr>
              <a:t>Velocity
即時性</a:t>
            </a:r>
          </a:p>
        </p:txBody>
      </p:sp>
      <p:sp>
        <p:nvSpPr>
          <p:cNvPr id="15" name="Rectangle 14"/>
          <p:cNvSpPr/>
          <p:nvPr/>
        </p:nvSpPr>
        <p:spPr>
          <a:xfrm>
            <a:off x="5577840" y="2377440"/>
            <a:ext cx="2377440" cy="1005840"/>
          </a:xfrm>
          <a:prstGeom prst="rect">
            <a:avLst/>
          </a:prstGeom>
          <a:solidFill>
            <a:srgbClr val="F2F2F2"/>
          </a:solidFill>
          <a:ln w="12700">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0" y="2468880"/>
            <a:ext cx="2194560" cy="914400"/>
          </a:xfrm>
          <a:prstGeom prst="rect">
            <a:avLst/>
          </a:prstGeom>
          <a:noFill/>
        </p:spPr>
        <p:txBody>
          <a:bodyPr wrap="square">
            <a:spAutoFit/>
          </a:bodyPr>
          <a:lstStyle/>
          <a:p>
            <a:pPr algn="ctr">
              <a:spcAft>
                <a:spcPts val="200"/>
              </a:spcAft>
            </a:pPr>
            <a:r>
              <a:rPr sz="1700" b="0">
                <a:solidFill>
                  <a:srgbClr val="262626"/>
                </a:solidFill>
                <a:latin typeface="メイリオ"/>
              </a:rPr>
              <a:t>リアルタイムで生成・
更新されるデータ</a:t>
            </a:r>
          </a:p>
        </p:txBody>
      </p:sp>
      <p:sp>
        <p:nvSpPr>
          <p:cNvPr id="17" name="Rectangle 16"/>
          <p:cNvSpPr/>
          <p:nvPr/>
        </p:nvSpPr>
        <p:spPr>
          <a:xfrm>
            <a:off x="8229600" y="1005840"/>
            <a:ext cx="3566160" cy="2377440"/>
          </a:xfrm>
          <a:prstGeom prst="rect">
            <a:avLst/>
          </a:prstGeom>
          <a:solidFill>
            <a:srgbClr val="E1F5FE"/>
          </a:solidFill>
          <a:ln w="25400">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1040" y="1097280"/>
            <a:ext cx="3383280" cy="548640"/>
          </a:xfrm>
          <a:prstGeom prst="rect">
            <a:avLst/>
          </a:prstGeom>
          <a:noFill/>
        </p:spPr>
        <p:txBody>
          <a:bodyPr wrap="square">
            <a:spAutoFit/>
          </a:bodyPr>
          <a:lstStyle/>
          <a:p>
            <a:pPr algn="l">
              <a:spcAft>
                <a:spcPts val="200"/>
              </a:spcAft>
            </a:pPr>
            <a:r>
              <a:rPr sz="2000" b="1">
                <a:solidFill>
                  <a:srgbClr val="1F3864"/>
                </a:solidFill>
                <a:latin typeface="メイリオ"/>
              </a:rPr>
              <a:t>ビッグデータの源泉</a:t>
            </a:r>
          </a:p>
        </p:txBody>
      </p:sp>
      <p:sp>
        <p:nvSpPr>
          <p:cNvPr id="19" name="TextBox 18"/>
          <p:cNvSpPr txBox="1"/>
          <p:nvPr/>
        </p:nvSpPr>
        <p:spPr>
          <a:xfrm>
            <a:off x="8321040" y="1691640"/>
            <a:ext cx="3383280" cy="1645920"/>
          </a:xfrm>
          <a:prstGeom prst="rect">
            <a:avLst/>
          </a:prstGeom>
          <a:noFill/>
        </p:spPr>
        <p:txBody>
          <a:bodyPr wrap="square">
            <a:spAutoFit/>
          </a:bodyPr>
          <a:lstStyle/>
          <a:p>
            <a:pPr algn="l">
              <a:spcAft>
                <a:spcPts val="200"/>
              </a:spcAft>
            </a:pPr>
            <a:r>
              <a:rPr sz="1700" b="0">
                <a:solidFill>
                  <a:srgbClr val="262626"/>
                </a:solidFill>
                <a:latin typeface="メイリオ"/>
              </a:rPr>
              <a:t>・ 人々の活動（購買履歴・SNS・Web閲覧）</a:t>
            </a:r>
          </a:p>
          <a:p>
            <a:pPr algn="l">
              <a:spcAft>
                <a:spcPts val="200"/>
              </a:spcAft>
            </a:pPr>
            <a:r>
              <a:rPr sz="1700" b="0">
                <a:solidFill>
                  <a:srgbClr val="262626"/>
                </a:solidFill>
                <a:latin typeface="メイリオ"/>
              </a:rPr>
              <a:t>・ 科学分野（人工衛星・GPS観測）</a:t>
            </a:r>
          </a:p>
          <a:p>
            <a:pPr algn="l">
              <a:spcAft>
                <a:spcPts val="200"/>
              </a:spcAft>
            </a:pPr>
            <a:r>
              <a:rPr sz="1700" b="0">
                <a:solidFill>
                  <a:srgbClr val="262626"/>
                </a:solidFill>
                <a:latin typeface="メイリオ"/>
              </a:rPr>
              <a:t>・ IoTセンサー（工場・車・家電）</a:t>
            </a:r>
          </a:p>
          <a:p>
            <a:pPr algn="l">
              <a:spcAft>
                <a:spcPts val="200"/>
              </a:spcAft>
            </a:pPr>
            <a:r>
              <a:rPr sz="1700" b="0">
                <a:solidFill>
                  <a:srgbClr val="262626"/>
                </a:solidFill>
                <a:latin typeface="メイリオ"/>
              </a:rPr>
              <a:t>・ 金融取引データ（高頻度取引）</a:t>
            </a:r>
          </a:p>
        </p:txBody>
      </p:sp>
      <p:sp>
        <p:nvSpPr>
          <p:cNvPr id="20" name="Rectangle 19"/>
          <p:cNvSpPr/>
          <p:nvPr/>
        </p:nvSpPr>
        <p:spPr>
          <a:xfrm>
            <a:off x="365760" y="3657600"/>
            <a:ext cx="11430000" cy="5486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3703320"/>
            <a:ext cx="11247120" cy="502920"/>
          </a:xfrm>
          <a:prstGeom prst="rect">
            <a:avLst/>
          </a:prstGeom>
          <a:noFill/>
        </p:spPr>
        <p:txBody>
          <a:bodyPr wrap="square">
            <a:spAutoFit/>
          </a:bodyPr>
          <a:lstStyle/>
          <a:p>
            <a:pPr algn="l">
              <a:spcAft>
                <a:spcPts val="200"/>
              </a:spcAft>
            </a:pPr>
            <a:r>
              <a:rPr sz="1900" b="1">
                <a:solidFill>
                  <a:srgbClr val="FFFFFF"/>
                </a:solidFill>
                <a:latin typeface="メイリオ"/>
              </a:rPr>
              <a:t>データサイエンス：社会に遍在するあらゆる種類のデータを処理・分析して有用な情報（価値）を引き出す技術</a:t>
            </a:r>
          </a:p>
        </p:txBody>
      </p:sp>
      <p:sp>
        <p:nvSpPr>
          <p:cNvPr id="22" name="Rectangle 21"/>
          <p:cNvSpPr/>
          <p:nvPr/>
        </p:nvSpPr>
        <p:spPr>
          <a:xfrm>
            <a:off x="365760" y="4343400"/>
            <a:ext cx="2286000" cy="457200"/>
          </a:xfrm>
          <a:prstGeom prst="rect">
            <a:avLst/>
          </a:prstGeom>
          <a:solidFill>
            <a:srgbClr val="1F3864"/>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80" y="4343400"/>
            <a:ext cx="2194560" cy="457200"/>
          </a:xfrm>
          <a:prstGeom prst="rect">
            <a:avLst/>
          </a:prstGeom>
          <a:noFill/>
        </p:spPr>
        <p:txBody>
          <a:bodyPr wrap="square">
            <a:spAutoFit/>
          </a:bodyPr>
          <a:lstStyle/>
          <a:p>
            <a:pPr algn="ctr">
              <a:spcAft>
                <a:spcPts val="200"/>
              </a:spcAft>
            </a:pPr>
            <a:r>
              <a:rPr sz="1800" b="1">
                <a:solidFill>
                  <a:srgbClr val="FFFFFF"/>
                </a:solidFill>
                <a:latin typeface="メイリオ"/>
              </a:rPr>
              <a:t>時代</a:t>
            </a:r>
          </a:p>
        </p:txBody>
      </p:sp>
      <p:sp>
        <p:nvSpPr>
          <p:cNvPr id="24" name="Rectangle 23"/>
          <p:cNvSpPr/>
          <p:nvPr/>
        </p:nvSpPr>
        <p:spPr>
          <a:xfrm>
            <a:off x="2651760" y="4343400"/>
            <a:ext cx="3200400" cy="457200"/>
          </a:xfrm>
          <a:prstGeom prst="rect">
            <a:avLst/>
          </a:prstGeom>
          <a:solidFill>
            <a:srgbClr val="1F3864"/>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697480" y="4343400"/>
            <a:ext cx="3108960" cy="457200"/>
          </a:xfrm>
          <a:prstGeom prst="rect">
            <a:avLst/>
          </a:prstGeom>
          <a:noFill/>
        </p:spPr>
        <p:txBody>
          <a:bodyPr wrap="square">
            <a:spAutoFit/>
          </a:bodyPr>
          <a:lstStyle/>
          <a:p>
            <a:pPr algn="ctr">
              <a:spcAft>
                <a:spcPts val="200"/>
              </a:spcAft>
            </a:pPr>
            <a:r>
              <a:rPr sz="1800" b="1">
                <a:solidFill>
                  <a:srgbClr val="FFFFFF"/>
                </a:solidFill>
                <a:latin typeface="メイリオ"/>
              </a:rPr>
              <a:t>段階</a:t>
            </a:r>
          </a:p>
        </p:txBody>
      </p:sp>
      <p:sp>
        <p:nvSpPr>
          <p:cNvPr id="26" name="Rectangle 25"/>
          <p:cNvSpPr/>
          <p:nvPr/>
        </p:nvSpPr>
        <p:spPr>
          <a:xfrm>
            <a:off x="5852160" y="4343400"/>
            <a:ext cx="5669280" cy="457200"/>
          </a:xfrm>
          <a:prstGeom prst="rect">
            <a:avLst/>
          </a:prstGeom>
          <a:solidFill>
            <a:srgbClr val="1F3864"/>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897880" y="4343400"/>
            <a:ext cx="5577840" cy="457200"/>
          </a:xfrm>
          <a:prstGeom prst="rect">
            <a:avLst/>
          </a:prstGeom>
          <a:noFill/>
        </p:spPr>
        <p:txBody>
          <a:bodyPr wrap="square">
            <a:spAutoFit/>
          </a:bodyPr>
          <a:lstStyle/>
          <a:p>
            <a:pPr algn="ctr">
              <a:spcAft>
                <a:spcPts val="200"/>
              </a:spcAft>
            </a:pPr>
            <a:r>
              <a:rPr sz="1800" b="1">
                <a:solidFill>
                  <a:srgbClr val="FFFFFF"/>
                </a:solidFill>
                <a:latin typeface="メイリオ"/>
              </a:rPr>
              <a:t>特徴</a:t>
            </a:r>
          </a:p>
        </p:txBody>
      </p:sp>
      <p:sp>
        <p:nvSpPr>
          <p:cNvPr id="28" name="Rectangle 27"/>
          <p:cNvSpPr/>
          <p:nvPr/>
        </p:nvSpPr>
        <p:spPr>
          <a:xfrm>
            <a:off x="365760" y="4800600"/>
            <a:ext cx="2286000" cy="475488"/>
          </a:xfrm>
          <a:prstGeom prst="rect">
            <a:avLst/>
          </a:prstGeom>
          <a:solidFill>
            <a:srgbClr val="F2F2F2"/>
          </a:solidFill>
          <a:ln w="63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1480" y="4800600"/>
            <a:ext cx="2194560" cy="475488"/>
          </a:xfrm>
          <a:prstGeom prst="rect">
            <a:avLst/>
          </a:prstGeom>
          <a:noFill/>
        </p:spPr>
        <p:txBody>
          <a:bodyPr wrap="square">
            <a:spAutoFit/>
          </a:bodyPr>
          <a:lstStyle/>
          <a:p>
            <a:pPr algn="ctr">
              <a:spcAft>
                <a:spcPts val="200"/>
              </a:spcAft>
            </a:pPr>
            <a:r>
              <a:rPr sz="1800" b="0">
                <a:solidFill>
                  <a:srgbClr val="262626"/>
                </a:solidFill>
                <a:latin typeface="メイリオ"/>
              </a:rPr>
              <a:t>1980-90年代</a:t>
            </a:r>
          </a:p>
        </p:txBody>
      </p:sp>
      <p:sp>
        <p:nvSpPr>
          <p:cNvPr id="30" name="Rectangle 29"/>
          <p:cNvSpPr/>
          <p:nvPr/>
        </p:nvSpPr>
        <p:spPr>
          <a:xfrm>
            <a:off x="2651760" y="4800600"/>
            <a:ext cx="3200400" cy="475488"/>
          </a:xfrm>
          <a:prstGeom prst="rect">
            <a:avLst/>
          </a:prstGeom>
          <a:solidFill>
            <a:srgbClr val="F2F2F2"/>
          </a:solidFill>
          <a:ln w="63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697480" y="4800600"/>
            <a:ext cx="3108960" cy="475488"/>
          </a:xfrm>
          <a:prstGeom prst="rect">
            <a:avLst/>
          </a:prstGeom>
          <a:noFill/>
        </p:spPr>
        <p:txBody>
          <a:bodyPr wrap="square">
            <a:spAutoFit/>
          </a:bodyPr>
          <a:lstStyle/>
          <a:p>
            <a:pPr algn="ctr">
              <a:spcAft>
                <a:spcPts val="200"/>
              </a:spcAft>
            </a:pPr>
            <a:r>
              <a:rPr sz="1800" b="0">
                <a:solidFill>
                  <a:srgbClr val="262626"/>
                </a:solidFill>
                <a:latin typeface="メイリオ"/>
              </a:rPr>
              <a:t>データ蓄積開始</a:t>
            </a:r>
          </a:p>
        </p:txBody>
      </p:sp>
      <p:sp>
        <p:nvSpPr>
          <p:cNvPr id="32" name="Rectangle 31"/>
          <p:cNvSpPr/>
          <p:nvPr/>
        </p:nvSpPr>
        <p:spPr>
          <a:xfrm>
            <a:off x="5852160" y="4800600"/>
            <a:ext cx="5669280" cy="475488"/>
          </a:xfrm>
          <a:prstGeom prst="rect">
            <a:avLst/>
          </a:prstGeom>
          <a:solidFill>
            <a:srgbClr val="F2F2F2"/>
          </a:solidFill>
          <a:ln w="63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897880" y="4800600"/>
            <a:ext cx="5577840" cy="475488"/>
          </a:xfrm>
          <a:prstGeom prst="rect">
            <a:avLst/>
          </a:prstGeom>
          <a:noFill/>
        </p:spPr>
        <p:txBody>
          <a:bodyPr wrap="square">
            <a:spAutoFit/>
          </a:bodyPr>
          <a:lstStyle/>
          <a:p>
            <a:pPr algn="ctr">
              <a:spcAft>
                <a:spcPts val="200"/>
              </a:spcAft>
            </a:pPr>
            <a:r>
              <a:rPr sz="1800" b="0">
                <a:solidFill>
                  <a:srgbClr val="262626"/>
                </a:solidFill>
                <a:latin typeface="メイリオ"/>
              </a:rPr>
              <a:t>データベース・ERPの普及</a:t>
            </a:r>
          </a:p>
        </p:txBody>
      </p:sp>
      <p:sp>
        <p:nvSpPr>
          <p:cNvPr id="34" name="Rectangle 33"/>
          <p:cNvSpPr/>
          <p:nvPr/>
        </p:nvSpPr>
        <p:spPr>
          <a:xfrm>
            <a:off x="365760" y="5303520"/>
            <a:ext cx="2286000" cy="475488"/>
          </a:xfrm>
          <a:prstGeom prst="rect">
            <a:avLst/>
          </a:prstGeom>
          <a:solidFill>
            <a:srgbClr val="FFFFFF"/>
          </a:solidFill>
          <a:ln w="63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11480" y="5303520"/>
            <a:ext cx="2194560" cy="475488"/>
          </a:xfrm>
          <a:prstGeom prst="rect">
            <a:avLst/>
          </a:prstGeom>
          <a:noFill/>
        </p:spPr>
        <p:txBody>
          <a:bodyPr wrap="square">
            <a:spAutoFit/>
          </a:bodyPr>
          <a:lstStyle/>
          <a:p>
            <a:pPr algn="ctr">
              <a:spcAft>
                <a:spcPts val="200"/>
              </a:spcAft>
            </a:pPr>
            <a:r>
              <a:rPr sz="1800" b="0">
                <a:solidFill>
                  <a:srgbClr val="262626"/>
                </a:solidFill>
                <a:latin typeface="メイリオ"/>
              </a:rPr>
              <a:t>2000年代</a:t>
            </a:r>
          </a:p>
        </p:txBody>
      </p:sp>
      <p:sp>
        <p:nvSpPr>
          <p:cNvPr id="36" name="Rectangle 35"/>
          <p:cNvSpPr/>
          <p:nvPr/>
        </p:nvSpPr>
        <p:spPr>
          <a:xfrm>
            <a:off x="2651760" y="5303520"/>
            <a:ext cx="3200400" cy="475488"/>
          </a:xfrm>
          <a:prstGeom prst="rect">
            <a:avLst/>
          </a:prstGeom>
          <a:solidFill>
            <a:srgbClr val="FFFFFF"/>
          </a:solidFill>
          <a:ln w="63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697480" y="5303520"/>
            <a:ext cx="3108960" cy="475488"/>
          </a:xfrm>
          <a:prstGeom prst="rect">
            <a:avLst/>
          </a:prstGeom>
          <a:noFill/>
        </p:spPr>
        <p:txBody>
          <a:bodyPr wrap="square">
            <a:spAutoFit/>
          </a:bodyPr>
          <a:lstStyle/>
          <a:p>
            <a:pPr algn="ctr">
              <a:spcAft>
                <a:spcPts val="200"/>
              </a:spcAft>
            </a:pPr>
            <a:r>
              <a:rPr sz="1800" b="0">
                <a:solidFill>
                  <a:srgbClr val="262626"/>
                </a:solidFill>
                <a:latin typeface="メイリオ"/>
              </a:rPr>
              <a:t>ビッグデータ台頭</a:t>
            </a:r>
          </a:p>
        </p:txBody>
      </p:sp>
      <p:sp>
        <p:nvSpPr>
          <p:cNvPr id="38" name="Rectangle 37"/>
          <p:cNvSpPr/>
          <p:nvPr/>
        </p:nvSpPr>
        <p:spPr>
          <a:xfrm>
            <a:off x="5852160" y="5303520"/>
            <a:ext cx="5669280" cy="475488"/>
          </a:xfrm>
          <a:prstGeom prst="rect">
            <a:avLst/>
          </a:prstGeom>
          <a:solidFill>
            <a:srgbClr val="FFFFFF"/>
          </a:solidFill>
          <a:ln w="63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897880" y="5303520"/>
            <a:ext cx="5577840" cy="475488"/>
          </a:xfrm>
          <a:prstGeom prst="rect">
            <a:avLst/>
          </a:prstGeom>
          <a:noFill/>
        </p:spPr>
        <p:txBody>
          <a:bodyPr wrap="square">
            <a:spAutoFit/>
          </a:bodyPr>
          <a:lstStyle/>
          <a:p>
            <a:pPr algn="ctr">
              <a:spcAft>
                <a:spcPts val="200"/>
              </a:spcAft>
            </a:pPr>
            <a:r>
              <a:rPr sz="1800" b="0">
                <a:solidFill>
                  <a:srgbClr val="262626"/>
                </a:solidFill>
                <a:latin typeface="メイリオ"/>
              </a:rPr>
              <a:t>SNS・EC・IoTの爆発的拡大</a:t>
            </a:r>
          </a:p>
        </p:txBody>
      </p:sp>
      <p:sp>
        <p:nvSpPr>
          <p:cNvPr id="40" name="Rectangle 39"/>
          <p:cNvSpPr/>
          <p:nvPr/>
        </p:nvSpPr>
        <p:spPr>
          <a:xfrm>
            <a:off x="365760" y="5806440"/>
            <a:ext cx="2286000" cy="475488"/>
          </a:xfrm>
          <a:prstGeom prst="rect">
            <a:avLst/>
          </a:prstGeom>
          <a:solidFill>
            <a:srgbClr val="F2F2F2"/>
          </a:solidFill>
          <a:ln w="63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11480" y="5806440"/>
            <a:ext cx="2194560" cy="475488"/>
          </a:xfrm>
          <a:prstGeom prst="rect">
            <a:avLst/>
          </a:prstGeom>
          <a:noFill/>
        </p:spPr>
        <p:txBody>
          <a:bodyPr wrap="square">
            <a:spAutoFit/>
          </a:bodyPr>
          <a:lstStyle/>
          <a:p>
            <a:pPr algn="ctr">
              <a:spcAft>
                <a:spcPts val="200"/>
              </a:spcAft>
            </a:pPr>
            <a:r>
              <a:rPr sz="1800" b="0">
                <a:solidFill>
                  <a:srgbClr val="262626"/>
                </a:solidFill>
                <a:latin typeface="メイリオ"/>
              </a:rPr>
              <a:t>2010年代</a:t>
            </a:r>
          </a:p>
        </p:txBody>
      </p:sp>
      <p:sp>
        <p:nvSpPr>
          <p:cNvPr id="42" name="Rectangle 41"/>
          <p:cNvSpPr/>
          <p:nvPr/>
        </p:nvSpPr>
        <p:spPr>
          <a:xfrm>
            <a:off x="2651760" y="5806440"/>
            <a:ext cx="3200400" cy="475488"/>
          </a:xfrm>
          <a:prstGeom prst="rect">
            <a:avLst/>
          </a:prstGeom>
          <a:solidFill>
            <a:srgbClr val="F2F2F2"/>
          </a:solidFill>
          <a:ln w="63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697480" y="5806440"/>
            <a:ext cx="3108960" cy="475488"/>
          </a:xfrm>
          <a:prstGeom prst="rect">
            <a:avLst/>
          </a:prstGeom>
          <a:noFill/>
        </p:spPr>
        <p:txBody>
          <a:bodyPr wrap="square">
            <a:spAutoFit/>
          </a:bodyPr>
          <a:lstStyle/>
          <a:p>
            <a:pPr algn="ctr">
              <a:spcAft>
                <a:spcPts val="200"/>
              </a:spcAft>
            </a:pPr>
            <a:r>
              <a:rPr sz="1800" b="0">
                <a:solidFill>
                  <a:srgbClr val="262626"/>
                </a:solidFill>
                <a:latin typeface="メイリオ"/>
              </a:rPr>
              <a:t>機械学習実用化</a:t>
            </a:r>
          </a:p>
        </p:txBody>
      </p:sp>
      <p:sp>
        <p:nvSpPr>
          <p:cNvPr id="44" name="Rectangle 43"/>
          <p:cNvSpPr/>
          <p:nvPr/>
        </p:nvSpPr>
        <p:spPr>
          <a:xfrm>
            <a:off x="5852160" y="5806440"/>
            <a:ext cx="5669280" cy="475488"/>
          </a:xfrm>
          <a:prstGeom prst="rect">
            <a:avLst/>
          </a:prstGeom>
          <a:solidFill>
            <a:srgbClr val="F2F2F2"/>
          </a:solidFill>
          <a:ln w="63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897880" y="5806440"/>
            <a:ext cx="5577840" cy="475488"/>
          </a:xfrm>
          <a:prstGeom prst="rect">
            <a:avLst/>
          </a:prstGeom>
          <a:noFill/>
        </p:spPr>
        <p:txBody>
          <a:bodyPr wrap="square">
            <a:spAutoFit/>
          </a:bodyPr>
          <a:lstStyle/>
          <a:p>
            <a:pPr algn="ctr">
              <a:spcAft>
                <a:spcPts val="200"/>
              </a:spcAft>
            </a:pPr>
            <a:r>
              <a:rPr sz="1800" b="0">
                <a:solidFill>
                  <a:srgbClr val="262626"/>
                </a:solidFill>
                <a:latin typeface="メイリオ"/>
              </a:rPr>
              <a:t>ディープラーニング・クラウド活用</a:t>
            </a:r>
          </a:p>
        </p:txBody>
      </p:sp>
      <p:sp>
        <p:nvSpPr>
          <p:cNvPr id="46" name="Rectangle 45"/>
          <p:cNvSpPr/>
          <p:nvPr/>
        </p:nvSpPr>
        <p:spPr>
          <a:xfrm>
            <a:off x="365760" y="6309360"/>
            <a:ext cx="2286000" cy="475488"/>
          </a:xfrm>
          <a:prstGeom prst="rect">
            <a:avLst/>
          </a:prstGeom>
          <a:solidFill>
            <a:srgbClr val="FFFFFF"/>
          </a:solidFill>
          <a:ln w="63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11480" y="6309360"/>
            <a:ext cx="2194560" cy="475488"/>
          </a:xfrm>
          <a:prstGeom prst="rect">
            <a:avLst/>
          </a:prstGeom>
          <a:noFill/>
        </p:spPr>
        <p:txBody>
          <a:bodyPr wrap="square">
            <a:spAutoFit/>
          </a:bodyPr>
          <a:lstStyle/>
          <a:p>
            <a:pPr algn="ctr">
              <a:spcAft>
                <a:spcPts val="200"/>
              </a:spcAft>
            </a:pPr>
            <a:r>
              <a:rPr sz="1800" b="0">
                <a:solidFill>
                  <a:srgbClr val="262626"/>
                </a:solidFill>
                <a:latin typeface="メイリオ"/>
              </a:rPr>
              <a:t>2020年代</a:t>
            </a:r>
          </a:p>
        </p:txBody>
      </p:sp>
      <p:sp>
        <p:nvSpPr>
          <p:cNvPr id="48" name="Rectangle 47"/>
          <p:cNvSpPr/>
          <p:nvPr/>
        </p:nvSpPr>
        <p:spPr>
          <a:xfrm>
            <a:off x="2651760" y="6309360"/>
            <a:ext cx="3200400" cy="475488"/>
          </a:xfrm>
          <a:prstGeom prst="rect">
            <a:avLst/>
          </a:prstGeom>
          <a:solidFill>
            <a:srgbClr val="FFFFFF"/>
          </a:solidFill>
          <a:ln w="63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697480" y="6309360"/>
            <a:ext cx="3108960" cy="475488"/>
          </a:xfrm>
          <a:prstGeom prst="rect">
            <a:avLst/>
          </a:prstGeom>
          <a:noFill/>
        </p:spPr>
        <p:txBody>
          <a:bodyPr wrap="square">
            <a:spAutoFit/>
          </a:bodyPr>
          <a:lstStyle/>
          <a:p>
            <a:pPr algn="ctr">
              <a:spcAft>
                <a:spcPts val="200"/>
              </a:spcAft>
            </a:pPr>
            <a:r>
              <a:rPr sz="1800" b="0">
                <a:solidFill>
                  <a:srgbClr val="262626"/>
                </a:solidFill>
                <a:latin typeface="メイリオ"/>
              </a:rPr>
              <a:t>生成AI時代</a:t>
            </a:r>
          </a:p>
        </p:txBody>
      </p:sp>
      <p:sp>
        <p:nvSpPr>
          <p:cNvPr id="50" name="Rectangle 49"/>
          <p:cNvSpPr/>
          <p:nvPr/>
        </p:nvSpPr>
        <p:spPr>
          <a:xfrm>
            <a:off x="5852160" y="6309360"/>
            <a:ext cx="5669280" cy="475488"/>
          </a:xfrm>
          <a:prstGeom prst="rect">
            <a:avLst/>
          </a:prstGeom>
          <a:solidFill>
            <a:srgbClr val="FFFFFF"/>
          </a:solidFill>
          <a:ln w="63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897880" y="6309360"/>
            <a:ext cx="5577840" cy="475488"/>
          </a:xfrm>
          <a:prstGeom prst="rect">
            <a:avLst/>
          </a:prstGeom>
          <a:noFill/>
        </p:spPr>
        <p:txBody>
          <a:bodyPr wrap="square">
            <a:spAutoFit/>
          </a:bodyPr>
          <a:lstStyle/>
          <a:p>
            <a:pPr algn="ctr">
              <a:spcAft>
                <a:spcPts val="200"/>
              </a:spcAft>
            </a:pPr>
            <a:r>
              <a:rPr sz="1800" b="0">
                <a:solidFill>
                  <a:srgbClr val="262626"/>
                </a:solidFill>
                <a:latin typeface="メイリオ"/>
              </a:rPr>
              <a:t>LLM・マルチモーダルAIの普及</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1551615" cy="658368"/>
          </a:xfrm>
          <a:prstGeom prst="rect">
            <a:avLst/>
          </a:prstGeom>
          <a:noFill/>
        </p:spPr>
        <p:txBody>
          <a:bodyPr wrap="square">
            <a:spAutoFit/>
          </a:bodyPr>
          <a:lstStyle/>
          <a:p>
            <a:pPr algn="l">
              <a:spcAft>
                <a:spcPts val="200"/>
              </a:spcAft>
            </a:pPr>
            <a:r>
              <a:rPr sz="2600" b="1">
                <a:solidFill>
                  <a:srgbClr val="FFFFFF"/>
                </a:solidFill>
                <a:latin typeface="メイリオ"/>
              </a:rPr>
              <a:t>資源としてのデータ</a:t>
            </a:r>
          </a:p>
        </p:txBody>
      </p:sp>
      <p:sp>
        <p:nvSpPr>
          <p:cNvPr id="4" name="TextBox 3"/>
          <p:cNvSpPr txBox="1"/>
          <p:nvPr/>
        </p:nvSpPr>
        <p:spPr>
          <a:xfrm>
            <a:off x="320040" y="841248"/>
            <a:ext cx="11551615" cy="457200"/>
          </a:xfrm>
          <a:prstGeom prst="rect">
            <a:avLst/>
          </a:prstGeom>
          <a:noFill/>
        </p:spPr>
        <p:txBody>
          <a:bodyPr wrap="square">
            <a:spAutoFit/>
          </a:bodyPr>
          <a:lstStyle/>
          <a:p>
            <a:pPr algn="l">
              <a:spcAft>
                <a:spcPts val="200"/>
              </a:spcAft>
            </a:pPr>
            <a:r>
              <a:rPr sz="1800" b="1">
                <a:solidFill>
                  <a:srgbClr val="4472C4"/>
                </a:solidFill>
                <a:latin typeface="メイリオ"/>
              </a:rPr>
              <a:t>Data as the New Oil</a:t>
            </a:r>
          </a:p>
        </p:txBody>
      </p:sp>
      <p:sp>
        <p:nvSpPr>
          <p:cNvPr id="5" name="Rectangle 4"/>
          <p:cNvSpPr/>
          <p:nvPr/>
        </p:nvSpPr>
        <p:spPr>
          <a:xfrm>
            <a:off x="365760" y="960120"/>
            <a:ext cx="5303520" cy="4754880"/>
          </a:xfrm>
          <a:prstGeom prst="rect">
            <a:avLst/>
          </a:prstGeom>
          <a:solidFill>
            <a:srgbClr val="FFF2CC"/>
          </a:solidFill>
          <a:ln w="25400">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51560"/>
            <a:ext cx="4937760" cy="640080"/>
          </a:xfrm>
          <a:prstGeom prst="rect">
            <a:avLst/>
          </a:prstGeom>
          <a:noFill/>
        </p:spPr>
        <p:txBody>
          <a:bodyPr wrap="square">
            <a:spAutoFit/>
          </a:bodyPr>
          <a:lstStyle/>
          <a:p>
            <a:pPr algn="l">
              <a:spcAft>
                <a:spcPts val="200"/>
              </a:spcAft>
            </a:pPr>
            <a:r>
              <a:rPr sz="2400" b="1">
                <a:solidFill>
                  <a:srgbClr val="B88600"/>
                </a:solidFill>
                <a:latin typeface="メイリオ"/>
              </a:rPr>
              <a:t>データ ＝ 21世紀の石油</a:t>
            </a:r>
          </a:p>
        </p:txBody>
      </p:sp>
      <p:sp>
        <p:nvSpPr>
          <p:cNvPr id="7" name="TextBox 6"/>
          <p:cNvSpPr txBox="1"/>
          <p:nvPr/>
        </p:nvSpPr>
        <p:spPr>
          <a:xfrm>
            <a:off x="548640" y="1737360"/>
            <a:ext cx="4937760" cy="1188720"/>
          </a:xfrm>
          <a:prstGeom prst="rect">
            <a:avLst/>
          </a:prstGeom>
          <a:noFill/>
        </p:spPr>
        <p:txBody>
          <a:bodyPr wrap="square">
            <a:spAutoFit/>
          </a:bodyPr>
          <a:lstStyle/>
          <a:p>
            <a:pPr algn="l">
              <a:spcAft>
                <a:spcPts val="200"/>
              </a:spcAft>
            </a:pPr>
            <a:r>
              <a:rPr sz="1900" b="0">
                <a:solidFill>
                  <a:srgbClr val="262626"/>
                </a:solidFill>
                <a:latin typeface="メイリオ"/>
              </a:rPr>
              <a:t>石油：採掘して初めて価値が生まれる</a:t>
            </a:r>
          </a:p>
          <a:p>
            <a:pPr algn="l">
              <a:spcAft>
                <a:spcPts val="200"/>
              </a:spcAft>
            </a:pPr>
            <a:r>
              <a:rPr sz="1900" b="0">
                <a:solidFill>
                  <a:srgbClr val="262626"/>
                </a:solidFill>
                <a:latin typeface="メイリオ"/>
              </a:rPr>
              <a:t>データ：収集・分析して初めて価値が生まれる</a:t>
            </a:r>
          </a:p>
          <a:p>
            <a:pPr algn="l">
              <a:spcAft>
                <a:spcPts val="200"/>
              </a:spcAft>
            </a:pPr>
            <a:r>
              <a:rPr sz="1900" b="0">
                <a:solidFill>
                  <a:srgbClr val="262626"/>
                </a:solidFill>
                <a:latin typeface="メイリオ"/>
              </a:rPr>
              <a:t>→ 適切な「加工技術」が競争優位を生む</a:t>
            </a:r>
          </a:p>
        </p:txBody>
      </p:sp>
      <p:sp>
        <p:nvSpPr>
          <p:cNvPr id="8" name="TextBox 7"/>
          <p:cNvSpPr txBox="1"/>
          <p:nvPr/>
        </p:nvSpPr>
        <p:spPr>
          <a:xfrm>
            <a:off x="548640" y="3017520"/>
            <a:ext cx="4937760" cy="457200"/>
          </a:xfrm>
          <a:prstGeom prst="rect">
            <a:avLst/>
          </a:prstGeom>
          <a:noFill/>
        </p:spPr>
        <p:txBody>
          <a:bodyPr wrap="square">
            <a:spAutoFit/>
          </a:bodyPr>
          <a:lstStyle/>
          <a:p>
            <a:pPr algn="l">
              <a:spcAft>
                <a:spcPts val="200"/>
              </a:spcAft>
            </a:pPr>
            <a:r>
              <a:rPr sz="2000" b="1">
                <a:solidFill>
                  <a:srgbClr val="1F3864"/>
                </a:solidFill>
                <a:latin typeface="メイリオ"/>
              </a:rPr>
              <a:t>データサイエンティストの役割</a:t>
            </a:r>
          </a:p>
        </p:txBody>
      </p:sp>
      <p:sp>
        <p:nvSpPr>
          <p:cNvPr id="9" name="Rectangle 8"/>
          <p:cNvSpPr/>
          <p:nvPr/>
        </p:nvSpPr>
        <p:spPr>
          <a:xfrm>
            <a:off x="548640" y="3566160"/>
            <a:ext cx="1645920" cy="530352"/>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3611880"/>
            <a:ext cx="1554480" cy="475488"/>
          </a:xfrm>
          <a:prstGeom prst="rect">
            <a:avLst/>
          </a:prstGeom>
          <a:noFill/>
        </p:spPr>
        <p:txBody>
          <a:bodyPr wrap="square">
            <a:spAutoFit/>
          </a:bodyPr>
          <a:lstStyle/>
          <a:p>
            <a:pPr algn="ctr">
              <a:spcAft>
                <a:spcPts val="200"/>
              </a:spcAft>
            </a:pPr>
            <a:r>
              <a:rPr sz="1800" b="1">
                <a:solidFill>
                  <a:srgbClr val="FFFFFF"/>
                </a:solidFill>
                <a:latin typeface="メイリオ"/>
              </a:rPr>
              <a:t>情報学</a:t>
            </a:r>
          </a:p>
        </p:txBody>
      </p:sp>
      <p:sp>
        <p:nvSpPr>
          <p:cNvPr id="11" name="Rectangle 10"/>
          <p:cNvSpPr/>
          <p:nvPr/>
        </p:nvSpPr>
        <p:spPr>
          <a:xfrm>
            <a:off x="2194560" y="3566160"/>
            <a:ext cx="3291840" cy="530352"/>
          </a:xfrm>
          <a:prstGeom prst="rect">
            <a:avLst/>
          </a:prstGeom>
          <a:solidFill>
            <a:srgbClr val="FFFFFF"/>
          </a:solidFill>
          <a:ln w="6350">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286000" y="3611880"/>
            <a:ext cx="3108960" cy="475488"/>
          </a:xfrm>
          <a:prstGeom prst="rect">
            <a:avLst/>
          </a:prstGeom>
          <a:noFill/>
        </p:spPr>
        <p:txBody>
          <a:bodyPr wrap="square">
            <a:spAutoFit/>
          </a:bodyPr>
          <a:lstStyle/>
          <a:p>
            <a:pPr algn="l">
              <a:spcAft>
                <a:spcPts val="200"/>
              </a:spcAft>
            </a:pPr>
            <a:r>
              <a:rPr sz="1800" b="0">
                <a:solidFill>
                  <a:srgbClr val="262626"/>
                </a:solidFill>
                <a:latin typeface="メイリオ"/>
              </a:rPr>
              <a:t>データをコンピュータで処理する技術</a:t>
            </a:r>
          </a:p>
        </p:txBody>
      </p:sp>
      <p:sp>
        <p:nvSpPr>
          <p:cNvPr id="13" name="Rectangle 12"/>
          <p:cNvSpPr/>
          <p:nvPr/>
        </p:nvSpPr>
        <p:spPr>
          <a:xfrm>
            <a:off x="548640" y="4160520"/>
            <a:ext cx="1645920" cy="530352"/>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4206240"/>
            <a:ext cx="1554480" cy="475488"/>
          </a:xfrm>
          <a:prstGeom prst="rect">
            <a:avLst/>
          </a:prstGeom>
          <a:noFill/>
        </p:spPr>
        <p:txBody>
          <a:bodyPr wrap="square">
            <a:spAutoFit/>
          </a:bodyPr>
          <a:lstStyle/>
          <a:p>
            <a:pPr algn="ctr">
              <a:spcAft>
                <a:spcPts val="200"/>
              </a:spcAft>
            </a:pPr>
            <a:r>
              <a:rPr sz="1800" b="1">
                <a:solidFill>
                  <a:srgbClr val="FFFFFF"/>
                </a:solidFill>
                <a:latin typeface="メイリオ"/>
              </a:rPr>
              <a:t>統計学</a:t>
            </a:r>
          </a:p>
        </p:txBody>
      </p:sp>
      <p:sp>
        <p:nvSpPr>
          <p:cNvPr id="15" name="Rectangle 14"/>
          <p:cNvSpPr/>
          <p:nvPr/>
        </p:nvSpPr>
        <p:spPr>
          <a:xfrm>
            <a:off x="2194560" y="4160520"/>
            <a:ext cx="3291840" cy="530352"/>
          </a:xfrm>
          <a:prstGeom prst="rect">
            <a:avLst/>
          </a:prstGeom>
          <a:solidFill>
            <a:srgbClr val="FFFFFF"/>
          </a:solidFill>
          <a:ln w="6350">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286000" y="4206240"/>
            <a:ext cx="3108960" cy="475488"/>
          </a:xfrm>
          <a:prstGeom prst="rect">
            <a:avLst/>
          </a:prstGeom>
          <a:noFill/>
        </p:spPr>
        <p:txBody>
          <a:bodyPr wrap="square">
            <a:spAutoFit/>
          </a:bodyPr>
          <a:lstStyle/>
          <a:p>
            <a:pPr algn="l">
              <a:spcAft>
                <a:spcPts val="200"/>
              </a:spcAft>
            </a:pPr>
            <a:r>
              <a:rPr sz="1800" b="0">
                <a:solidFill>
                  <a:srgbClr val="262626"/>
                </a:solidFill>
                <a:latin typeface="メイリオ"/>
              </a:rPr>
              <a:t>データの分析に関する知識・手法</a:t>
            </a:r>
          </a:p>
        </p:txBody>
      </p:sp>
      <p:sp>
        <p:nvSpPr>
          <p:cNvPr id="17" name="Rectangle 16"/>
          <p:cNvSpPr/>
          <p:nvPr/>
        </p:nvSpPr>
        <p:spPr>
          <a:xfrm>
            <a:off x="548640" y="4754880"/>
            <a:ext cx="1645920" cy="530352"/>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4800600"/>
            <a:ext cx="1554480" cy="475488"/>
          </a:xfrm>
          <a:prstGeom prst="rect">
            <a:avLst/>
          </a:prstGeom>
          <a:noFill/>
        </p:spPr>
        <p:txBody>
          <a:bodyPr wrap="square">
            <a:spAutoFit/>
          </a:bodyPr>
          <a:lstStyle/>
          <a:p>
            <a:pPr algn="ctr">
              <a:spcAft>
                <a:spcPts val="200"/>
              </a:spcAft>
            </a:pPr>
            <a:r>
              <a:rPr sz="1800" b="1">
                <a:solidFill>
                  <a:srgbClr val="FFFFFF"/>
                </a:solidFill>
                <a:latin typeface="メイリオ"/>
              </a:rPr>
              <a:t>経営学</a:t>
            </a:r>
          </a:p>
        </p:txBody>
      </p:sp>
      <p:sp>
        <p:nvSpPr>
          <p:cNvPr id="19" name="Rectangle 18"/>
          <p:cNvSpPr/>
          <p:nvPr/>
        </p:nvSpPr>
        <p:spPr>
          <a:xfrm>
            <a:off x="2194560" y="4754880"/>
            <a:ext cx="3291840" cy="530352"/>
          </a:xfrm>
          <a:prstGeom prst="rect">
            <a:avLst/>
          </a:prstGeom>
          <a:solidFill>
            <a:srgbClr val="FFFFFF"/>
          </a:solidFill>
          <a:ln w="6350">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286000" y="4800600"/>
            <a:ext cx="3108960" cy="475488"/>
          </a:xfrm>
          <a:prstGeom prst="rect">
            <a:avLst/>
          </a:prstGeom>
          <a:noFill/>
        </p:spPr>
        <p:txBody>
          <a:bodyPr wrap="square">
            <a:spAutoFit/>
          </a:bodyPr>
          <a:lstStyle/>
          <a:p>
            <a:pPr algn="l">
              <a:spcAft>
                <a:spcPts val="200"/>
              </a:spcAft>
            </a:pPr>
            <a:r>
              <a:rPr sz="1800" b="0">
                <a:solidFill>
                  <a:srgbClr val="262626"/>
                </a:solidFill>
                <a:latin typeface="メイリオ"/>
              </a:rPr>
              <a:t>応用分野の知識（人文科学・経営）</a:t>
            </a:r>
          </a:p>
        </p:txBody>
      </p:sp>
      <p:sp>
        <p:nvSpPr>
          <p:cNvPr id="21" name="TextBox 20"/>
          <p:cNvSpPr txBox="1"/>
          <p:nvPr/>
        </p:nvSpPr>
        <p:spPr>
          <a:xfrm>
            <a:off x="457200" y="5440680"/>
            <a:ext cx="5303520" cy="365760"/>
          </a:xfrm>
          <a:prstGeom prst="rect">
            <a:avLst/>
          </a:prstGeom>
          <a:noFill/>
        </p:spPr>
        <p:txBody>
          <a:bodyPr wrap="square">
            <a:spAutoFit/>
          </a:bodyPr>
          <a:lstStyle/>
          <a:p>
            <a:pPr algn="l">
              <a:spcAft>
                <a:spcPts val="200"/>
              </a:spcAft>
            </a:pPr>
            <a:r>
              <a:rPr sz="1900" b="1">
                <a:solidFill>
                  <a:srgbClr val="C00000"/>
                </a:solidFill>
                <a:latin typeface="メイリオ"/>
              </a:rPr>
              <a:t>→ 文理融合的な人材が求められる</a:t>
            </a:r>
          </a:p>
        </p:txBody>
      </p:sp>
      <p:sp>
        <p:nvSpPr>
          <p:cNvPr id="22" name="Rectangle 21"/>
          <p:cNvSpPr/>
          <p:nvPr/>
        </p:nvSpPr>
        <p:spPr>
          <a:xfrm>
            <a:off x="5943600" y="960120"/>
            <a:ext cx="5852160" cy="4754880"/>
          </a:xfrm>
          <a:prstGeom prst="rect">
            <a:avLst/>
          </a:prstGeom>
          <a:solidFill>
            <a:srgbClr val="F2F2F2"/>
          </a:solidFill>
          <a:ln w="190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26480" y="1051560"/>
            <a:ext cx="5486400" cy="548640"/>
          </a:xfrm>
          <a:prstGeom prst="rect">
            <a:avLst/>
          </a:prstGeom>
          <a:noFill/>
        </p:spPr>
        <p:txBody>
          <a:bodyPr wrap="square">
            <a:spAutoFit/>
          </a:bodyPr>
          <a:lstStyle/>
          <a:p>
            <a:pPr algn="l">
              <a:spcAft>
                <a:spcPts val="200"/>
              </a:spcAft>
            </a:pPr>
            <a:r>
              <a:rPr sz="2200" b="1">
                <a:solidFill>
                  <a:srgbClr val="1F3864"/>
                </a:solidFill>
                <a:latin typeface="メイリオ"/>
              </a:rPr>
              <a:t>データの価値化プロセス</a:t>
            </a:r>
          </a:p>
        </p:txBody>
      </p:sp>
      <p:sp>
        <p:nvSpPr>
          <p:cNvPr id="24" name="Rectangle 23"/>
          <p:cNvSpPr/>
          <p:nvPr/>
        </p:nvSpPr>
        <p:spPr>
          <a:xfrm>
            <a:off x="6035040" y="1691640"/>
            <a:ext cx="1188720" cy="658368"/>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80760" y="1737360"/>
            <a:ext cx="1097280" cy="594360"/>
          </a:xfrm>
          <a:prstGeom prst="rect">
            <a:avLst/>
          </a:prstGeom>
          <a:noFill/>
        </p:spPr>
        <p:txBody>
          <a:bodyPr wrap="square">
            <a:spAutoFit/>
          </a:bodyPr>
          <a:lstStyle/>
          <a:p>
            <a:pPr algn="ctr">
              <a:spcAft>
                <a:spcPts val="200"/>
              </a:spcAft>
            </a:pPr>
            <a:r>
              <a:rPr sz="1800" b="1">
                <a:solidFill>
                  <a:srgbClr val="FFFFFF"/>
                </a:solidFill>
                <a:latin typeface="メイリオ"/>
              </a:rPr>
              <a:t>① 収集</a:t>
            </a:r>
          </a:p>
        </p:txBody>
      </p:sp>
      <p:sp>
        <p:nvSpPr>
          <p:cNvPr id="26" name="Rectangle 25"/>
          <p:cNvSpPr/>
          <p:nvPr/>
        </p:nvSpPr>
        <p:spPr>
          <a:xfrm>
            <a:off x="7223760" y="1691640"/>
            <a:ext cx="4389120" cy="658368"/>
          </a:xfrm>
          <a:prstGeom prst="rect">
            <a:avLst/>
          </a:prstGeom>
          <a:solidFill>
            <a:srgbClr val="FFFFFF"/>
          </a:solidFill>
          <a:ln w="63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0" y="1737360"/>
            <a:ext cx="4206240" cy="594360"/>
          </a:xfrm>
          <a:prstGeom prst="rect">
            <a:avLst/>
          </a:prstGeom>
          <a:noFill/>
        </p:spPr>
        <p:txBody>
          <a:bodyPr wrap="square">
            <a:spAutoFit/>
          </a:bodyPr>
          <a:lstStyle/>
          <a:p>
            <a:pPr algn="l">
              <a:spcAft>
                <a:spcPts val="200"/>
              </a:spcAft>
            </a:pPr>
            <a:r>
              <a:rPr sz="1800" b="0">
                <a:solidFill>
                  <a:srgbClr val="262626"/>
                </a:solidFill>
                <a:latin typeface="メイリオ"/>
              </a:rPr>
              <a:t>IoT・API・スクレイピング・調査</a:t>
            </a:r>
          </a:p>
        </p:txBody>
      </p:sp>
      <p:sp>
        <p:nvSpPr>
          <p:cNvPr id="28" name="Rectangle 27"/>
          <p:cNvSpPr/>
          <p:nvPr/>
        </p:nvSpPr>
        <p:spPr>
          <a:xfrm>
            <a:off x="6035040" y="2441448"/>
            <a:ext cx="1188720" cy="658368"/>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080760" y="2487168"/>
            <a:ext cx="1097280" cy="594360"/>
          </a:xfrm>
          <a:prstGeom prst="rect">
            <a:avLst/>
          </a:prstGeom>
          <a:noFill/>
        </p:spPr>
        <p:txBody>
          <a:bodyPr wrap="square">
            <a:spAutoFit/>
          </a:bodyPr>
          <a:lstStyle/>
          <a:p>
            <a:pPr algn="ctr">
              <a:spcAft>
                <a:spcPts val="200"/>
              </a:spcAft>
            </a:pPr>
            <a:r>
              <a:rPr sz="1800" b="1">
                <a:solidFill>
                  <a:srgbClr val="FFFFFF"/>
                </a:solidFill>
                <a:latin typeface="メイリオ"/>
              </a:rPr>
              <a:t>② 蓄積</a:t>
            </a:r>
          </a:p>
        </p:txBody>
      </p:sp>
      <p:sp>
        <p:nvSpPr>
          <p:cNvPr id="30" name="Rectangle 29"/>
          <p:cNvSpPr/>
          <p:nvPr/>
        </p:nvSpPr>
        <p:spPr>
          <a:xfrm>
            <a:off x="7223760" y="2441448"/>
            <a:ext cx="4389120" cy="658368"/>
          </a:xfrm>
          <a:prstGeom prst="rect">
            <a:avLst/>
          </a:prstGeom>
          <a:solidFill>
            <a:srgbClr val="FFFFFF"/>
          </a:solidFill>
          <a:ln w="635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0" y="2487168"/>
            <a:ext cx="4206240" cy="594360"/>
          </a:xfrm>
          <a:prstGeom prst="rect">
            <a:avLst/>
          </a:prstGeom>
          <a:noFill/>
        </p:spPr>
        <p:txBody>
          <a:bodyPr wrap="square">
            <a:spAutoFit/>
          </a:bodyPr>
          <a:lstStyle/>
          <a:p>
            <a:pPr algn="l">
              <a:spcAft>
                <a:spcPts val="200"/>
              </a:spcAft>
            </a:pPr>
            <a:r>
              <a:rPr sz="1800" b="0">
                <a:solidFill>
                  <a:srgbClr val="262626"/>
                </a:solidFill>
                <a:latin typeface="メイリオ"/>
              </a:rPr>
              <a:t>データベース・データレイク・クラウド</a:t>
            </a:r>
          </a:p>
        </p:txBody>
      </p:sp>
      <p:sp>
        <p:nvSpPr>
          <p:cNvPr id="32" name="Rectangle 31"/>
          <p:cNvSpPr/>
          <p:nvPr/>
        </p:nvSpPr>
        <p:spPr>
          <a:xfrm>
            <a:off x="6035040" y="3191256"/>
            <a:ext cx="1188720" cy="658368"/>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080760" y="3236976"/>
            <a:ext cx="1097280" cy="594360"/>
          </a:xfrm>
          <a:prstGeom prst="rect">
            <a:avLst/>
          </a:prstGeom>
          <a:noFill/>
        </p:spPr>
        <p:txBody>
          <a:bodyPr wrap="square">
            <a:spAutoFit/>
          </a:bodyPr>
          <a:lstStyle/>
          <a:p>
            <a:pPr algn="ctr">
              <a:spcAft>
                <a:spcPts val="200"/>
              </a:spcAft>
            </a:pPr>
            <a:r>
              <a:rPr sz="1800" b="1">
                <a:solidFill>
                  <a:srgbClr val="FFFFFF"/>
                </a:solidFill>
                <a:latin typeface="メイリオ"/>
              </a:rPr>
              <a:t>③ 処理</a:t>
            </a:r>
          </a:p>
        </p:txBody>
      </p:sp>
      <p:sp>
        <p:nvSpPr>
          <p:cNvPr id="34" name="Rectangle 33"/>
          <p:cNvSpPr/>
          <p:nvPr/>
        </p:nvSpPr>
        <p:spPr>
          <a:xfrm>
            <a:off x="7223760" y="3191256"/>
            <a:ext cx="4389120" cy="658368"/>
          </a:xfrm>
          <a:prstGeom prst="rect">
            <a:avLst/>
          </a:prstGeom>
          <a:solidFill>
            <a:srgbClr val="FFFFFF"/>
          </a:solidFill>
          <a:ln w="6350">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15200" y="3236976"/>
            <a:ext cx="4206240" cy="594360"/>
          </a:xfrm>
          <a:prstGeom prst="rect">
            <a:avLst/>
          </a:prstGeom>
          <a:noFill/>
        </p:spPr>
        <p:txBody>
          <a:bodyPr wrap="square">
            <a:spAutoFit/>
          </a:bodyPr>
          <a:lstStyle/>
          <a:p>
            <a:pPr algn="l">
              <a:spcAft>
                <a:spcPts val="200"/>
              </a:spcAft>
            </a:pPr>
            <a:r>
              <a:rPr sz="1800" b="0">
                <a:solidFill>
                  <a:srgbClr val="262626"/>
                </a:solidFill>
                <a:latin typeface="メイリオ"/>
              </a:rPr>
              <a:t>クリーニング・前処理・特徴量エンジニアリング</a:t>
            </a:r>
          </a:p>
        </p:txBody>
      </p:sp>
      <p:sp>
        <p:nvSpPr>
          <p:cNvPr id="36" name="Rectangle 35"/>
          <p:cNvSpPr/>
          <p:nvPr/>
        </p:nvSpPr>
        <p:spPr>
          <a:xfrm>
            <a:off x="6035040" y="3941064"/>
            <a:ext cx="1188720" cy="658368"/>
          </a:xfrm>
          <a:prstGeom prst="rect">
            <a:avLst/>
          </a:prstGeom>
          <a:solidFill>
            <a:srgbClr val="703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080760" y="3986784"/>
            <a:ext cx="1097280" cy="594360"/>
          </a:xfrm>
          <a:prstGeom prst="rect">
            <a:avLst/>
          </a:prstGeom>
          <a:noFill/>
        </p:spPr>
        <p:txBody>
          <a:bodyPr wrap="square">
            <a:spAutoFit/>
          </a:bodyPr>
          <a:lstStyle/>
          <a:p>
            <a:pPr algn="ctr">
              <a:spcAft>
                <a:spcPts val="200"/>
              </a:spcAft>
            </a:pPr>
            <a:r>
              <a:rPr sz="1800" b="1">
                <a:solidFill>
                  <a:srgbClr val="FFFFFF"/>
                </a:solidFill>
                <a:latin typeface="メイリオ"/>
              </a:rPr>
              <a:t>④ 分析</a:t>
            </a:r>
          </a:p>
        </p:txBody>
      </p:sp>
      <p:sp>
        <p:nvSpPr>
          <p:cNvPr id="38" name="Rectangle 37"/>
          <p:cNvSpPr/>
          <p:nvPr/>
        </p:nvSpPr>
        <p:spPr>
          <a:xfrm>
            <a:off x="7223760" y="3941064"/>
            <a:ext cx="4389120" cy="658368"/>
          </a:xfrm>
          <a:prstGeom prst="rect">
            <a:avLst/>
          </a:prstGeom>
          <a:solidFill>
            <a:srgbClr val="FFFFFF"/>
          </a:solidFill>
          <a:ln w="6350">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315200" y="3986784"/>
            <a:ext cx="4206240" cy="594360"/>
          </a:xfrm>
          <a:prstGeom prst="rect">
            <a:avLst/>
          </a:prstGeom>
          <a:noFill/>
        </p:spPr>
        <p:txBody>
          <a:bodyPr wrap="square">
            <a:spAutoFit/>
          </a:bodyPr>
          <a:lstStyle/>
          <a:p>
            <a:pPr algn="l">
              <a:spcAft>
                <a:spcPts val="200"/>
              </a:spcAft>
            </a:pPr>
            <a:r>
              <a:rPr sz="1800" b="0">
                <a:solidFill>
                  <a:srgbClr val="262626"/>
                </a:solidFill>
                <a:latin typeface="メイリオ"/>
              </a:rPr>
              <a:t>統計分析・機械学習・AI</a:t>
            </a:r>
          </a:p>
        </p:txBody>
      </p:sp>
      <p:sp>
        <p:nvSpPr>
          <p:cNvPr id="40" name="Rectangle 39"/>
          <p:cNvSpPr/>
          <p:nvPr/>
        </p:nvSpPr>
        <p:spPr>
          <a:xfrm>
            <a:off x="6035040" y="4690872"/>
            <a:ext cx="1188720" cy="65836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080760" y="4736592"/>
            <a:ext cx="1097280" cy="594360"/>
          </a:xfrm>
          <a:prstGeom prst="rect">
            <a:avLst/>
          </a:prstGeom>
          <a:noFill/>
        </p:spPr>
        <p:txBody>
          <a:bodyPr wrap="square">
            <a:spAutoFit/>
          </a:bodyPr>
          <a:lstStyle/>
          <a:p>
            <a:pPr algn="ctr">
              <a:spcAft>
                <a:spcPts val="200"/>
              </a:spcAft>
            </a:pPr>
            <a:r>
              <a:rPr sz="1800" b="1">
                <a:solidFill>
                  <a:srgbClr val="FFFFFF"/>
                </a:solidFill>
                <a:latin typeface="メイリオ"/>
              </a:rPr>
              <a:t>⑤ 活用</a:t>
            </a:r>
          </a:p>
        </p:txBody>
      </p:sp>
      <p:sp>
        <p:nvSpPr>
          <p:cNvPr id="42" name="Rectangle 41"/>
          <p:cNvSpPr/>
          <p:nvPr/>
        </p:nvSpPr>
        <p:spPr>
          <a:xfrm>
            <a:off x="7223760" y="4690872"/>
            <a:ext cx="4389120" cy="658368"/>
          </a:xfrm>
          <a:prstGeom prst="rect">
            <a:avLst/>
          </a:prstGeom>
          <a:solidFill>
            <a:srgbClr val="FFFFFF"/>
          </a:solidFill>
          <a:ln w="635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315200" y="4736592"/>
            <a:ext cx="4206240" cy="594360"/>
          </a:xfrm>
          <a:prstGeom prst="rect">
            <a:avLst/>
          </a:prstGeom>
          <a:noFill/>
        </p:spPr>
        <p:txBody>
          <a:bodyPr wrap="square">
            <a:spAutoFit/>
          </a:bodyPr>
          <a:lstStyle/>
          <a:p>
            <a:pPr algn="l">
              <a:spcAft>
                <a:spcPts val="200"/>
              </a:spcAft>
            </a:pPr>
            <a:r>
              <a:rPr sz="1800" b="0">
                <a:solidFill>
                  <a:srgbClr val="262626"/>
                </a:solidFill>
                <a:latin typeface="メイリオ"/>
              </a:rPr>
              <a:t>意思決定・可視化・自動化・新サービス</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1551615" cy="658368"/>
          </a:xfrm>
          <a:prstGeom prst="rect">
            <a:avLst/>
          </a:prstGeom>
          <a:noFill/>
        </p:spPr>
        <p:txBody>
          <a:bodyPr wrap="square">
            <a:spAutoFit/>
          </a:bodyPr>
          <a:lstStyle/>
          <a:p>
            <a:pPr algn="l">
              <a:spcAft>
                <a:spcPts val="200"/>
              </a:spcAft>
            </a:pPr>
            <a:r>
              <a:rPr sz="2600" b="1">
                <a:solidFill>
                  <a:srgbClr val="FFFFFF"/>
                </a:solidFill>
                <a:latin typeface="メイリオ"/>
              </a:rPr>
              <a:t>DX時代のデータ利活用</a:t>
            </a:r>
          </a:p>
        </p:txBody>
      </p:sp>
      <p:sp>
        <p:nvSpPr>
          <p:cNvPr id="4" name="TextBox 3"/>
          <p:cNvSpPr txBox="1"/>
          <p:nvPr/>
        </p:nvSpPr>
        <p:spPr>
          <a:xfrm>
            <a:off x="320040" y="841248"/>
            <a:ext cx="11551615" cy="457200"/>
          </a:xfrm>
          <a:prstGeom prst="rect">
            <a:avLst/>
          </a:prstGeom>
          <a:noFill/>
        </p:spPr>
        <p:txBody>
          <a:bodyPr wrap="square">
            <a:spAutoFit/>
          </a:bodyPr>
          <a:lstStyle/>
          <a:p>
            <a:pPr algn="l">
              <a:spcAft>
                <a:spcPts val="200"/>
              </a:spcAft>
            </a:pPr>
            <a:r>
              <a:rPr sz="1800" b="1">
                <a:solidFill>
                  <a:srgbClr val="4472C4"/>
                </a:solidFill>
                <a:latin typeface="メイリオ"/>
              </a:rPr>
              <a:t>Data Utilization in DX Era</a:t>
            </a:r>
          </a:p>
        </p:txBody>
      </p:sp>
      <p:sp>
        <p:nvSpPr>
          <p:cNvPr id="5" name="TextBox 4"/>
          <p:cNvSpPr txBox="1"/>
          <p:nvPr/>
        </p:nvSpPr>
        <p:spPr>
          <a:xfrm>
            <a:off x="457200" y="914400"/>
            <a:ext cx="11247120" cy="411480"/>
          </a:xfrm>
          <a:prstGeom prst="rect">
            <a:avLst/>
          </a:prstGeom>
          <a:noFill/>
        </p:spPr>
        <p:txBody>
          <a:bodyPr wrap="square">
            <a:spAutoFit/>
          </a:bodyPr>
          <a:lstStyle/>
          <a:p>
            <a:pPr algn="l">
              <a:spcAft>
                <a:spcPts val="200"/>
              </a:spcAft>
            </a:pPr>
            <a:r>
              <a:rPr sz="2100" b="1">
                <a:solidFill>
                  <a:srgbClr val="1F3864"/>
                </a:solidFill>
                <a:latin typeface="メイリオ"/>
              </a:rPr>
              <a:t>データ活用の2大柱：意思決定支援 × 業務自動化</a:t>
            </a:r>
          </a:p>
        </p:txBody>
      </p:sp>
      <p:sp>
        <p:nvSpPr>
          <p:cNvPr id="6" name="Rectangle 5"/>
          <p:cNvSpPr/>
          <p:nvPr/>
        </p:nvSpPr>
        <p:spPr>
          <a:xfrm>
            <a:off x="365760" y="1417320"/>
            <a:ext cx="5669280" cy="4480560"/>
          </a:xfrm>
          <a:prstGeom prst="rect">
            <a:avLst/>
          </a:prstGeom>
          <a:solidFill>
            <a:srgbClr val="E1F5FE"/>
          </a:solidFill>
          <a:ln w="2540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508760"/>
            <a:ext cx="5486400" cy="594360"/>
          </a:xfrm>
          <a:prstGeom prst="rect">
            <a:avLst/>
          </a:prstGeom>
          <a:noFill/>
        </p:spPr>
        <p:txBody>
          <a:bodyPr wrap="square">
            <a:spAutoFit/>
          </a:bodyPr>
          <a:lstStyle/>
          <a:p>
            <a:pPr algn="l">
              <a:spcAft>
                <a:spcPts val="200"/>
              </a:spcAft>
            </a:pPr>
            <a:r>
              <a:rPr sz="2100" b="1">
                <a:solidFill>
                  <a:srgbClr val="1F3864"/>
                </a:solidFill>
                <a:latin typeface="メイリオ"/>
              </a:rPr>
              <a:t>(1) 意思決定支援（レポーティング中心）</a:t>
            </a:r>
          </a:p>
        </p:txBody>
      </p:sp>
      <p:sp>
        <p:nvSpPr>
          <p:cNvPr id="8" name="TextBox 7"/>
          <p:cNvSpPr txBox="1"/>
          <p:nvPr/>
        </p:nvSpPr>
        <p:spPr>
          <a:xfrm>
            <a:off x="502920" y="2148840"/>
            <a:ext cx="5394960" cy="3474720"/>
          </a:xfrm>
          <a:prstGeom prst="rect">
            <a:avLst/>
          </a:prstGeom>
          <a:noFill/>
        </p:spPr>
        <p:txBody>
          <a:bodyPr wrap="square">
            <a:spAutoFit/>
          </a:bodyPr>
          <a:lstStyle/>
          <a:p>
            <a:pPr algn="l">
              <a:spcAft>
                <a:spcPts val="200"/>
              </a:spcAft>
            </a:pPr>
            <a:r>
              <a:rPr sz="1900" b="0">
                <a:solidFill>
                  <a:srgbClr val="262626"/>
                </a:solidFill>
                <a:latin typeface="メイリオ"/>
              </a:rPr>
              <a:t>■ 主な手法</a:t>
            </a:r>
          </a:p>
          <a:p>
            <a:pPr algn="l">
              <a:spcAft>
                <a:spcPts val="200"/>
              </a:spcAft>
            </a:pPr>
            <a:r>
              <a:rPr sz="1900" b="0">
                <a:solidFill>
                  <a:srgbClr val="262626"/>
                </a:solidFill>
                <a:latin typeface="メイリオ"/>
              </a:rPr>
              <a:t>・ ExcelやBIツールを使った統計分析</a:t>
            </a:r>
          </a:p>
          <a:p>
            <a:pPr algn="l">
              <a:spcAft>
                <a:spcPts val="200"/>
              </a:spcAft>
            </a:pPr>
            <a:r>
              <a:rPr sz="1900" b="0">
                <a:solidFill>
                  <a:srgbClr val="262626"/>
                </a:solidFill>
                <a:latin typeface="メイリオ"/>
              </a:rPr>
              <a:t>・ 現状把握・原因仮説の探索・効果測定</a:t>
            </a:r>
          </a:p>
          <a:p>
            <a:pPr algn="l">
              <a:spcAft>
                <a:spcPts val="200"/>
              </a:spcAft>
            </a:pPr>
            <a:r>
              <a:rPr sz="1900" b="0">
                <a:solidFill>
                  <a:srgbClr val="262626"/>
                </a:solidFill>
                <a:latin typeface="メイリオ"/>
              </a:rPr>
              <a:t>・ 「PDCA」的な流れに沿った定量的判断支援</a:t>
            </a:r>
          </a:p>
          <a:p>
            <a:pPr algn="l">
              <a:spcAft>
                <a:spcPts val="200"/>
              </a:spcAft>
            </a:pPr>
            <a:r>
              <a:rPr sz="1900" b="0">
                <a:solidFill>
                  <a:srgbClr val="262626"/>
                </a:solidFill>
                <a:latin typeface="メイリオ"/>
              </a:rPr>
              <a:t/>
            </a:r>
          </a:p>
          <a:p>
            <a:pPr algn="l">
              <a:spcAft>
                <a:spcPts val="200"/>
              </a:spcAft>
            </a:pPr>
            <a:r>
              <a:rPr sz="1900" b="0">
                <a:solidFill>
                  <a:srgbClr val="262626"/>
                </a:solidFill>
                <a:latin typeface="メイリオ"/>
              </a:rPr>
              <a:t>■ 担当者</a:t>
            </a:r>
          </a:p>
          <a:p>
            <a:pPr algn="l">
              <a:spcAft>
                <a:spcPts val="200"/>
              </a:spcAft>
            </a:pPr>
            <a:r>
              <a:rPr sz="1900" b="0">
                <a:solidFill>
                  <a:srgbClr val="262626"/>
                </a:solidFill>
                <a:latin typeface="メイリオ"/>
              </a:rPr>
              <a:t>・ データアナリストが中心</a:t>
            </a:r>
          </a:p>
          <a:p>
            <a:pPr algn="l">
              <a:spcAft>
                <a:spcPts val="200"/>
              </a:spcAft>
            </a:pPr>
            <a:r>
              <a:rPr sz="1900" b="0">
                <a:solidFill>
                  <a:srgbClr val="262626"/>
                </a:solidFill>
                <a:latin typeface="メイリオ"/>
              </a:rPr>
              <a:t>・ 業務部門と連携した分析推進</a:t>
            </a:r>
          </a:p>
          <a:p>
            <a:pPr algn="l">
              <a:spcAft>
                <a:spcPts val="200"/>
              </a:spcAft>
            </a:pPr>
            <a:r>
              <a:rPr sz="1900" b="0">
                <a:solidFill>
                  <a:srgbClr val="262626"/>
                </a:solidFill>
                <a:latin typeface="メイリオ"/>
              </a:rPr>
              <a:t/>
            </a:r>
          </a:p>
          <a:p>
            <a:pPr algn="l">
              <a:spcAft>
                <a:spcPts val="200"/>
              </a:spcAft>
            </a:pPr>
            <a:r>
              <a:rPr sz="1900" b="0">
                <a:solidFill>
                  <a:srgbClr val="262626"/>
                </a:solidFill>
                <a:latin typeface="メイリオ"/>
              </a:rPr>
              <a:t>■ 出力物</a:t>
            </a:r>
          </a:p>
          <a:p>
            <a:pPr algn="l">
              <a:spcAft>
                <a:spcPts val="200"/>
              </a:spcAft>
            </a:pPr>
            <a:r>
              <a:rPr sz="1900" b="0">
                <a:solidFill>
                  <a:srgbClr val="262626"/>
                </a:solidFill>
                <a:latin typeface="メイリオ"/>
              </a:rPr>
              <a:t>・ ダッシュボード・月次レポート・KPI管理表</a:t>
            </a:r>
          </a:p>
        </p:txBody>
      </p:sp>
      <p:sp>
        <p:nvSpPr>
          <p:cNvPr id="9" name="Rectangle 8"/>
          <p:cNvSpPr/>
          <p:nvPr/>
        </p:nvSpPr>
        <p:spPr>
          <a:xfrm>
            <a:off x="6309360" y="1417320"/>
            <a:ext cx="5486400" cy="4480560"/>
          </a:xfrm>
          <a:prstGeom prst="rect">
            <a:avLst/>
          </a:prstGeom>
          <a:solidFill>
            <a:srgbClr val="E2EFDA"/>
          </a:solidFill>
          <a:ln w="2540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508760"/>
            <a:ext cx="5303520" cy="594360"/>
          </a:xfrm>
          <a:prstGeom prst="rect">
            <a:avLst/>
          </a:prstGeom>
          <a:noFill/>
        </p:spPr>
        <p:txBody>
          <a:bodyPr wrap="square">
            <a:spAutoFit/>
          </a:bodyPr>
          <a:lstStyle/>
          <a:p>
            <a:pPr algn="l">
              <a:spcAft>
                <a:spcPts val="200"/>
              </a:spcAft>
            </a:pPr>
            <a:r>
              <a:rPr sz="2100" b="1">
                <a:solidFill>
                  <a:srgbClr val="00706E"/>
                </a:solidFill>
                <a:latin typeface="メイリオ"/>
              </a:rPr>
              <a:t>(2) モデル構築・業務自動化（生産性向上）</a:t>
            </a:r>
          </a:p>
        </p:txBody>
      </p:sp>
      <p:sp>
        <p:nvSpPr>
          <p:cNvPr id="11" name="TextBox 10"/>
          <p:cNvSpPr txBox="1"/>
          <p:nvPr/>
        </p:nvSpPr>
        <p:spPr>
          <a:xfrm>
            <a:off x="6446520" y="2148840"/>
            <a:ext cx="5212080" cy="3474720"/>
          </a:xfrm>
          <a:prstGeom prst="rect">
            <a:avLst/>
          </a:prstGeom>
          <a:noFill/>
        </p:spPr>
        <p:txBody>
          <a:bodyPr wrap="square">
            <a:spAutoFit/>
          </a:bodyPr>
          <a:lstStyle/>
          <a:p>
            <a:pPr algn="l">
              <a:spcAft>
                <a:spcPts val="200"/>
              </a:spcAft>
            </a:pPr>
            <a:r>
              <a:rPr sz="1900" b="0">
                <a:solidFill>
                  <a:srgbClr val="262626"/>
                </a:solidFill>
                <a:latin typeface="メイリオ"/>
              </a:rPr>
              <a:t>■ 主な手法</a:t>
            </a:r>
          </a:p>
          <a:p>
            <a:pPr algn="l">
              <a:spcAft>
                <a:spcPts val="200"/>
              </a:spcAft>
            </a:pPr>
            <a:r>
              <a:rPr sz="1900" b="0">
                <a:solidFill>
                  <a:srgbClr val="262626"/>
                </a:solidFill>
                <a:latin typeface="メイリオ"/>
              </a:rPr>
              <a:t>・ AI・機械学習でモデル構築</a:t>
            </a:r>
          </a:p>
          <a:p>
            <a:pPr algn="l">
              <a:spcAft>
                <a:spcPts val="200"/>
              </a:spcAft>
            </a:pPr>
            <a:r>
              <a:rPr sz="1900" b="0">
                <a:solidFill>
                  <a:srgbClr val="262626"/>
                </a:solidFill>
                <a:latin typeface="メイリオ"/>
              </a:rPr>
              <a:t>・ 業務システムへの組み込み・自動化</a:t>
            </a:r>
          </a:p>
          <a:p>
            <a:pPr algn="l">
              <a:spcAft>
                <a:spcPts val="200"/>
              </a:spcAft>
            </a:pPr>
            <a:r>
              <a:rPr sz="1900" b="0">
                <a:solidFill>
                  <a:srgbClr val="262626"/>
                </a:solidFill>
                <a:latin typeface="メイリオ"/>
              </a:rPr>
              <a:t>・ マーケティングや需要予測に活用</a:t>
            </a:r>
          </a:p>
          <a:p>
            <a:pPr algn="l">
              <a:spcAft>
                <a:spcPts val="200"/>
              </a:spcAft>
            </a:pPr>
            <a:r>
              <a:rPr sz="1900" b="0">
                <a:solidFill>
                  <a:srgbClr val="262626"/>
                </a:solidFill>
                <a:latin typeface="メイリオ"/>
              </a:rPr>
              <a:t/>
            </a:r>
          </a:p>
          <a:p>
            <a:pPr algn="l">
              <a:spcAft>
                <a:spcPts val="200"/>
              </a:spcAft>
            </a:pPr>
            <a:r>
              <a:rPr sz="1900" b="0">
                <a:solidFill>
                  <a:srgbClr val="262626"/>
                </a:solidFill>
                <a:latin typeface="メイリオ"/>
              </a:rPr>
              <a:t>■ 担当者</a:t>
            </a:r>
          </a:p>
          <a:p>
            <a:pPr algn="l">
              <a:spcAft>
                <a:spcPts val="200"/>
              </a:spcAft>
            </a:pPr>
            <a:r>
              <a:rPr sz="1900" b="0">
                <a:solidFill>
                  <a:srgbClr val="262626"/>
                </a:solidFill>
                <a:latin typeface="メイリオ"/>
              </a:rPr>
              <a:t>・ データサイエンティストが担当</a:t>
            </a:r>
          </a:p>
          <a:p>
            <a:pPr algn="l">
              <a:spcAft>
                <a:spcPts val="200"/>
              </a:spcAft>
            </a:pPr>
            <a:r>
              <a:rPr sz="1900" b="0">
                <a:solidFill>
                  <a:srgbClr val="262626"/>
                </a:solidFill>
                <a:latin typeface="メイリオ"/>
              </a:rPr>
              <a:t>・ エンジニアと連携した実装推進</a:t>
            </a:r>
          </a:p>
          <a:p>
            <a:pPr algn="l">
              <a:spcAft>
                <a:spcPts val="200"/>
              </a:spcAft>
            </a:pPr>
            <a:r>
              <a:rPr sz="1900" b="0">
                <a:solidFill>
                  <a:srgbClr val="262626"/>
                </a:solidFill>
                <a:latin typeface="メイリオ"/>
              </a:rPr>
              <a:t/>
            </a:r>
          </a:p>
          <a:p>
            <a:pPr algn="l">
              <a:spcAft>
                <a:spcPts val="200"/>
              </a:spcAft>
            </a:pPr>
            <a:r>
              <a:rPr sz="1900" b="0">
                <a:solidFill>
                  <a:srgbClr val="262626"/>
                </a:solidFill>
                <a:latin typeface="メイリオ"/>
              </a:rPr>
              <a:t>■ 出力物</a:t>
            </a:r>
          </a:p>
          <a:p>
            <a:pPr algn="l">
              <a:spcAft>
                <a:spcPts val="200"/>
              </a:spcAft>
            </a:pPr>
            <a:r>
              <a:rPr sz="1900" b="0">
                <a:solidFill>
                  <a:srgbClr val="262626"/>
                </a:solidFill>
                <a:latin typeface="メイリオ"/>
              </a:rPr>
              <a:t>・ 予測モデル・推薦システム・異常検知</a:t>
            </a:r>
          </a:p>
        </p:txBody>
      </p:sp>
      <p:sp>
        <p:nvSpPr>
          <p:cNvPr id="12" name="Rectangle 11"/>
          <p:cNvSpPr/>
          <p:nvPr/>
        </p:nvSpPr>
        <p:spPr>
          <a:xfrm>
            <a:off x="365760" y="5989320"/>
            <a:ext cx="11430000" cy="59436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6035040"/>
            <a:ext cx="11247120" cy="530352"/>
          </a:xfrm>
          <a:prstGeom prst="rect">
            <a:avLst/>
          </a:prstGeom>
          <a:noFill/>
        </p:spPr>
        <p:txBody>
          <a:bodyPr wrap="square">
            <a:spAutoFit/>
          </a:bodyPr>
          <a:lstStyle/>
          <a:p>
            <a:pPr algn="ctr">
              <a:spcAft>
                <a:spcPts val="200"/>
              </a:spcAft>
            </a:pPr>
            <a:r>
              <a:rPr sz="1900" b="1">
                <a:solidFill>
                  <a:srgbClr val="FFFFFF"/>
                </a:solidFill>
                <a:latin typeface="メイリオ"/>
              </a:rPr>
              <a:t>両者を兼ね備えた人材が「データ経営」を実現する ← 本講義で目指すゴール</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1551615" cy="658368"/>
          </a:xfrm>
          <a:prstGeom prst="rect">
            <a:avLst/>
          </a:prstGeom>
          <a:noFill/>
        </p:spPr>
        <p:txBody>
          <a:bodyPr wrap="square">
            <a:spAutoFit/>
          </a:bodyPr>
          <a:lstStyle/>
          <a:p>
            <a:pPr algn="l">
              <a:spcAft>
                <a:spcPts val="200"/>
              </a:spcAft>
            </a:pPr>
            <a:r>
              <a:rPr sz="2600" b="1">
                <a:solidFill>
                  <a:srgbClr val="FFFFFF"/>
                </a:solidFill>
                <a:latin typeface="メイリオ"/>
              </a:rPr>
              <a:t>データドリブン意思決定の重要性</a:t>
            </a:r>
          </a:p>
        </p:txBody>
      </p:sp>
      <p:sp>
        <p:nvSpPr>
          <p:cNvPr id="4" name="TextBox 3"/>
          <p:cNvSpPr txBox="1"/>
          <p:nvPr/>
        </p:nvSpPr>
        <p:spPr>
          <a:xfrm>
            <a:off x="320040" y="841248"/>
            <a:ext cx="11551615" cy="457200"/>
          </a:xfrm>
          <a:prstGeom prst="rect">
            <a:avLst/>
          </a:prstGeom>
          <a:noFill/>
        </p:spPr>
        <p:txBody>
          <a:bodyPr wrap="square">
            <a:spAutoFit/>
          </a:bodyPr>
          <a:lstStyle/>
          <a:p>
            <a:pPr algn="l">
              <a:spcAft>
                <a:spcPts val="200"/>
              </a:spcAft>
            </a:pPr>
            <a:r>
              <a:rPr sz="1800" b="1">
                <a:solidFill>
                  <a:srgbClr val="4472C4"/>
                </a:solidFill>
                <a:latin typeface="メイリオ"/>
              </a:rPr>
              <a:t>Evidence-Based Management</a:t>
            </a:r>
          </a:p>
        </p:txBody>
      </p:sp>
      <p:sp>
        <p:nvSpPr>
          <p:cNvPr id="5" name="Rectangle 4"/>
          <p:cNvSpPr/>
          <p:nvPr/>
        </p:nvSpPr>
        <p:spPr>
          <a:xfrm>
            <a:off x="365760" y="960120"/>
            <a:ext cx="11430000" cy="914400"/>
          </a:xfrm>
          <a:prstGeom prst="rect">
            <a:avLst/>
          </a:prstGeom>
          <a:solidFill>
            <a:srgbClr val="E1F5FE"/>
          </a:solidFill>
          <a:ln w="1270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05840"/>
            <a:ext cx="11064240" cy="457200"/>
          </a:xfrm>
          <a:prstGeom prst="rect">
            <a:avLst/>
          </a:prstGeom>
          <a:noFill/>
        </p:spPr>
        <p:txBody>
          <a:bodyPr wrap="square">
            <a:spAutoFit/>
          </a:bodyPr>
          <a:lstStyle/>
          <a:p>
            <a:pPr algn="l">
              <a:spcAft>
                <a:spcPts val="200"/>
              </a:spcAft>
            </a:pPr>
            <a:r>
              <a:rPr sz="2200" b="1">
                <a:solidFill>
                  <a:srgbClr val="1F3864"/>
                </a:solidFill>
                <a:latin typeface="メイリオ"/>
              </a:rPr>
              <a:t>✅ データリテラシーと業績指標は「正の相関」がある</a:t>
            </a:r>
          </a:p>
        </p:txBody>
      </p:sp>
      <p:sp>
        <p:nvSpPr>
          <p:cNvPr id="7" name="TextBox 6"/>
          <p:cNvSpPr txBox="1"/>
          <p:nvPr/>
        </p:nvSpPr>
        <p:spPr>
          <a:xfrm>
            <a:off x="548640" y="1417320"/>
            <a:ext cx="11064240" cy="411480"/>
          </a:xfrm>
          <a:prstGeom prst="rect">
            <a:avLst/>
          </a:prstGeom>
          <a:noFill/>
        </p:spPr>
        <p:txBody>
          <a:bodyPr wrap="square">
            <a:spAutoFit/>
          </a:bodyPr>
          <a:lstStyle/>
          <a:p>
            <a:pPr algn="l">
              <a:spcAft>
                <a:spcPts val="200"/>
              </a:spcAft>
            </a:pPr>
            <a:r>
              <a:rPr sz="1800" b="0">
                <a:solidFill>
                  <a:srgbClr val="262626"/>
                </a:solidFill>
                <a:latin typeface="メイリオ"/>
              </a:rPr>
              <a:t>「データは21世紀の石油」— データを分析してビジネスに活かす能力が企業の競争力を左右する</a:t>
            </a:r>
          </a:p>
        </p:txBody>
      </p:sp>
      <p:sp>
        <p:nvSpPr>
          <p:cNvPr id="8" name="Rectangle 7"/>
          <p:cNvSpPr/>
          <p:nvPr/>
        </p:nvSpPr>
        <p:spPr>
          <a:xfrm>
            <a:off x="365760" y="2011680"/>
            <a:ext cx="3657600" cy="64008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057400"/>
            <a:ext cx="3474720" cy="594360"/>
          </a:xfrm>
          <a:prstGeom prst="rect">
            <a:avLst/>
          </a:prstGeom>
          <a:noFill/>
        </p:spPr>
        <p:txBody>
          <a:bodyPr wrap="square">
            <a:spAutoFit/>
          </a:bodyPr>
          <a:lstStyle/>
          <a:p>
            <a:pPr algn="l">
              <a:spcAft>
                <a:spcPts val="200"/>
              </a:spcAft>
            </a:pPr>
            <a:r>
              <a:rPr sz="1700" b="1">
                <a:solidFill>
                  <a:srgbClr val="FFFFFF"/>
                </a:solidFill>
                <a:latin typeface="メイリオ"/>
              </a:rPr>
              <a:t>Erik Brynjolfsson
(2011年・MIT)</a:t>
            </a:r>
          </a:p>
        </p:txBody>
      </p:sp>
      <p:sp>
        <p:nvSpPr>
          <p:cNvPr id="10" name="Rectangle 9"/>
          <p:cNvSpPr/>
          <p:nvPr/>
        </p:nvSpPr>
        <p:spPr>
          <a:xfrm>
            <a:off x="365760" y="2651760"/>
            <a:ext cx="3657600" cy="1371600"/>
          </a:xfrm>
          <a:prstGeom prst="rect">
            <a:avLst/>
          </a:prstGeom>
          <a:solidFill>
            <a:srgbClr val="F2F2F2"/>
          </a:solidFill>
          <a:ln w="63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697480"/>
            <a:ext cx="3474720" cy="1280160"/>
          </a:xfrm>
          <a:prstGeom prst="rect">
            <a:avLst/>
          </a:prstGeom>
          <a:noFill/>
        </p:spPr>
        <p:txBody>
          <a:bodyPr wrap="square">
            <a:spAutoFit/>
          </a:bodyPr>
          <a:lstStyle/>
          <a:p>
            <a:pPr algn="l">
              <a:spcAft>
                <a:spcPts val="200"/>
              </a:spcAft>
            </a:pPr>
            <a:r>
              <a:rPr sz="1700" b="0">
                <a:solidFill>
                  <a:srgbClr val="262626"/>
                </a:solidFill>
                <a:latin typeface="メイリオ"/>
              </a:rPr>
              <a:t>データドリブンな企業は他社に比べて生産性が5〜6%高い
資産活用・ROI・市場価値においても正の相関あり</a:t>
            </a:r>
          </a:p>
        </p:txBody>
      </p:sp>
      <p:sp>
        <p:nvSpPr>
          <p:cNvPr id="12" name="Rectangle 11"/>
          <p:cNvSpPr/>
          <p:nvPr/>
        </p:nvSpPr>
        <p:spPr>
          <a:xfrm>
            <a:off x="4206240" y="2011680"/>
            <a:ext cx="3657600" cy="640080"/>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97680" y="2057400"/>
            <a:ext cx="3474720" cy="594360"/>
          </a:xfrm>
          <a:prstGeom prst="rect">
            <a:avLst/>
          </a:prstGeom>
          <a:noFill/>
        </p:spPr>
        <p:txBody>
          <a:bodyPr wrap="square">
            <a:spAutoFit/>
          </a:bodyPr>
          <a:lstStyle/>
          <a:p>
            <a:pPr algn="l">
              <a:spcAft>
                <a:spcPts val="200"/>
              </a:spcAft>
            </a:pPr>
            <a:r>
              <a:rPr sz="1700" b="1">
                <a:solidFill>
                  <a:srgbClr val="FFFFFF"/>
                </a:solidFill>
                <a:latin typeface="メイリオ"/>
              </a:rPr>
              <a:t>クリッテック・ジャパン
(2018年)</a:t>
            </a:r>
          </a:p>
        </p:txBody>
      </p:sp>
      <p:sp>
        <p:nvSpPr>
          <p:cNvPr id="14" name="Rectangle 13"/>
          <p:cNvSpPr/>
          <p:nvPr/>
        </p:nvSpPr>
        <p:spPr>
          <a:xfrm>
            <a:off x="4206240" y="2651760"/>
            <a:ext cx="3657600" cy="1371600"/>
          </a:xfrm>
          <a:prstGeom prst="rect">
            <a:avLst/>
          </a:prstGeom>
          <a:solidFill>
            <a:srgbClr val="F2F2F2"/>
          </a:solidFill>
          <a:ln w="635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97680" y="2697480"/>
            <a:ext cx="3474720" cy="1280160"/>
          </a:xfrm>
          <a:prstGeom prst="rect">
            <a:avLst/>
          </a:prstGeom>
          <a:noFill/>
        </p:spPr>
        <p:txBody>
          <a:bodyPr wrap="square">
            <a:spAutoFit/>
          </a:bodyPr>
          <a:lstStyle/>
          <a:p>
            <a:pPr algn="l">
              <a:spcAft>
                <a:spcPts val="200"/>
              </a:spcAft>
            </a:pPr>
            <a:r>
              <a:rPr sz="1700" b="0">
                <a:solidFill>
                  <a:srgbClr val="262626"/>
                </a:solidFill>
                <a:latin typeface="メイリオ"/>
              </a:rPr>
              <a:t>「データリテラシー指数」を発表
社員のデータ活用スキルと業績の正の相関を定量化</a:t>
            </a:r>
          </a:p>
        </p:txBody>
      </p:sp>
      <p:sp>
        <p:nvSpPr>
          <p:cNvPr id="16" name="Rectangle 15"/>
          <p:cNvSpPr/>
          <p:nvPr/>
        </p:nvSpPr>
        <p:spPr>
          <a:xfrm>
            <a:off x="8046720" y="2011680"/>
            <a:ext cx="3657600" cy="640080"/>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38160" y="2057400"/>
            <a:ext cx="3474720" cy="594360"/>
          </a:xfrm>
          <a:prstGeom prst="rect">
            <a:avLst/>
          </a:prstGeom>
          <a:noFill/>
        </p:spPr>
        <p:txBody>
          <a:bodyPr wrap="square">
            <a:spAutoFit/>
          </a:bodyPr>
          <a:lstStyle/>
          <a:p>
            <a:pPr algn="l">
              <a:spcAft>
                <a:spcPts val="200"/>
              </a:spcAft>
            </a:pPr>
            <a:r>
              <a:rPr sz="1700" b="1">
                <a:solidFill>
                  <a:srgbClr val="FFFFFF"/>
                </a:solidFill>
                <a:latin typeface="メイリオ"/>
              </a:rPr>
              <a:t>McKinsey Global
Institute</a:t>
            </a:r>
          </a:p>
        </p:txBody>
      </p:sp>
      <p:sp>
        <p:nvSpPr>
          <p:cNvPr id="18" name="Rectangle 17"/>
          <p:cNvSpPr/>
          <p:nvPr/>
        </p:nvSpPr>
        <p:spPr>
          <a:xfrm>
            <a:off x="8046720" y="2651760"/>
            <a:ext cx="3657600" cy="1371600"/>
          </a:xfrm>
          <a:prstGeom prst="rect">
            <a:avLst/>
          </a:prstGeom>
          <a:solidFill>
            <a:srgbClr val="F2F2F2"/>
          </a:solidFill>
          <a:ln w="6350">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38160" y="2697480"/>
            <a:ext cx="3474720" cy="1280160"/>
          </a:xfrm>
          <a:prstGeom prst="rect">
            <a:avLst/>
          </a:prstGeom>
          <a:noFill/>
        </p:spPr>
        <p:txBody>
          <a:bodyPr wrap="square">
            <a:spAutoFit/>
          </a:bodyPr>
          <a:lstStyle/>
          <a:p>
            <a:pPr algn="l">
              <a:spcAft>
                <a:spcPts val="200"/>
              </a:spcAft>
            </a:pPr>
            <a:r>
              <a:rPr sz="1700" b="0">
                <a:solidFill>
                  <a:srgbClr val="262626"/>
                </a:solidFill>
                <a:latin typeface="メイリオ"/>
              </a:rPr>
              <a:t>データドリブン企業の収益成長率は業界平均の23倍
顧客獲得コストが6分の1以下に低減</a:t>
            </a:r>
          </a:p>
        </p:txBody>
      </p:sp>
      <p:sp>
        <p:nvSpPr>
          <p:cNvPr id="20" name="TextBox 19"/>
          <p:cNvSpPr txBox="1"/>
          <p:nvPr/>
        </p:nvSpPr>
        <p:spPr>
          <a:xfrm>
            <a:off x="457200" y="4206240"/>
            <a:ext cx="11247120" cy="411480"/>
          </a:xfrm>
          <a:prstGeom prst="rect">
            <a:avLst/>
          </a:prstGeom>
          <a:noFill/>
        </p:spPr>
        <p:txBody>
          <a:bodyPr wrap="square">
            <a:spAutoFit/>
          </a:bodyPr>
          <a:lstStyle/>
          <a:p>
            <a:pPr algn="l">
              <a:spcAft>
                <a:spcPts val="200"/>
              </a:spcAft>
            </a:pPr>
            <a:r>
              <a:rPr sz="2000" b="1">
                <a:solidFill>
                  <a:srgbClr val="C00000"/>
                </a:solidFill>
                <a:latin typeface="メイリオ"/>
              </a:rPr>
              <a:t>✅ データ分析スキルはビジネス成果に不可欠</a:t>
            </a:r>
          </a:p>
        </p:txBody>
      </p:sp>
      <p:sp>
        <p:nvSpPr>
          <p:cNvPr id="21" name="TextBox 20"/>
          <p:cNvSpPr txBox="1"/>
          <p:nvPr/>
        </p:nvSpPr>
        <p:spPr>
          <a:xfrm>
            <a:off x="457200" y="4663440"/>
            <a:ext cx="11247120" cy="457200"/>
          </a:xfrm>
          <a:prstGeom prst="rect">
            <a:avLst/>
          </a:prstGeom>
          <a:noFill/>
        </p:spPr>
        <p:txBody>
          <a:bodyPr wrap="square">
            <a:spAutoFit/>
          </a:bodyPr>
          <a:lstStyle/>
          <a:p>
            <a:pPr algn="l">
              <a:spcAft>
                <a:spcPts val="200"/>
              </a:spcAft>
            </a:pPr>
            <a:r>
              <a:rPr sz="1900" b="0">
                <a:solidFill>
                  <a:srgbClr val="262626"/>
                </a:solidFill>
                <a:latin typeface="メイリオ"/>
              </a:rPr>
              <a:t>組織内でデータ利活用スキルが不足していると、ビジネス成果を年々増やすことが困難</a:t>
            </a:r>
          </a:p>
        </p:txBody>
      </p:sp>
      <p:sp>
        <p:nvSpPr>
          <p:cNvPr id="22" name="Rectangle 21"/>
          <p:cNvSpPr/>
          <p:nvPr/>
        </p:nvSpPr>
        <p:spPr>
          <a:xfrm>
            <a:off x="365760" y="5257800"/>
            <a:ext cx="2743200" cy="438912"/>
          </a:xfrm>
          <a:prstGeom prst="rect">
            <a:avLst/>
          </a:prstGeom>
          <a:solidFill>
            <a:srgbClr val="1F3864"/>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80" y="5257800"/>
            <a:ext cx="2651760" cy="438912"/>
          </a:xfrm>
          <a:prstGeom prst="rect">
            <a:avLst/>
          </a:prstGeom>
          <a:noFill/>
        </p:spPr>
        <p:txBody>
          <a:bodyPr wrap="square">
            <a:spAutoFit/>
          </a:bodyPr>
          <a:lstStyle/>
          <a:p>
            <a:pPr algn="ctr">
              <a:spcAft>
                <a:spcPts val="200"/>
              </a:spcAft>
            </a:pPr>
            <a:r>
              <a:rPr sz="1800" b="1">
                <a:solidFill>
                  <a:srgbClr val="FFFFFF"/>
                </a:solidFill>
                <a:latin typeface="メイリオ"/>
              </a:rPr>
              <a:t>データ活用レベル</a:t>
            </a:r>
          </a:p>
        </p:txBody>
      </p:sp>
      <p:sp>
        <p:nvSpPr>
          <p:cNvPr id="24" name="Rectangle 23"/>
          <p:cNvSpPr/>
          <p:nvPr/>
        </p:nvSpPr>
        <p:spPr>
          <a:xfrm>
            <a:off x="3108960" y="5257800"/>
            <a:ext cx="2743200" cy="438912"/>
          </a:xfrm>
          <a:prstGeom prst="rect">
            <a:avLst/>
          </a:prstGeom>
          <a:solidFill>
            <a:srgbClr val="1F3864"/>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54680" y="5257800"/>
            <a:ext cx="2651760" cy="438912"/>
          </a:xfrm>
          <a:prstGeom prst="rect">
            <a:avLst/>
          </a:prstGeom>
          <a:noFill/>
        </p:spPr>
        <p:txBody>
          <a:bodyPr wrap="square">
            <a:spAutoFit/>
          </a:bodyPr>
          <a:lstStyle/>
          <a:p>
            <a:pPr algn="ctr">
              <a:spcAft>
                <a:spcPts val="200"/>
              </a:spcAft>
            </a:pPr>
            <a:r>
              <a:rPr sz="1800" b="1">
                <a:solidFill>
                  <a:srgbClr val="FFFFFF"/>
                </a:solidFill>
                <a:latin typeface="メイリオ"/>
              </a:rPr>
              <a:t>意思決定の質</a:t>
            </a:r>
          </a:p>
        </p:txBody>
      </p:sp>
      <p:sp>
        <p:nvSpPr>
          <p:cNvPr id="26" name="Rectangle 25"/>
          <p:cNvSpPr/>
          <p:nvPr/>
        </p:nvSpPr>
        <p:spPr>
          <a:xfrm>
            <a:off x="5852160" y="5257800"/>
            <a:ext cx="2286000" cy="438912"/>
          </a:xfrm>
          <a:prstGeom prst="rect">
            <a:avLst/>
          </a:prstGeom>
          <a:solidFill>
            <a:srgbClr val="1F3864"/>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897880" y="5257800"/>
            <a:ext cx="2194560" cy="438912"/>
          </a:xfrm>
          <a:prstGeom prst="rect">
            <a:avLst/>
          </a:prstGeom>
          <a:noFill/>
        </p:spPr>
        <p:txBody>
          <a:bodyPr wrap="square">
            <a:spAutoFit/>
          </a:bodyPr>
          <a:lstStyle/>
          <a:p>
            <a:pPr algn="ctr">
              <a:spcAft>
                <a:spcPts val="200"/>
              </a:spcAft>
            </a:pPr>
            <a:r>
              <a:rPr sz="1800" b="1">
                <a:solidFill>
                  <a:srgbClr val="FFFFFF"/>
                </a:solidFill>
                <a:latin typeface="メイリオ"/>
              </a:rPr>
              <a:t>競争優位性</a:t>
            </a:r>
          </a:p>
        </p:txBody>
      </p:sp>
      <p:sp>
        <p:nvSpPr>
          <p:cNvPr id="28" name="Rectangle 27"/>
          <p:cNvSpPr/>
          <p:nvPr/>
        </p:nvSpPr>
        <p:spPr>
          <a:xfrm>
            <a:off x="8138160" y="5257800"/>
            <a:ext cx="3383280" cy="438912"/>
          </a:xfrm>
          <a:prstGeom prst="rect">
            <a:avLst/>
          </a:prstGeom>
          <a:solidFill>
            <a:srgbClr val="1F3864"/>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183880" y="5257800"/>
            <a:ext cx="3291840" cy="438912"/>
          </a:xfrm>
          <a:prstGeom prst="rect">
            <a:avLst/>
          </a:prstGeom>
          <a:noFill/>
        </p:spPr>
        <p:txBody>
          <a:bodyPr wrap="square">
            <a:spAutoFit/>
          </a:bodyPr>
          <a:lstStyle/>
          <a:p>
            <a:pPr algn="ctr">
              <a:spcAft>
                <a:spcPts val="200"/>
              </a:spcAft>
            </a:pPr>
            <a:r>
              <a:rPr sz="1800" b="1">
                <a:solidFill>
                  <a:srgbClr val="FFFFFF"/>
                </a:solidFill>
                <a:latin typeface="メイリオ"/>
              </a:rPr>
              <a:t>代表企業例</a:t>
            </a:r>
          </a:p>
        </p:txBody>
      </p:sp>
      <p:sp>
        <p:nvSpPr>
          <p:cNvPr id="30" name="Rectangle 29"/>
          <p:cNvSpPr/>
          <p:nvPr/>
        </p:nvSpPr>
        <p:spPr>
          <a:xfrm>
            <a:off x="365760" y="5696712"/>
            <a:ext cx="2743200" cy="457200"/>
          </a:xfrm>
          <a:prstGeom prst="rect">
            <a:avLst/>
          </a:prstGeom>
          <a:solidFill>
            <a:srgbClr val="F2F2F2"/>
          </a:solidFill>
          <a:ln w="63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11480" y="5696712"/>
            <a:ext cx="2651760" cy="457200"/>
          </a:xfrm>
          <a:prstGeom prst="rect">
            <a:avLst/>
          </a:prstGeom>
          <a:noFill/>
        </p:spPr>
        <p:txBody>
          <a:bodyPr wrap="square">
            <a:spAutoFit/>
          </a:bodyPr>
          <a:lstStyle/>
          <a:p>
            <a:pPr algn="ctr">
              <a:spcAft>
                <a:spcPts val="200"/>
              </a:spcAft>
            </a:pPr>
            <a:r>
              <a:rPr sz="1800" b="0">
                <a:solidFill>
                  <a:srgbClr val="262626"/>
                </a:solidFill>
                <a:latin typeface="メイリオ"/>
              </a:rPr>
              <a:t>レベル1：経験則中心</a:t>
            </a:r>
          </a:p>
        </p:txBody>
      </p:sp>
      <p:sp>
        <p:nvSpPr>
          <p:cNvPr id="32" name="Rectangle 31"/>
          <p:cNvSpPr/>
          <p:nvPr/>
        </p:nvSpPr>
        <p:spPr>
          <a:xfrm>
            <a:off x="3108960" y="5696712"/>
            <a:ext cx="2743200" cy="457200"/>
          </a:xfrm>
          <a:prstGeom prst="rect">
            <a:avLst/>
          </a:prstGeom>
          <a:solidFill>
            <a:srgbClr val="F2F2F2"/>
          </a:solidFill>
          <a:ln w="63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154680" y="5696712"/>
            <a:ext cx="2651760" cy="457200"/>
          </a:xfrm>
          <a:prstGeom prst="rect">
            <a:avLst/>
          </a:prstGeom>
          <a:noFill/>
        </p:spPr>
        <p:txBody>
          <a:bodyPr wrap="square">
            <a:spAutoFit/>
          </a:bodyPr>
          <a:lstStyle/>
          <a:p>
            <a:pPr algn="ctr">
              <a:spcAft>
                <a:spcPts val="200"/>
              </a:spcAft>
            </a:pPr>
            <a:r>
              <a:rPr sz="1800" b="0">
                <a:solidFill>
                  <a:srgbClr val="262626"/>
                </a:solidFill>
                <a:latin typeface="メイリオ"/>
              </a:rPr>
              <a:t>主観的・属人的</a:t>
            </a:r>
          </a:p>
        </p:txBody>
      </p:sp>
      <p:sp>
        <p:nvSpPr>
          <p:cNvPr id="34" name="Rectangle 33"/>
          <p:cNvSpPr/>
          <p:nvPr/>
        </p:nvSpPr>
        <p:spPr>
          <a:xfrm>
            <a:off x="5852160" y="5696712"/>
            <a:ext cx="2286000" cy="457200"/>
          </a:xfrm>
          <a:prstGeom prst="rect">
            <a:avLst/>
          </a:prstGeom>
          <a:solidFill>
            <a:srgbClr val="F2F2F2"/>
          </a:solidFill>
          <a:ln w="63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897880" y="5696712"/>
            <a:ext cx="2194560" cy="457200"/>
          </a:xfrm>
          <a:prstGeom prst="rect">
            <a:avLst/>
          </a:prstGeom>
          <a:noFill/>
        </p:spPr>
        <p:txBody>
          <a:bodyPr wrap="square">
            <a:spAutoFit/>
          </a:bodyPr>
          <a:lstStyle/>
          <a:p>
            <a:pPr algn="ctr">
              <a:spcAft>
                <a:spcPts val="200"/>
              </a:spcAft>
            </a:pPr>
            <a:r>
              <a:rPr sz="1800" b="0">
                <a:solidFill>
                  <a:srgbClr val="262626"/>
                </a:solidFill>
                <a:latin typeface="メイリオ"/>
              </a:rPr>
              <a:t>低</a:t>
            </a:r>
          </a:p>
        </p:txBody>
      </p:sp>
      <p:sp>
        <p:nvSpPr>
          <p:cNvPr id="36" name="Rectangle 35"/>
          <p:cNvSpPr/>
          <p:nvPr/>
        </p:nvSpPr>
        <p:spPr>
          <a:xfrm>
            <a:off x="8138160" y="5696712"/>
            <a:ext cx="3383280" cy="457200"/>
          </a:xfrm>
          <a:prstGeom prst="rect">
            <a:avLst/>
          </a:prstGeom>
          <a:solidFill>
            <a:srgbClr val="F2F2F2"/>
          </a:solidFill>
          <a:ln w="63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183880" y="5696712"/>
            <a:ext cx="3291840" cy="457200"/>
          </a:xfrm>
          <a:prstGeom prst="rect">
            <a:avLst/>
          </a:prstGeom>
          <a:noFill/>
        </p:spPr>
        <p:txBody>
          <a:bodyPr wrap="square">
            <a:spAutoFit/>
          </a:bodyPr>
          <a:lstStyle/>
          <a:p>
            <a:pPr algn="ctr">
              <a:spcAft>
                <a:spcPts val="200"/>
              </a:spcAft>
            </a:pPr>
            <a:r>
              <a:rPr sz="1800" b="0">
                <a:solidFill>
                  <a:srgbClr val="262626"/>
                </a:solidFill>
                <a:latin typeface="メイリオ"/>
              </a:rPr>
              <a:t>多くの中小企業</a:t>
            </a:r>
          </a:p>
        </p:txBody>
      </p:sp>
      <p:sp>
        <p:nvSpPr>
          <p:cNvPr id="38" name="Rectangle 37"/>
          <p:cNvSpPr/>
          <p:nvPr/>
        </p:nvSpPr>
        <p:spPr>
          <a:xfrm>
            <a:off x="365760" y="6172200"/>
            <a:ext cx="2743200" cy="457200"/>
          </a:xfrm>
          <a:prstGeom prst="rect">
            <a:avLst/>
          </a:prstGeom>
          <a:solidFill>
            <a:srgbClr val="FFFFFF"/>
          </a:solidFill>
          <a:ln w="63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11480" y="6172200"/>
            <a:ext cx="2651760" cy="457200"/>
          </a:xfrm>
          <a:prstGeom prst="rect">
            <a:avLst/>
          </a:prstGeom>
          <a:noFill/>
        </p:spPr>
        <p:txBody>
          <a:bodyPr wrap="square">
            <a:spAutoFit/>
          </a:bodyPr>
          <a:lstStyle/>
          <a:p>
            <a:pPr algn="ctr">
              <a:spcAft>
                <a:spcPts val="200"/>
              </a:spcAft>
            </a:pPr>
            <a:r>
              <a:rPr sz="1800" b="0">
                <a:solidFill>
                  <a:srgbClr val="262626"/>
                </a:solidFill>
                <a:latin typeface="メイリオ"/>
              </a:rPr>
              <a:t>レベル2：Excel分析</a:t>
            </a:r>
          </a:p>
        </p:txBody>
      </p:sp>
      <p:sp>
        <p:nvSpPr>
          <p:cNvPr id="40" name="Rectangle 39"/>
          <p:cNvSpPr/>
          <p:nvPr/>
        </p:nvSpPr>
        <p:spPr>
          <a:xfrm>
            <a:off x="3108960" y="6172200"/>
            <a:ext cx="2743200" cy="457200"/>
          </a:xfrm>
          <a:prstGeom prst="rect">
            <a:avLst/>
          </a:prstGeom>
          <a:solidFill>
            <a:srgbClr val="FFFFFF"/>
          </a:solidFill>
          <a:ln w="63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154680" y="6172200"/>
            <a:ext cx="2651760" cy="457200"/>
          </a:xfrm>
          <a:prstGeom prst="rect">
            <a:avLst/>
          </a:prstGeom>
          <a:noFill/>
        </p:spPr>
        <p:txBody>
          <a:bodyPr wrap="square">
            <a:spAutoFit/>
          </a:bodyPr>
          <a:lstStyle/>
          <a:p>
            <a:pPr algn="ctr">
              <a:spcAft>
                <a:spcPts val="200"/>
              </a:spcAft>
            </a:pPr>
            <a:r>
              <a:rPr sz="1800" b="0">
                <a:solidFill>
                  <a:srgbClr val="262626"/>
                </a:solidFill>
                <a:latin typeface="メイリオ"/>
              </a:rPr>
              <a:t>定量的・周期的</a:t>
            </a:r>
          </a:p>
        </p:txBody>
      </p:sp>
      <p:sp>
        <p:nvSpPr>
          <p:cNvPr id="42" name="Rectangle 41"/>
          <p:cNvSpPr/>
          <p:nvPr/>
        </p:nvSpPr>
        <p:spPr>
          <a:xfrm>
            <a:off x="5852160" y="6172200"/>
            <a:ext cx="2286000" cy="457200"/>
          </a:xfrm>
          <a:prstGeom prst="rect">
            <a:avLst/>
          </a:prstGeom>
          <a:solidFill>
            <a:srgbClr val="FFFFFF"/>
          </a:solidFill>
          <a:ln w="63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897880" y="6172200"/>
            <a:ext cx="2194560" cy="457200"/>
          </a:xfrm>
          <a:prstGeom prst="rect">
            <a:avLst/>
          </a:prstGeom>
          <a:noFill/>
        </p:spPr>
        <p:txBody>
          <a:bodyPr wrap="square">
            <a:spAutoFit/>
          </a:bodyPr>
          <a:lstStyle/>
          <a:p>
            <a:pPr algn="ctr">
              <a:spcAft>
                <a:spcPts val="200"/>
              </a:spcAft>
            </a:pPr>
            <a:r>
              <a:rPr sz="1800" b="0">
                <a:solidFill>
                  <a:srgbClr val="262626"/>
                </a:solidFill>
                <a:latin typeface="メイリオ"/>
              </a:rPr>
              <a:t>中</a:t>
            </a:r>
          </a:p>
        </p:txBody>
      </p:sp>
      <p:sp>
        <p:nvSpPr>
          <p:cNvPr id="44" name="Rectangle 43"/>
          <p:cNvSpPr/>
          <p:nvPr/>
        </p:nvSpPr>
        <p:spPr>
          <a:xfrm>
            <a:off x="8138160" y="6172200"/>
            <a:ext cx="3383280" cy="457200"/>
          </a:xfrm>
          <a:prstGeom prst="rect">
            <a:avLst/>
          </a:prstGeom>
          <a:solidFill>
            <a:srgbClr val="FFFFFF"/>
          </a:solidFill>
          <a:ln w="63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183880" y="6172200"/>
            <a:ext cx="3291840" cy="457200"/>
          </a:xfrm>
          <a:prstGeom prst="rect">
            <a:avLst/>
          </a:prstGeom>
          <a:noFill/>
        </p:spPr>
        <p:txBody>
          <a:bodyPr wrap="square">
            <a:spAutoFit/>
          </a:bodyPr>
          <a:lstStyle/>
          <a:p>
            <a:pPr algn="ctr">
              <a:spcAft>
                <a:spcPts val="200"/>
              </a:spcAft>
            </a:pPr>
            <a:r>
              <a:rPr sz="1800" b="0">
                <a:solidFill>
                  <a:srgbClr val="262626"/>
                </a:solidFill>
                <a:latin typeface="メイリオ"/>
              </a:rPr>
              <a:t>一般的な中堅企業</a:t>
            </a:r>
          </a:p>
        </p:txBody>
      </p:sp>
      <p:sp>
        <p:nvSpPr>
          <p:cNvPr id="46" name="Rectangle 45"/>
          <p:cNvSpPr/>
          <p:nvPr/>
        </p:nvSpPr>
        <p:spPr>
          <a:xfrm>
            <a:off x="365760" y="6647688"/>
            <a:ext cx="2743200" cy="457200"/>
          </a:xfrm>
          <a:prstGeom prst="rect">
            <a:avLst/>
          </a:prstGeom>
          <a:solidFill>
            <a:srgbClr val="F2F2F2"/>
          </a:solidFill>
          <a:ln w="63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11480" y="6647688"/>
            <a:ext cx="2651760" cy="457200"/>
          </a:xfrm>
          <a:prstGeom prst="rect">
            <a:avLst/>
          </a:prstGeom>
          <a:noFill/>
        </p:spPr>
        <p:txBody>
          <a:bodyPr wrap="square">
            <a:spAutoFit/>
          </a:bodyPr>
          <a:lstStyle/>
          <a:p>
            <a:pPr algn="ctr">
              <a:spcAft>
                <a:spcPts val="200"/>
              </a:spcAft>
            </a:pPr>
            <a:r>
              <a:rPr sz="1800" b="0">
                <a:solidFill>
                  <a:srgbClr val="262626"/>
                </a:solidFill>
                <a:latin typeface="メイリオ"/>
              </a:rPr>
              <a:t>レベル3：BI・ML活用</a:t>
            </a:r>
          </a:p>
        </p:txBody>
      </p:sp>
      <p:sp>
        <p:nvSpPr>
          <p:cNvPr id="48" name="Rectangle 47"/>
          <p:cNvSpPr/>
          <p:nvPr/>
        </p:nvSpPr>
        <p:spPr>
          <a:xfrm>
            <a:off x="3108960" y="6647688"/>
            <a:ext cx="2743200" cy="457200"/>
          </a:xfrm>
          <a:prstGeom prst="rect">
            <a:avLst/>
          </a:prstGeom>
          <a:solidFill>
            <a:srgbClr val="F2F2F2"/>
          </a:solidFill>
          <a:ln w="63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154680" y="6647688"/>
            <a:ext cx="2651760" cy="457200"/>
          </a:xfrm>
          <a:prstGeom prst="rect">
            <a:avLst/>
          </a:prstGeom>
          <a:noFill/>
        </p:spPr>
        <p:txBody>
          <a:bodyPr wrap="square">
            <a:spAutoFit/>
          </a:bodyPr>
          <a:lstStyle/>
          <a:p>
            <a:pPr algn="ctr">
              <a:spcAft>
                <a:spcPts val="200"/>
              </a:spcAft>
            </a:pPr>
            <a:r>
              <a:rPr sz="1800" b="0">
                <a:solidFill>
                  <a:srgbClr val="262626"/>
                </a:solidFill>
                <a:latin typeface="メイリオ"/>
              </a:rPr>
              <a:t>予測的・自動的</a:t>
            </a:r>
          </a:p>
        </p:txBody>
      </p:sp>
      <p:sp>
        <p:nvSpPr>
          <p:cNvPr id="50" name="Rectangle 49"/>
          <p:cNvSpPr/>
          <p:nvPr/>
        </p:nvSpPr>
        <p:spPr>
          <a:xfrm>
            <a:off x="5852160" y="6647688"/>
            <a:ext cx="2286000" cy="457200"/>
          </a:xfrm>
          <a:prstGeom prst="rect">
            <a:avLst/>
          </a:prstGeom>
          <a:solidFill>
            <a:srgbClr val="F2F2F2"/>
          </a:solidFill>
          <a:ln w="63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897880" y="6647688"/>
            <a:ext cx="2194560" cy="457200"/>
          </a:xfrm>
          <a:prstGeom prst="rect">
            <a:avLst/>
          </a:prstGeom>
          <a:noFill/>
        </p:spPr>
        <p:txBody>
          <a:bodyPr wrap="square">
            <a:spAutoFit/>
          </a:bodyPr>
          <a:lstStyle/>
          <a:p>
            <a:pPr algn="ctr">
              <a:spcAft>
                <a:spcPts val="200"/>
              </a:spcAft>
            </a:pPr>
            <a:r>
              <a:rPr sz="1800" b="0">
                <a:solidFill>
                  <a:srgbClr val="262626"/>
                </a:solidFill>
                <a:latin typeface="メイリオ"/>
              </a:rPr>
              <a:t>高</a:t>
            </a:r>
          </a:p>
        </p:txBody>
      </p:sp>
      <p:sp>
        <p:nvSpPr>
          <p:cNvPr id="52" name="Rectangle 51"/>
          <p:cNvSpPr/>
          <p:nvPr/>
        </p:nvSpPr>
        <p:spPr>
          <a:xfrm>
            <a:off x="8138160" y="6647688"/>
            <a:ext cx="3383280" cy="457200"/>
          </a:xfrm>
          <a:prstGeom prst="rect">
            <a:avLst/>
          </a:prstGeom>
          <a:solidFill>
            <a:srgbClr val="F2F2F2"/>
          </a:solidFill>
          <a:ln w="63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183880" y="6647688"/>
            <a:ext cx="3291840" cy="457200"/>
          </a:xfrm>
          <a:prstGeom prst="rect">
            <a:avLst/>
          </a:prstGeom>
          <a:noFill/>
        </p:spPr>
        <p:txBody>
          <a:bodyPr wrap="square">
            <a:spAutoFit/>
          </a:bodyPr>
          <a:lstStyle/>
          <a:p>
            <a:pPr algn="ctr">
              <a:spcAft>
                <a:spcPts val="200"/>
              </a:spcAft>
            </a:pPr>
            <a:r>
              <a:rPr sz="1800" b="0">
                <a:solidFill>
                  <a:srgbClr val="262626"/>
                </a:solidFill>
                <a:latin typeface="メイリオ"/>
              </a:rPr>
              <a:t>DX先進企業</a:t>
            </a:r>
          </a:p>
        </p:txBody>
      </p:sp>
      <p:sp>
        <p:nvSpPr>
          <p:cNvPr id="54" name="Rectangle 53"/>
          <p:cNvSpPr/>
          <p:nvPr/>
        </p:nvSpPr>
        <p:spPr>
          <a:xfrm>
            <a:off x="365760" y="7123176"/>
            <a:ext cx="2743200" cy="457200"/>
          </a:xfrm>
          <a:prstGeom prst="rect">
            <a:avLst/>
          </a:prstGeom>
          <a:solidFill>
            <a:srgbClr val="FFFFFF"/>
          </a:solidFill>
          <a:ln w="63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11480" y="7123176"/>
            <a:ext cx="2651760" cy="457200"/>
          </a:xfrm>
          <a:prstGeom prst="rect">
            <a:avLst/>
          </a:prstGeom>
          <a:noFill/>
        </p:spPr>
        <p:txBody>
          <a:bodyPr wrap="square">
            <a:spAutoFit/>
          </a:bodyPr>
          <a:lstStyle/>
          <a:p>
            <a:pPr algn="ctr">
              <a:spcAft>
                <a:spcPts val="200"/>
              </a:spcAft>
            </a:pPr>
            <a:r>
              <a:rPr sz="1800" b="0">
                <a:solidFill>
                  <a:srgbClr val="262626"/>
                </a:solidFill>
                <a:latin typeface="メイリオ"/>
              </a:rPr>
              <a:t>レベル4：AI駆動経営</a:t>
            </a:r>
          </a:p>
        </p:txBody>
      </p:sp>
      <p:sp>
        <p:nvSpPr>
          <p:cNvPr id="56" name="Rectangle 55"/>
          <p:cNvSpPr/>
          <p:nvPr/>
        </p:nvSpPr>
        <p:spPr>
          <a:xfrm>
            <a:off x="3108960" y="7123176"/>
            <a:ext cx="2743200" cy="457200"/>
          </a:xfrm>
          <a:prstGeom prst="rect">
            <a:avLst/>
          </a:prstGeom>
          <a:solidFill>
            <a:srgbClr val="FFFFFF"/>
          </a:solidFill>
          <a:ln w="63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3154680" y="7123176"/>
            <a:ext cx="2651760" cy="457200"/>
          </a:xfrm>
          <a:prstGeom prst="rect">
            <a:avLst/>
          </a:prstGeom>
          <a:noFill/>
        </p:spPr>
        <p:txBody>
          <a:bodyPr wrap="square">
            <a:spAutoFit/>
          </a:bodyPr>
          <a:lstStyle/>
          <a:p>
            <a:pPr algn="ctr">
              <a:spcAft>
                <a:spcPts val="200"/>
              </a:spcAft>
            </a:pPr>
            <a:r>
              <a:rPr sz="1800" b="0">
                <a:solidFill>
                  <a:srgbClr val="262626"/>
                </a:solidFill>
                <a:latin typeface="メイリオ"/>
              </a:rPr>
              <a:t>リアルタイム最適化</a:t>
            </a:r>
          </a:p>
        </p:txBody>
      </p:sp>
      <p:sp>
        <p:nvSpPr>
          <p:cNvPr id="58" name="Rectangle 57"/>
          <p:cNvSpPr/>
          <p:nvPr/>
        </p:nvSpPr>
        <p:spPr>
          <a:xfrm>
            <a:off x="5852160" y="7123176"/>
            <a:ext cx="2286000" cy="457200"/>
          </a:xfrm>
          <a:prstGeom prst="rect">
            <a:avLst/>
          </a:prstGeom>
          <a:solidFill>
            <a:srgbClr val="FFFFFF"/>
          </a:solidFill>
          <a:ln w="63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897880" y="7123176"/>
            <a:ext cx="2194560" cy="457200"/>
          </a:xfrm>
          <a:prstGeom prst="rect">
            <a:avLst/>
          </a:prstGeom>
          <a:noFill/>
        </p:spPr>
        <p:txBody>
          <a:bodyPr wrap="square">
            <a:spAutoFit/>
          </a:bodyPr>
          <a:lstStyle/>
          <a:p>
            <a:pPr algn="ctr">
              <a:spcAft>
                <a:spcPts val="200"/>
              </a:spcAft>
            </a:pPr>
            <a:r>
              <a:rPr sz="1800" b="0">
                <a:solidFill>
                  <a:srgbClr val="262626"/>
                </a:solidFill>
                <a:latin typeface="メイリオ"/>
              </a:rPr>
              <a:t>最高</a:t>
            </a:r>
          </a:p>
        </p:txBody>
      </p:sp>
      <p:sp>
        <p:nvSpPr>
          <p:cNvPr id="60" name="Rectangle 59"/>
          <p:cNvSpPr/>
          <p:nvPr/>
        </p:nvSpPr>
        <p:spPr>
          <a:xfrm>
            <a:off x="8138160" y="7123176"/>
            <a:ext cx="3383280" cy="457200"/>
          </a:xfrm>
          <a:prstGeom prst="rect">
            <a:avLst/>
          </a:prstGeom>
          <a:solidFill>
            <a:srgbClr val="FFFFFF"/>
          </a:solidFill>
          <a:ln w="63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183880" y="7123176"/>
            <a:ext cx="3291840" cy="457200"/>
          </a:xfrm>
          <a:prstGeom prst="rect">
            <a:avLst/>
          </a:prstGeom>
          <a:noFill/>
        </p:spPr>
        <p:txBody>
          <a:bodyPr wrap="square">
            <a:spAutoFit/>
          </a:bodyPr>
          <a:lstStyle/>
          <a:p>
            <a:pPr algn="ctr">
              <a:spcAft>
                <a:spcPts val="200"/>
              </a:spcAft>
            </a:pPr>
            <a:r>
              <a:rPr sz="1800" b="0">
                <a:solidFill>
                  <a:srgbClr val="262626"/>
                </a:solidFill>
                <a:latin typeface="メイリオ"/>
              </a:rPr>
              <a:t>GAFAM・メガテック</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1551615" cy="658368"/>
          </a:xfrm>
          <a:prstGeom prst="rect">
            <a:avLst/>
          </a:prstGeom>
          <a:noFill/>
        </p:spPr>
        <p:txBody>
          <a:bodyPr wrap="square">
            <a:spAutoFit/>
          </a:bodyPr>
          <a:lstStyle/>
          <a:p>
            <a:pPr algn="l">
              <a:spcAft>
                <a:spcPts val="200"/>
              </a:spcAft>
            </a:pPr>
            <a:r>
              <a:rPr sz="2600" b="1">
                <a:solidFill>
                  <a:srgbClr val="FFFFFF"/>
                </a:solidFill>
                <a:latin typeface="メイリオ"/>
              </a:rPr>
              <a:t>データサイエンスの産業別利用例</a:t>
            </a:r>
          </a:p>
        </p:txBody>
      </p:sp>
      <p:sp>
        <p:nvSpPr>
          <p:cNvPr id="4" name="TextBox 3"/>
          <p:cNvSpPr txBox="1"/>
          <p:nvPr/>
        </p:nvSpPr>
        <p:spPr>
          <a:xfrm>
            <a:off x="320040" y="841248"/>
            <a:ext cx="11551615" cy="457200"/>
          </a:xfrm>
          <a:prstGeom prst="rect">
            <a:avLst/>
          </a:prstGeom>
          <a:noFill/>
        </p:spPr>
        <p:txBody>
          <a:bodyPr wrap="square">
            <a:spAutoFit/>
          </a:bodyPr>
          <a:lstStyle/>
          <a:p>
            <a:pPr algn="l">
              <a:spcAft>
                <a:spcPts val="200"/>
              </a:spcAft>
            </a:pPr>
            <a:r>
              <a:rPr sz="1800" b="1">
                <a:solidFill>
                  <a:srgbClr val="4472C4"/>
                </a:solidFill>
                <a:latin typeface="メイリオ"/>
              </a:rPr>
              <a:t>Industry Applications</a:t>
            </a:r>
          </a:p>
        </p:txBody>
      </p:sp>
      <p:sp>
        <p:nvSpPr>
          <p:cNvPr id="5" name="Rectangle 4"/>
          <p:cNvSpPr/>
          <p:nvPr/>
        </p:nvSpPr>
        <p:spPr>
          <a:xfrm>
            <a:off x="365760" y="1005840"/>
            <a:ext cx="3749039" cy="54864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078992"/>
            <a:ext cx="3566160" cy="502920"/>
          </a:xfrm>
          <a:prstGeom prst="rect">
            <a:avLst/>
          </a:prstGeom>
          <a:noFill/>
        </p:spPr>
        <p:txBody>
          <a:bodyPr wrap="square">
            <a:spAutoFit/>
          </a:bodyPr>
          <a:lstStyle/>
          <a:p>
            <a:pPr algn="ctr">
              <a:spcAft>
                <a:spcPts val="200"/>
              </a:spcAft>
            </a:pPr>
            <a:r>
              <a:rPr sz="2000" b="1">
                <a:solidFill>
                  <a:srgbClr val="FFFFFF"/>
                </a:solidFill>
                <a:latin typeface="メイリオ"/>
              </a:rPr>
              <a:t>ヘルスケア</a:t>
            </a:r>
          </a:p>
        </p:txBody>
      </p:sp>
      <p:sp>
        <p:nvSpPr>
          <p:cNvPr id="7" name="Rectangle 6"/>
          <p:cNvSpPr/>
          <p:nvPr/>
        </p:nvSpPr>
        <p:spPr>
          <a:xfrm>
            <a:off x="365760" y="1554480"/>
            <a:ext cx="3749039" cy="1920240"/>
          </a:xfrm>
          <a:prstGeom prst="rect">
            <a:avLst/>
          </a:prstGeom>
          <a:solidFill>
            <a:srgbClr val="F2F2F2"/>
          </a:solidFill>
          <a:ln w="1016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645920"/>
            <a:ext cx="3566160" cy="1828800"/>
          </a:xfrm>
          <a:prstGeom prst="rect">
            <a:avLst/>
          </a:prstGeom>
          <a:noFill/>
        </p:spPr>
        <p:txBody>
          <a:bodyPr wrap="square">
            <a:spAutoFit/>
          </a:bodyPr>
          <a:lstStyle/>
          <a:p>
            <a:pPr algn="l">
              <a:spcAft>
                <a:spcPts val="200"/>
              </a:spcAft>
            </a:pPr>
            <a:r>
              <a:rPr sz="1700" b="0">
                <a:solidFill>
                  <a:srgbClr val="262626"/>
                </a:solidFill>
                <a:latin typeface="メイリオ"/>
              </a:rPr>
              <a:t>・ 病気の早期発見・診断支援（画像AI）</a:t>
            </a:r>
          </a:p>
          <a:p>
            <a:pPr algn="l">
              <a:spcAft>
                <a:spcPts val="200"/>
              </a:spcAft>
            </a:pPr>
            <a:r>
              <a:rPr sz="1700" b="0">
                <a:solidFill>
                  <a:srgbClr val="262626"/>
                </a:solidFill>
                <a:latin typeface="メイリオ"/>
              </a:rPr>
              <a:t>・ 新薬開発の候補化合物予測</a:t>
            </a:r>
          </a:p>
          <a:p>
            <a:pPr algn="l">
              <a:spcAft>
                <a:spcPts val="200"/>
              </a:spcAft>
            </a:pPr>
            <a:r>
              <a:rPr sz="1700" b="0">
                <a:solidFill>
                  <a:srgbClr val="262626"/>
                </a:solidFill>
                <a:latin typeface="メイリオ"/>
              </a:rPr>
              <a:t>・ 電子カルテのデータ分析</a:t>
            </a:r>
          </a:p>
          <a:p>
            <a:pPr algn="l">
              <a:spcAft>
                <a:spcPts val="200"/>
              </a:spcAft>
            </a:pPr>
            <a:r>
              <a:rPr sz="1700" b="0">
                <a:solidFill>
                  <a:srgbClr val="262626"/>
                </a:solidFill>
                <a:latin typeface="メイリオ"/>
              </a:rPr>
              <a:t>・ 患者リスク層別化モデル</a:t>
            </a:r>
          </a:p>
        </p:txBody>
      </p:sp>
      <p:sp>
        <p:nvSpPr>
          <p:cNvPr id="9" name="Rectangle 8"/>
          <p:cNvSpPr/>
          <p:nvPr/>
        </p:nvSpPr>
        <p:spPr>
          <a:xfrm>
            <a:off x="4297680" y="1005840"/>
            <a:ext cx="3749039" cy="548640"/>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89120" y="1078992"/>
            <a:ext cx="3566160" cy="502920"/>
          </a:xfrm>
          <a:prstGeom prst="rect">
            <a:avLst/>
          </a:prstGeom>
          <a:noFill/>
        </p:spPr>
        <p:txBody>
          <a:bodyPr wrap="square">
            <a:spAutoFit/>
          </a:bodyPr>
          <a:lstStyle/>
          <a:p>
            <a:pPr algn="ctr">
              <a:spcAft>
                <a:spcPts val="200"/>
              </a:spcAft>
            </a:pPr>
            <a:r>
              <a:rPr sz="2000" b="1">
                <a:solidFill>
                  <a:srgbClr val="FFFFFF"/>
                </a:solidFill>
                <a:latin typeface="メイリオ"/>
              </a:rPr>
              <a:t>金融</a:t>
            </a:r>
          </a:p>
        </p:txBody>
      </p:sp>
      <p:sp>
        <p:nvSpPr>
          <p:cNvPr id="11" name="Rectangle 10"/>
          <p:cNvSpPr/>
          <p:nvPr/>
        </p:nvSpPr>
        <p:spPr>
          <a:xfrm>
            <a:off x="4297680" y="1554480"/>
            <a:ext cx="3749039" cy="1920240"/>
          </a:xfrm>
          <a:prstGeom prst="rect">
            <a:avLst/>
          </a:prstGeom>
          <a:solidFill>
            <a:srgbClr val="F2F2F2"/>
          </a:solidFill>
          <a:ln w="1016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0" y="1645920"/>
            <a:ext cx="3566160" cy="1828800"/>
          </a:xfrm>
          <a:prstGeom prst="rect">
            <a:avLst/>
          </a:prstGeom>
          <a:noFill/>
        </p:spPr>
        <p:txBody>
          <a:bodyPr wrap="square">
            <a:spAutoFit/>
          </a:bodyPr>
          <a:lstStyle/>
          <a:p>
            <a:pPr algn="l">
              <a:spcAft>
                <a:spcPts val="200"/>
              </a:spcAft>
            </a:pPr>
            <a:r>
              <a:rPr sz="1700" b="0">
                <a:solidFill>
                  <a:srgbClr val="262626"/>
                </a:solidFill>
                <a:latin typeface="メイリオ"/>
              </a:rPr>
              <a:t>・ 信用リスク評価・不正行為検出</a:t>
            </a:r>
          </a:p>
          <a:p>
            <a:pPr algn="l">
              <a:spcAft>
                <a:spcPts val="200"/>
              </a:spcAft>
            </a:pPr>
            <a:r>
              <a:rPr sz="1700" b="0">
                <a:solidFill>
                  <a:srgbClr val="262626"/>
                </a:solidFill>
                <a:latin typeface="メイリオ"/>
              </a:rPr>
              <a:t>・ アルゴリズム取引・高頻度取引</a:t>
            </a:r>
          </a:p>
          <a:p>
            <a:pPr algn="l">
              <a:spcAft>
                <a:spcPts val="200"/>
              </a:spcAft>
            </a:pPr>
            <a:r>
              <a:rPr sz="1700" b="0">
                <a:solidFill>
                  <a:srgbClr val="262626"/>
                </a:solidFill>
                <a:latin typeface="メイリオ"/>
              </a:rPr>
              <a:t>・ 顧客セグメンテーション</a:t>
            </a:r>
          </a:p>
          <a:p>
            <a:pPr algn="l">
              <a:spcAft>
                <a:spcPts val="200"/>
              </a:spcAft>
            </a:pPr>
            <a:r>
              <a:rPr sz="1700" b="0">
                <a:solidFill>
                  <a:srgbClr val="262626"/>
                </a:solidFill>
                <a:latin typeface="メイリオ"/>
              </a:rPr>
              <a:t>・ 投資戦略の最適化</a:t>
            </a:r>
          </a:p>
        </p:txBody>
      </p:sp>
      <p:sp>
        <p:nvSpPr>
          <p:cNvPr id="13" name="Rectangle 12"/>
          <p:cNvSpPr/>
          <p:nvPr/>
        </p:nvSpPr>
        <p:spPr>
          <a:xfrm>
            <a:off x="8229600" y="1005840"/>
            <a:ext cx="3749039" cy="548640"/>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21040" y="1078992"/>
            <a:ext cx="3566160" cy="502920"/>
          </a:xfrm>
          <a:prstGeom prst="rect">
            <a:avLst/>
          </a:prstGeom>
          <a:noFill/>
        </p:spPr>
        <p:txBody>
          <a:bodyPr wrap="square">
            <a:spAutoFit/>
          </a:bodyPr>
          <a:lstStyle/>
          <a:p>
            <a:pPr algn="ctr">
              <a:spcAft>
                <a:spcPts val="200"/>
              </a:spcAft>
            </a:pPr>
            <a:r>
              <a:rPr sz="2000" b="1">
                <a:solidFill>
                  <a:srgbClr val="FFFFFF"/>
                </a:solidFill>
                <a:latin typeface="メイリオ"/>
              </a:rPr>
              <a:t>製造・工場</a:t>
            </a:r>
          </a:p>
        </p:txBody>
      </p:sp>
      <p:sp>
        <p:nvSpPr>
          <p:cNvPr id="15" name="Rectangle 14"/>
          <p:cNvSpPr/>
          <p:nvPr/>
        </p:nvSpPr>
        <p:spPr>
          <a:xfrm>
            <a:off x="8229600" y="1554480"/>
            <a:ext cx="3749039" cy="1920240"/>
          </a:xfrm>
          <a:prstGeom prst="rect">
            <a:avLst/>
          </a:prstGeom>
          <a:solidFill>
            <a:srgbClr val="F2F2F2"/>
          </a:solidFill>
          <a:ln w="10160">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21040" y="1645920"/>
            <a:ext cx="3566160" cy="1828800"/>
          </a:xfrm>
          <a:prstGeom prst="rect">
            <a:avLst/>
          </a:prstGeom>
          <a:noFill/>
        </p:spPr>
        <p:txBody>
          <a:bodyPr wrap="square">
            <a:spAutoFit/>
          </a:bodyPr>
          <a:lstStyle/>
          <a:p>
            <a:pPr algn="l">
              <a:spcAft>
                <a:spcPts val="200"/>
              </a:spcAft>
            </a:pPr>
            <a:r>
              <a:rPr sz="1700" b="0">
                <a:solidFill>
                  <a:srgbClr val="262626"/>
                </a:solidFill>
                <a:latin typeface="メイリオ"/>
              </a:rPr>
              <a:t>・ スマートファクトリー（IoT×AI）</a:t>
            </a:r>
          </a:p>
          <a:p>
            <a:pPr algn="l">
              <a:spcAft>
                <a:spcPts val="200"/>
              </a:spcAft>
            </a:pPr>
            <a:r>
              <a:rPr sz="1700" b="0">
                <a:solidFill>
                  <a:srgbClr val="262626"/>
                </a:solidFill>
                <a:latin typeface="メイリオ"/>
              </a:rPr>
              <a:t>・ 故障予測・予防保全</a:t>
            </a:r>
          </a:p>
          <a:p>
            <a:pPr algn="l">
              <a:spcAft>
                <a:spcPts val="200"/>
              </a:spcAft>
            </a:pPr>
            <a:r>
              <a:rPr sz="1700" b="0">
                <a:solidFill>
                  <a:srgbClr val="262626"/>
                </a:solidFill>
                <a:latin typeface="メイリオ"/>
              </a:rPr>
              <a:t>・ 工程の総合管理・最適化</a:t>
            </a:r>
          </a:p>
          <a:p>
            <a:pPr algn="l">
              <a:spcAft>
                <a:spcPts val="200"/>
              </a:spcAft>
            </a:pPr>
            <a:r>
              <a:rPr sz="1700" b="0">
                <a:solidFill>
                  <a:srgbClr val="262626"/>
                </a:solidFill>
                <a:latin typeface="メイリオ"/>
              </a:rPr>
              <a:t>・ 品質検査の自動化</a:t>
            </a:r>
          </a:p>
        </p:txBody>
      </p:sp>
      <p:sp>
        <p:nvSpPr>
          <p:cNvPr id="17" name="Rectangle 16"/>
          <p:cNvSpPr/>
          <p:nvPr/>
        </p:nvSpPr>
        <p:spPr>
          <a:xfrm>
            <a:off x="365760" y="3611880"/>
            <a:ext cx="3749039" cy="548640"/>
          </a:xfrm>
          <a:prstGeom prst="rect">
            <a:avLst/>
          </a:prstGeom>
          <a:solidFill>
            <a:srgbClr val="703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3685032"/>
            <a:ext cx="3566160" cy="502920"/>
          </a:xfrm>
          <a:prstGeom prst="rect">
            <a:avLst/>
          </a:prstGeom>
          <a:noFill/>
        </p:spPr>
        <p:txBody>
          <a:bodyPr wrap="square">
            <a:spAutoFit/>
          </a:bodyPr>
          <a:lstStyle/>
          <a:p>
            <a:pPr algn="ctr">
              <a:spcAft>
                <a:spcPts val="200"/>
              </a:spcAft>
            </a:pPr>
            <a:r>
              <a:rPr sz="2000" b="1">
                <a:solidFill>
                  <a:srgbClr val="FFFFFF"/>
                </a:solidFill>
                <a:latin typeface="メイリオ"/>
              </a:rPr>
              <a:t>農漁業</a:t>
            </a:r>
          </a:p>
        </p:txBody>
      </p:sp>
      <p:sp>
        <p:nvSpPr>
          <p:cNvPr id="19" name="Rectangle 18"/>
          <p:cNvSpPr/>
          <p:nvPr/>
        </p:nvSpPr>
        <p:spPr>
          <a:xfrm>
            <a:off x="365760" y="4160520"/>
            <a:ext cx="3749039" cy="1920240"/>
          </a:xfrm>
          <a:prstGeom prst="rect">
            <a:avLst/>
          </a:prstGeom>
          <a:solidFill>
            <a:srgbClr val="F2F2F2"/>
          </a:solidFill>
          <a:ln w="10160">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4251960"/>
            <a:ext cx="3566160" cy="1828800"/>
          </a:xfrm>
          <a:prstGeom prst="rect">
            <a:avLst/>
          </a:prstGeom>
          <a:noFill/>
        </p:spPr>
        <p:txBody>
          <a:bodyPr wrap="square">
            <a:spAutoFit/>
          </a:bodyPr>
          <a:lstStyle/>
          <a:p>
            <a:pPr algn="l">
              <a:spcAft>
                <a:spcPts val="200"/>
              </a:spcAft>
            </a:pPr>
            <a:r>
              <a:rPr sz="1700" b="0">
                <a:solidFill>
                  <a:srgbClr val="262626"/>
                </a:solidFill>
                <a:latin typeface="メイリオ"/>
              </a:rPr>
              <a:t>・ ハウス農業（温度・CO2管理）</a:t>
            </a:r>
          </a:p>
          <a:p>
            <a:pPr algn="l">
              <a:spcAft>
                <a:spcPts val="200"/>
              </a:spcAft>
            </a:pPr>
            <a:r>
              <a:rPr sz="1700" b="0">
                <a:solidFill>
                  <a:srgbClr val="262626"/>
                </a:solidFill>
                <a:latin typeface="メイリオ"/>
              </a:rPr>
              <a:t>・ 漁場予測（海水温画像処理）</a:t>
            </a:r>
          </a:p>
          <a:p>
            <a:pPr algn="l">
              <a:spcAft>
                <a:spcPts val="200"/>
              </a:spcAft>
            </a:pPr>
            <a:r>
              <a:rPr sz="1700" b="0">
                <a:solidFill>
                  <a:srgbClr val="262626"/>
                </a:solidFill>
                <a:latin typeface="メイリオ"/>
              </a:rPr>
              <a:t>・ 需要予測による廃棄ロス削減</a:t>
            </a:r>
          </a:p>
          <a:p>
            <a:pPr algn="l">
              <a:spcAft>
                <a:spcPts val="200"/>
              </a:spcAft>
            </a:pPr>
            <a:r>
              <a:rPr sz="1700" b="0">
                <a:solidFill>
                  <a:srgbClr val="262626"/>
                </a:solidFill>
                <a:latin typeface="メイリオ"/>
              </a:rPr>
              <a:t>・ ドローン・IoTによる圃場管理</a:t>
            </a:r>
          </a:p>
        </p:txBody>
      </p:sp>
      <p:sp>
        <p:nvSpPr>
          <p:cNvPr id="21" name="Rectangle 20"/>
          <p:cNvSpPr/>
          <p:nvPr/>
        </p:nvSpPr>
        <p:spPr>
          <a:xfrm>
            <a:off x="4297680" y="3611880"/>
            <a:ext cx="3749039" cy="54864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89120" y="3685032"/>
            <a:ext cx="3566160" cy="502920"/>
          </a:xfrm>
          <a:prstGeom prst="rect">
            <a:avLst/>
          </a:prstGeom>
          <a:noFill/>
        </p:spPr>
        <p:txBody>
          <a:bodyPr wrap="square">
            <a:spAutoFit/>
          </a:bodyPr>
          <a:lstStyle/>
          <a:p>
            <a:pPr algn="ctr">
              <a:spcAft>
                <a:spcPts val="200"/>
              </a:spcAft>
            </a:pPr>
            <a:r>
              <a:rPr sz="2000" b="1">
                <a:solidFill>
                  <a:srgbClr val="FFFFFF"/>
                </a:solidFill>
                <a:latin typeface="メイリオ"/>
              </a:rPr>
              <a:t>商店・流通</a:t>
            </a:r>
          </a:p>
        </p:txBody>
      </p:sp>
      <p:sp>
        <p:nvSpPr>
          <p:cNvPr id="23" name="Rectangle 22"/>
          <p:cNvSpPr/>
          <p:nvPr/>
        </p:nvSpPr>
        <p:spPr>
          <a:xfrm>
            <a:off x="4297680" y="4160520"/>
            <a:ext cx="3749039" cy="1920240"/>
          </a:xfrm>
          <a:prstGeom prst="rect">
            <a:avLst/>
          </a:prstGeom>
          <a:solidFill>
            <a:srgbClr val="F2F2F2"/>
          </a:solidFill>
          <a:ln w="1016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89120" y="4251960"/>
            <a:ext cx="3566160" cy="1828800"/>
          </a:xfrm>
          <a:prstGeom prst="rect">
            <a:avLst/>
          </a:prstGeom>
          <a:noFill/>
        </p:spPr>
        <p:txBody>
          <a:bodyPr wrap="square">
            <a:spAutoFit/>
          </a:bodyPr>
          <a:lstStyle/>
          <a:p>
            <a:pPr algn="l">
              <a:spcAft>
                <a:spcPts val="200"/>
              </a:spcAft>
            </a:pPr>
            <a:r>
              <a:rPr sz="1700" b="0">
                <a:solidFill>
                  <a:srgbClr val="262626"/>
                </a:solidFill>
                <a:latin typeface="メイリオ"/>
              </a:rPr>
              <a:t>・ 売れ筋分析（基本統計・可視化）</a:t>
            </a:r>
          </a:p>
          <a:p>
            <a:pPr algn="l">
              <a:spcAft>
                <a:spcPts val="200"/>
              </a:spcAft>
            </a:pPr>
            <a:r>
              <a:rPr sz="1700" b="0">
                <a:solidFill>
                  <a:srgbClr val="262626"/>
                </a:solidFill>
                <a:latin typeface="メイリオ"/>
              </a:rPr>
              <a:t>・ 需要予測・在庫最適化</a:t>
            </a:r>
          </a:p>
          <a:p>
            <a:pPr algn="l">
              <a:spcAft>
                <a:spcPts val="200"/>
              </a:spcAft>
            </a:pPr>
            <a:r>
              <a:rPr sz="1700" b="0">
                <a:solidFill>
                  <a:srgbClr val="262626"/>
                </a:solidFill>
                <a:latin typeface="メイリオ"/>
              </a:rPr>
              <a:t>・ 顧客行動分析・推薦システム</a:t>
            </a:r>
          </a:p>
          <a:p>
            <a:pPr algn="l">
              <a:spcAft>
                <a:spcPts val="200"/>
              </a:spcAft>
            </a:pPr>
            <a:r>
              <a:rPr sz="1700" b="0">
                <a:solidFill>
                  <a:srgbClr val="262626"/>
                </a:solidFill>
                <a:latin typeface="メイリオ"/>
              </a:rPr>
              <a:t>・ 価格最適化（ダイナミックプライシング）</a:t>
            </a:r>
          </a:p>
        </p:txBody>
      </p:sp>
      <p:sp>
        <p:nvSpPr>
          <p:cNvPr id="25" name="Rectangle 24"/>
          <p:cNvSpPr/>
          <p:nvPr/>
        </p:nvSpPr>
        <p:spPr>
          <a:xfrm>
            <a:off x="8229600" y="3611880"/>
            <a:ext cx="3749039" cy="548640"/>
          </a:xfrm>
          <a:prstGeom prst="rect">
            <a:avLst/>
          </a:prstGeom>
          <a:solidFill>
            <a:srgbClr val="0070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21040" y="3685032"/>
            <a:ext cx="3566160" cy="502920"/>
          </a:xfrm>
          <a:prstGeom prst="rect">
            <a:avLst/>
          </a:prstGeom>
          <a:noFill/>
        </p:spPr>
        <p:txBody>
          <a:bodyPr wrap="square">
            <a:spAutoFit/>
          </a:bodyPr>
          <a:lstStyle/>
          <a:p>
            <a:pPr algn="ctr">
              <a:spcAft>
                <a:spcPts val="200"/>
              </a:spcAft>
            </a:pPr>
            <a:r>
              <a:rPr sz="2000" b="1">
                <a:solidFill>
                  <a:srgbClr val="FFFFFF"/>
                </a:solidFill>
                <a:latin typeface="メイリオ"/>
              </a:rPr>
              <a:t>交通・都市</a:t>
            </a:r>
          </a:p>
        </p:txBody>
      </p:sp>
      <p:sp>
        <p:nvSpPr>
          <p:cNvPr id="27" name="Rectangle 26"/>
          <p:cNvSpPr/>
          <p:nvPr/>
        </p:nvSpPr>
        <p:spPr>
          <a:xfrm>
            <a:off x="8229600" y="4160520"/>
            <a:ext cx="3749039" cy="1920240"/>
          </a:xfrm>
          <a:prstGeom prst="rect">
            <a:avLst/>
          </a:prstGeom>
          <a:solidFill>
            <a:srgbClr val="F2F2F2"/>
          </a:solidFill>
          <a:ln w="10160">
            <a:solidFill>
              <a:srgbClr val="0070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21040" y="4251960"/>
            <a:ext cx="3566160" cy="1828800"/>
          </a:xfrm>
          <a:prstGeom prst="rect">
            <a:avLst/>
          </a:prstGeom>
          <a:noFill/>
        </p:spPr>
        <p:txBody>
          <a:bodyPr wrap="square">
            <a:spAutoFit/>
          </a:bodyPr>
          <a:lstStyle/>
          <a:p>
            <a:pPr algn="l">
              <a:spcAft>
                <a:spcPts val="200"/>
              </a:spcAft>
            </a:pPr>
            <a:r>
              <a:rPr sz="1700" b="0">
                <a:solidFill>
                  <a:srgbClr val="262626"/>
                </a:solidFill>
                <a:latin typeface="メイリオ"/>
              </a:rPr>
              <a:t>・ 交通流予測・渋滞対策</a:t>
            </a:r>
          </a:p>
          <a:p>
            <a:pPr algn="l">
              <a:spcAft>
                <a:spcPts val="200"/>
              </a:spcAft>
            </a:pPr>
            <a:r>
              <a:rPr sz="1700" b="0">
                <a:solidFill>
                  <a:srgbClr val="262626"/>
                </a:solidFill>
                <a:latin typeface="メイリオ"/>
              </a:rPr>
              <a:t>・ 公共交通スケジュール最適化</a:t>
            </a:r>
          </a:p>
          <a:p>
            <a:pPr algn="l">
              <a:spcAft>
                <a:spcPts val="200"/>
              </a:spcAft>
            </a:pPr>
            <a:r>
              <a:rPr sz="1700" b="0">
                <a:solidFill>
                  <a:srgbClr val="262626"/>
                </a:solidFill>
                <a:latin typeface="メイリオ"/>
              </a:rPr>
              <a:t>・ 自動運転（センサーデータ統合）</a:t>
            </a:r>
          </a:p>
          <a:p>
            <a:pPr algn="l">
              <a:spcAft>
                <a:spcPts val="200"/>
              </a:spcAft>
            </a:pPr>
            <a:r>
              <a:rPr sz="1700" b="0">
                <a:solidFill>
                  <a:srgbClr val="262626"/>
                </a:solidFill>
                <a:latin typeface="メイリオ"/>
              </a:rPr>
              <a:t>・ スマートシティ・エネルギー管理</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1551615" cy="658368"/>
          </a:xfrm>
          <a:prstGeom prst="rect">
            <a:avLst/>
          </a:prstGeom>
          <a:noFill/>
        </p:spPr>
        <p:txBody>
          <a:bodyPr wrap="square">
            <a:spAutoFit/>
          </a:bodyPr>
          <a:lstStyle/>
          <a:p>
            <a:pPr algn="l">
              <a:spcAft>
                <a:spcPts val="200"/>
              </a:spcAft>
            </a:pPr>
            <a:r>
              <a:rPr sz="2600" b="1">
                <a:solidFill>
                  <a:srgbClr val="FFFFFF"/>
                </a:solidFill>
                <a:latin typeface="メイリオ"/>
              </a:rPr>
              <a:t>データサイエンス × 経営学 ＝ データ経営</a:t>
            </a:r>
          </a:p>
        </p:txBody>
      </p:sp>
      <p:sp>
        <p:nvSpPr>
          <p:cNvPr id="4" name="TextBox 3"/>
          <p:cNvSpPr txBox="1"/>
          <p:nvPr/>
        </p:nvSpPr>
        <p:spPr>
          <a:xfrm>
            <a:off x="320040" y="841248"/>
            <a:ext cx="11551615" cy="457200"/>
          </a:xfrm>
          <a:prstGeom prst="rect">
            <a:avLst/>
          </a:prstGeom>
          <a:noFill/>
        </p:spPr>
        <p:txBody>
          <a:bodyPr wrap="square">
            <a:spAutoFit/>
          </a:bodyPr>
          <a:lstStyle/>
          <a:p>
            <a:pPr algn="l">
              <a:spcAft>
                <a:spcPts val="200"/>
              </a:spcAft>
            </a:pPr>
            <a:r>
              <a:rPr sz="1800" b="1">
                <a:solidFill>
                  <a:srgbClr val="4472C4"/>
                </a:solidFill>
                <a:latin typeface="メイリオ"/>
              </a:rPr>
              <a:t>Data Science × Business</a:t>
            </a:r>
          </a:p>
        </p:txBody>
      </p:sp>
      <p:sp>
        <p:nvSpPr>
          <p:cNvPr id="5" name="Rectangle 4"/>
          <p:cNvSpPr/>
          <p:nvPr/>
        </p:nvSpPr>
        <p:spPr>
          <a:xfrm>
            <a:off x="365760" y="960120"/>
            <a:ext cx="5029200" cy="5120640"/>
          </a:xfrm>
          <a:prstGeom prst="rect">
            <a:avLst/>
          </a:prstGeom>
          <a:solidFill>
            <a:srgbClr val="E1F5FE"/>
          </a:solidFill>
          <a:ln w="2540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051560"/>
            <a:ext cx="4846320" cy="594360"/>
          </a:xfrm>
          <a:prstGeom prst="rect">
            <a:avLst/>
          </a:prstGeom>
          <a:noFill/>
        </p:spPr>
        <p:txBody>
          <a:bodyPr wrap="square">
            <a:spAutoFit/>
          </a:bodyPr>
          <a:lstStyle/>
          <a:p>
            <a:pPr algn="l">
              <a:spcAft>
                <a:spcPts val="200"/>
              </a:spcAft>
            </a:pPr>
            <a:r>
              <a:rPr sz="2400" b="1">
                <a:solidFill>
                  <a:srgbClr val="4472C4"/>
                </a:solidFill>
                <a:latin typeface="メイリオ"/>
              </a:rPr>
              <a:t>データサイエンス</a:t>
            </a:r>
          </a:p>
        </p:txBody>
      </p:sp>
      <p:sp>
        <p:nvSpPr>
          <p:cNvPr id="7" name="TextBox 6"/>
          <p:cNvSpPr txBox="1"/>
          <p:nvPr/>
        </p:nvSpPr>
        <p:spPr>
          <a:xfrm>
            <a:off x="548640" y="1737360"/>
            <a:ext cx="4663440" cy="2286000"/>
          </a:xfrm>
          <a:prstGeom prst="rect">
            <a:avLst/>
          </a:prstGeom>
          <a:noFill/>
        </p:spPr>
        <p:txBody>
          <a:bodyPr wrap="square">
            <a:spAutoFit/>
          </a:bodyPr>
          <a:lstStyle/>
          <a:p>
            <a:pPr algn="l">
              <a:spcAft>
                <a:spcPts val="200"/>
              </a:spcAft>
            </a:pPr>
            <a:r>
              <a:rPr sz="2000" b="0">
                <a:solidFill>
                  <a:srgbClr val="262626"/>
                </a:solidFill>
                <a:latin typeface="メイリオ"/>
              </a:rPr>
              <a:t>・ データ収集・前処理・分析</a:t>
            </a:r>
          </a:p>
          <a:p>
            <a:pPr algn="l">
              <a:spcAft>
                <a:spcPts val="200"/>
              </a:spcAft>
            </a:pPr>
            <a:r>
              <a:rPr sz="2000" b="0">
                <a:solidFill>
                  <a:srgbClr val="262626"/>
                </a:solidFill>
                <a:latin typeface="メイリオ"/>
              </a:rPr>
              <a:t>・ 統計学・機械学習</a:t>
            </a:r>
          </a:p>
          <a:p>
            <a:pPr algn="l">
              <a:spcAft>
                <a:spcPts val="200"/>
              </a:spcAft>
            </a:pPr>
            <a:r>
              <a:rPr sz="2000" b="0">
                <a:solidFill>
                  <a:srgbClr val="262626"/>
                </a:solidFill>
                <a:latin typeface="メイリオ"/>
              </a:rPr>
              <a:t>・ 可視化・モデリング</a:t>
            </a:r>
          </a:p>
          <a:p>
            <a:pPr algn="l">
              <a:spcAft>
                <a:spcPts val="200"/>
              </a:spcAft>
            </a:pPr>
            <a:r>
              <a:rPr sz="2000" b="0">
                <a:solidFill>
                  <a:srgbClr val="262626"/>
                </a:solidFill>
                <a:latin typeface="メイリオ"/>
              </a:rPr>
              <a:t>・ Python・SQL・BI活用</a:t>
            </a:r>
          </a:p>
          <a:p>
            <a:pPr algn="l">
              <a:spcAft>
                <a:spcPts val="200"/>
              </a:spcAft>
            </a:pPr>
            <a:r>
              <a:rPr sz="2000" b="0">
                <a:solidFill>
                  <a:srgbClr val="262626"/>
                </a:solidFill>
                <a:latin typeface="メイリオ"/>
              </a:rPr>
              <a:t>・ ビッグデータ処理技術</a:t>
            </a:r>
          </a:p>
        </p:txBody>
      </p:sp>
      <p:sp>
        <p:nvSpPr>
          <p:cNvPr id="8" name="Rectangle 7"/>
          <p:cNvSpPr/>
          <p:nvPr/>
        </p:nvSpPr>
        <p:spPr>
          <a:xfrm>
            <a:off x="457200" y="4114800"/>
            <a:ext cx="4754880" cy="16459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4206240"/>
            <a:ext cx="4572000" cy="1463040"/>
          </a:xfrm>
          <a:prstGeom prst="rect">
            <a:avLst/>
          </a:prstGeom>
          <a:noFill/>
        </p:spPr>
        <p:txBody>
          <a:bodyPr wrap="square">
            <a:spAutoFit/>
          </a:bodyPr>
          <a:lstStyle/>
          <a:p>
            <a:pPr algn="l">
              <a:spcAft>
                <a:spcPts val="200"/>
              </a:spcAft>
            </a:pPr>
            <a:r>
              <a:rPr sz="1800" b="0">
                <a:solidFill>
                  <a:srgbClr val="FFFFFF"/>
                </a:solidFill>
                <a:latin typeface="メイリオ"/>
              </a:rPr>
              <a:t>適用領域：科学・金融・医療・製造</a:t>
            </a:r>
          </a:p>
          <a:p>
            <a:pPr algn="l">
              <a:spcAft>
                <a:spcPts val="200"/>
              </a:spcAft>
            </a:pPr>
            <a:r>
              <a:rPr sz="1800" b="0">
                <a:solidFill>
                  <a:srgbClr val="FFFFFF"/>
                </a:solidFill>
                <a:latin typeface="メイリオ"/>
              </a:rPr>
              <a:t>目的：データから価値・知識を引き出す</a:t>
            </a:r>
          </a:p>
          <a:p>
            <a:pPr algn="l">
              <a:spcAft>
                <a:spcPts val="200"/>
              </a:spcAft>
            </a:pPr>
            <a:r>
              <a:rPr sz="1800" b="0">
                <a:solidFill>
                  <a:srgbClr val="FFFFFF"/>
                </a:solidFill>
                <a:latin typeface="メイリオ"/>
              </a:rPr>
              <a:t>出力：予測モデル・分析レポート</a:t>
            </a:r>
          </a:p>
        </p:txBody>
      </p:sp>
      <p:sp>
        <p:nvSpPr>
          <p:cNvPr id="10" name="Rectangle 9"/>
          <p:cNvSpPr/>
          <p:nvPr/>
        </p:nvSpPr>
        <p:spPr>
          <a:xfrm>
            <a:off x="6217920" y="960120"/>
            <a:ext cx="5577840" cy="5120640"/>
          </a:xfrm>
          <a:prstGeom prst="rect">
            <a:avLst/>
          </a:prstGeom>
          <a:solidFill>
            <a:srgbClr val="E2EFDA"/>
          </a:solidFill>
          <a:ln w="2540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051560"/>
            <a:ext cx="5394960" cy="594360"/>
          </a:xfrm>
          <a:prstGeom prst="rect">
            <a:avLst/>
          </a:prstGeom>
          <a:noFill/>
        </p:spPr>
        <p:txBody>
          <a:bodyPr wrap="square">
            <a:spAutoFit/>
          </a:bodyPr>
          <a:lstStyle/>
          <a:p>
            <a:pPr algn="l">
              <a:spcAft>
                <a:spcPts val="200"/>
              </a:spcAft>
            </a:pPr>
            <a:r>
              <a:rPr sz="2400" b="1">
                <a:solidFill>
                  <a:srgbClr val="00706E"/>
                </a:solidFill>
                <a:latin typeface="メイリオ"/>
              </a:rPr>
              <a:t>経営学</a:t>
            </a:r>
          </a:p>
        </p:txBody>
      </p:sp>
      <p:sp>
        <p:nvSpPr>
          <p:cNvPr id="12" name="TextBox 11"/>
          <p:cNvSpPr txBox="1"/>
          <p:nvPr/>
        </p:nvSpPr>
        <p:spPr>
          <a:xfrm>
            <a:off x="6400800" y="1737360"/>
            <a:ext cx="5212080" cy="2286000"/>
          </a:xfrm>
          <a:prstGeom prst="rect">
            <a:avLst/>
          </a:prstGeom>
          <a:noFill/>
        </p:spPr>
        <p:txBody>
          <a:bodyPr wrap="square">
            <a:spAutoFit/>
          </a:bodyPr>
          <a:lstStyle/>
          <a:p>
            <a:pPr algn="l">
              <a:spcAft>
                <a:spcPts val="200"/>
              </a:spcAft>
            </a:pPr>
            <a:r>
              <a:rPr sz="2000" b="0">
                <a:solidFill>
                  <a:srgbClr val="262626"/>
                </a:solidFill>
                <a:latin typeface="メイリオ"/>
              </a:rPr>
              <a:t>・ 経営戦略・マーケティング</a:t>
            </a:r>
          </a:p>
          <a:p>
            <a:pPr algn="l">
              <a:spcAft>
                <a:spcPts val="200"/>
              </a:spcAft>
            </a:pPr>
            <a:r>
              <a:rPr sz="2000" b="0">
                <a:solidFill>
                  <a:srgbClr val="262626"/>
                </a:solidFill>
                <a:latin typeface="メイリオ"/>
              </a:rPr>
              <a:t>・ ファイナンス・会計分析</a:t>
            </a:r>
          </a:p>
          <a:p>
            <a:pPr algn="l">
              <a:spcAft>
                <a:spcPts val="200"/>
              </a:spcAft>
            </a:pPr>
            <a:r>
              <a:rPr sz="2000" b="0">
                <a:solidFill>
                  <a:srgbClr val="262626"/>
                </a:solidFill>
                <a:latin typeface="メイリオ"/>
              </a:rPr>
              <a:t>・ 組織・人事・オペレーション</a:t>
            </a:r>
          </a:p>
          <a:p>
            <a:pPr algn="l">
              <a:spcAft>
                <a:spcPts val="200"/>
              </a:spcAft>
            </a:pPr>
            <a:r>
              <a:rPr sz="2000" b="0">
                <a:solidFill>
                  <a:srgbClr val="262626"/>
                </a:solidFill>
                <a:latin typeface="メイリオ"/>
              </a:rPr>
              <a:t>・ 意思決定プロセス</a:t>
            </a:r>
          </a:p>
          <a:p>
            <a:pPr algn="l">
              <a:spcAft>
                <a:spcPts val="200"/>
              </a:spcAft>
            </a:pPr>
            <a:r>
              <a:rPr sz="2000" b="0">
                <a:solidFill>
                  <a:srgbClr val="262626"/>
                </a:solidFill>
                <a:latin typeface="メイリオ"/>
              </a:rPr>
              <a:t>・ 競争優位の構築</a:t>
            </a:r>
          </a:p>
        </p:txBody>
      </p:sp>
      <p:sp>
        <p:nvSpPr>
          <p:cNvPr id="13" name="Rectangle 12"/>
          <p:cNvSpPr/>
          <p:nvPr/>
        </p:nvSpPr>
        <p:spPr>
          <a:xfrm>
            <a:off x="6309360" y="4114800"/>
            <a:ext cx="5303520" cy="1645920"/>
          </a:xfrm>
          <a:prstGeom prst="rect">
            <a:avLst/>
          </a:prstGeom>
          <a:solidFill>
            <a:srgbClr val="0070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4206240"/>
            <a:ext cx="5120640" cy="1463040"/>
          </a:xfrm>
          <a:prstGeom prst="rect">
            <a:avLst/>
          </a:prstGeom>
          <a:noFill/>
        </p:spPr>
        <p:txBody>
          <a:bodyPr wrap="square">
            <a:spAutoFit/>
          </a:bodyPr>
          <a:lstStyle/>
          <a:p>
            <a:pPr algn="l">
              <a:spcAft>
                <a:spcPts val="200"/>
              </a:spcAft>
            </a:pPr>
            <a:r>
              <a:rPr sz="1800" b="0">
                <a:solidFill>
                  <a:srgbClr val="FFFFFF"/>
                </a:solidFill>
                <a:latin typeface="メイリオ"/>
              </a:rPr>
              <a:t>適用領域：企業・組織・市場</a:t>
            </a:r>
          </a:p>
          <a:p>
            <a:pPr algn="l">
              <a:spcAft>
                <a:spcPts val="200"/>
              </a:spcAft>
            </a:pPr>
            <a:r>
              <a:rPr sz="1800" b="0">
                <a:solidFill>
                  <a:srgbClr val="FFFFFF"/>
                </a:solidFill>
                <a:latin typeface="メイリオ"/>
              </a:rPr>
              <a:t>目的：経営判断・競争力向上</a:t>
            </a:r>
          </a:p>
          <a:p>
            <a:pPr algn="l">
              <a:spcAft>
                <a:spcPts val="200"/>
              </a:spcAft>
            </a:pPr>
            <a:r>
              <a:rPr sz="1800" b="0">
                <a:solidFill>
                  <a:srgbClr val="FFFFFF"/>
                </a:solidFill>
                <a:latin typeface="メイリオ"/>
              </a:rPr>
              <a:t>出力：戦略提言・KPI管理・利益最大化</a:t>
            </a:r>
          </a:p>
        </p:txBody>
      </p:sp>
      <p:sp>
        <p:nvSpPr>
          <p:cNvPr id="15" name="Rectangle 14"/>
          <p:cNvSpPr/>
          <p:nvPr/>
        </p:nvSpPr>
        <p:spPr>
          <a:xfrm>
            <a:off x="5212080" y="2286000"/>
            <a:ext cx="1554480" cy="1828800"/>
          </a:xfrm>
          <a:prstGeom prst="rect">
            <a:avLst/>
          </a:prstGeom>
          <a:solidFill>
            <a:srgbClr val="B88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03520" y="2377440"/>
            <a:ext cx="1371600" cy="1645920"/>
          </a:xfrm>
          <a:prstGeom prst="rect">
            <a:avLst/>
          </a:prstGeom>
          <a:noFill/>
        </p:spPr>
        <p:txBody>
          <a:bodyPr wrap="square">
            <a:spAutoFit/>
          </a:bodyPr>
          <a:lstStyle/>
          <a:p>
            <a:pPr algn="ctr">
              <a:spcAft>
                <a:spcPts val="200"/>
              </a:spcAft>
            </a:pPr>
            <a:r>
              <a:rPr sz="2000" b="1">
                <a:solidFill>
                  <a:srgbClr val="FFFFFF"/>
                </a:solidFill>
                <a:latin typeface="メイリオ"/>
              </a:rPr>
              <a:t>データ
経営
（融合）</a:t>
            </a:r>
          </a:p>
        </p:txBody>
      </p:sp>
      <p:sp>
        <p:nvSpPr>
          <p:cNvPr id="17" name="Rectangle 16"/>
          <p:cNvSpPr/>
          <p:nvPr/>
        </p:nvSpPr>
        <p:spPr>
          <a:xfrm>
            <a:off x="365760" y="6172200"/>
            <a:ext cx="11430000" cy="50292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6217920"/>
            <a:ext cx="11247120" cy="438912"/>
          </a:xfrm>
          <a:prstGeom prst="rect">
            <a:avLst/>
          </a:prstGeom>
          <a:noFill/>
        </p:spPr>
        <p:txBody>
          <a:bodyPr wrap="square">
            <a:spAutoFit/>
          </a:bodyPr>
          <a:lstStyle/>
          <a:p>
            <a:pPr algn="ctr">
              <a:spcAft>
                <a:spcPts val="200"/>
              </a:spcAft>
            </a:pPr>
            <a:r>
              <a:rPr sz="1900" b="1">
                <a:solidFill>
                  <a:srgbClr val="FFFFFF"/>
                </a:solidFill>
                <a:latin typeface="メイリオ"/>
              </a:rPr>
              <a:t>AI経営 ≈ データドリブン経営 + 自動化　— 生成AI時代の経営の新潮流</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1551615" cy="658368"/>
          </a:xfrm>
          <a:prstGeom prst="rect">
            <a:avLst/>
          </a:prstGeom>
          <a:noFill/>
        </p:spPr>
        <p:txBody>
          <a:bodyPr wrap="square">
            <a:spAutoFit/>
          </a:bodyPr>
          <a:lstStyle/>
          <a:p>
            <a:pPr algn="l">
              <a:spcAft>
                <a:spcPts val="200"/>
              </a:spcAft>
            </a:pPr>
            <a:r>
              <a:rPr sz="2600" b="1">
                <a:solidFill>
                  <a:srgbClr val="FFFFFF"/>
                </a:solidFill>
                <a:latin typeface="メイリオ"/>
              </a:rPr>
              <a:t>生成AIとLLM（大規模言語モデル）</a:t>
            </a:r>
          </a:p>
        </p:txBody>
      </p:sp>
      <p:sp>
        <p:nvSpPr>
          <p:cNvPr id="4" name="TextBox 3"/>
          <p:cNvSpPr txBox="1"/>
          <p:nvPr/>
        </p:nvSpPr>
        <p:spPr>
          <a:xfrm>
            <a:off x="320040" y="841248"/>
            <a:ext cx="11551615" cy="457200"/>
          </a:xfrm>
          <a:prstGeom prst="rect">
            <a:avLst/>
          </a:prstGeom>
          <a:noFill/>
        </p:spPr>
        <p:txBody>
          <a:bodyPr wrap="square">
            <a:spAutoFit/>
          </a:bodyPr>
          <a:lstStyle/>
          <a:p>
            <a:pPr algn="l">
              <a:spcAft>
                <a:spcPts val="200"/>
              </a:spcAft>
            </a:pPr>
            <a:r>
              <a:rPr sz="1800" b="1">
                <a:solidFill>
                  <a:srgbClr val="4472C4"/>
                </a:solidFill>
                <a:latin typeface="メイリオ"/>
              </a:rPr>
              <a:t>Generative AI &amp; LLM</a:t>
            </a:r>
          </a:p>
        </p:txBody>
      </p:sp>
      <p:sp>
        <p:nvSpPr>
          <p:cNvPr id="5" name="Rectangle 4"/>
          <p:cNvSpPr/>
          <p:nvPr/>
        </p:nvSpPr>
        <p:spPr>
          <a:xfrm>
            <a:off x="365760" y="960120"/>
            <a:ext cx="11430000" cy="9144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05840"/>
            <a:ext cx="11064240" cy="457200"/>
          </a:xfrm>
          <a:prstGeom prst="rect">
            <a:avLst/>
          </a:prstGeom>
          <a:noFill/>
        </p:spPr>
        <p:txBody>
          <a:bodyPr wrap="square">
            <a:spAutoFit/>
          </a:bodyPr>
          <a:lstStyle/>
          <a:p>
            <a:pPr algn="l">
              <a:spcAft>
                <a:spcPts val="200"/>
              </a:spcAft>
            </a:pPr>
            <a:r>
              <a:rPr sz="2000" b="1">
                <a:solidFill>
                  <a:srgbClr val="FFFFFF"/>
                </a:solidFill>
                <a:latin typeface="メイリオ"/>
              </a:rPr>
              <a:t>生成AIとは：既存のデータに基づいてテキスト・画像・音声・動画などを生成する技術</a:t>
            </a:r>
          </a:p>
        </p:txBody>
      </p:sp>
      <p:sp>
        <p:nvSpPr>
          <p:cNvPr id="7" name="TextBox 6"/>
          <p:cNvSpPr txBox="1"/>
          <p:nvPr/>
        </p:nvSpPr>
        <p:spPr>
          <a:xfrm>
            <a:off x="548640" y="1463040"/>
            <a:ext cx="11064240" cy="365760"/>
          </a:xfrm>
          <a:prstGeom prst="rect">
            <a:avLst/>
          </a:prstGeom>
          <a:noFill/>
        </p:spPr>
        <p:txBody>
          <a:bodyPr wrap="square">
            <a:spAutoFit/>
          </a:bodyPr>
          <a:lstStyle/>
          <a:p>
            <a:pPr algn="l">
              <a:spcAft>
                <a:spcPts val="200"/>
              </a:spcAft>
            </a:pPr>
            <a:r>
              <a:rPr sz="2000" b="0">
                <a:solidFill>
                  <a:srgbClr val="BDD7EE"/>
                </a:solidFill>
                <a:latin typeface="メイリオ"/>
              </a:rPr>
              <a:t>LLM（Large Language Model）= テキストを自動生成する大規模言語モデル</a:t>
            </a:r>
          </a:p>
        </p:txBody>
      </p:sp>
      <p:sp>
        <p:nvSpPr>
          <p:cNvPr id="8" name="Rectangle 7"/>
          <p:cNvSpPr/>
          <p:nvPr/>
        </p:nvSpPr>
        <p:spPr>
          <a:xfrm>
            <a:off x="365760" y="1965960"/>
            <a:ext cx="2788920" cy="59436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011680"/>
            <a:ext cx="2606040" cy="548640"/>
          </a:xfrm>
          <a:prstGeom prst="rect">
            <a:avLst/>
          </a:prstGeom>
          <a:noFill/>
        </p:spPr>
        <p:txBody>
          <a:bodyPr wrap="square">
            <a:spAutoFit/>
          </a:bodyPr>
          <a:lstStyle/>
          <a:p>
            <a:pPr algn="ctr">
              <a:spcAft>
                <a:spcPts val="200"/>
              </a:spcAft>
            </a:pPr>
            <a:r>
              <a:rPr sz="2000" b="1">
                <a:solidFill>
                  <a:srgbClr val="FFFFFF"/>
                </a:solidFill>
                <a:latin typeface="メイリオ"/>
              </a:rPr>
              <a:t>テキスト生成</a:t>
            </a:r>
          </a:p>
        </p:txBody>
      </p:sp>
      <p:sp>
        <p:nvSpPr>
          <p:cNvPr id="10" name="Rectangle 9"/>
          <p:cNvSpPr/>
          <p:nvPr/>
        </p:nvSpPr>
        <p:spPr>
          <a:xfrm>
            <a:off x="365760" y="2560320"/>
            <a:ext cx="2788920" cy="1645920"/>
          </a:xfrm>
          <a:prstGeom prst="rect">
            <a:avLst/>
          </a:prstGeom>
          <a:solidFill>
            <a:srgbClr val="F2F2F2"/>
          </a:solidFill>
          <a:ln w="1270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651760"/>
            <a:ext cx="2606040" cy="1554480"/>
          </a:xfrm>
          <a:prstGeom prst="rect">
            <a:avLst/>
          </a:prstGeom>
          <a:noFill/>
        </p:spPr>
        <p:txBody>
          <a:bodyPr wrap="square">
            <a:spAutoFit/>
          </a:bodyPr>
          <a:lstStyle/>
          <a:p>
            <a:pPr algn="l">
              <a:spcAft>
                <a:spcPts val="200"/>
              </a:spcAft>
            </a:pPr>
            <a:r>
              <a:rPr sz="1800" b="0">
                <a:solidFill>
                  <a:srgbClr val="262626"/>
                </a:solidFill>
                <a:latin typeface="メイリオ"/>
              </a:rPr>
              <a:t>ChatGPT / Claude / Gemini</a:t>
            </a:r>
          </a:p>
          <a:p>
            <a:pPr algn="l">
              <a:spcAft>
                <a:spcPts val="200"/>
              </a:spcAft>
            </a:pPr>
            <a:r>
              <a:rPr sz="1800" b="0">
                <a:solidFill>
                  <a:srgbClr val="262626"/>
                </a:solidFill>
                <a:latin typeface="メイリオ"/>
              </a:rPr>
              <a:t>文書作成・要約・翻訳</a:t>
            </a:r>
          </a:p>
          <a:p>
            <a:pPr algn="l">
              <a:spcAft>
                <a:spcPts val="200"/>
              </a:spcAft>
            </a:pPr>
            <a:r>
              <a:rPr sz="1800" b="0">
                <a:solidFill>
                  <a:srgbClr val="262626"/>
                </a:solidFill>
                <a:latin typeface="メイリオ"/>
              </a:rPr>
              <a:t>コード生成・デバッグ</a:t>
            </a:r>
          </a:p>
        </p:txBody>
      </p:sp>
      <p:sp>
        <p:nvSpPr>
          <p:cNvPr id="12" name="Rectangle 11"/>
          <p:cNvSpPr/>
          <p:nvPr/>
        </p:nvSpPr>
        <p:spPr>
          <a:xfrm>
            <a:off x="3291840" y="1965960"/>
            <a:ext cx="2788920" cy="594360"/>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83280" y="2011680"/>
            <a:ext cx="2606040" cy="548640"/>
          </a:xfrm>
          <a:prstGeom prst="rect">
            <a:avLst/>
          </a:prstGeom>
          <a:noFill/>
        </p:spPr>
        <p:txBody>
          <a:bodyPr wrap="square">
            <a:spAutoFit/>
          </a:bodyPr>
          <a:lstStyle/>
          <a:p>
            <a:pPr algn="ctr">
              <a:spcAft>
                <a:spcPts val="200"/>
              </a:spcAft>
            </a:pPr>
            <a:r>
              <a:rPr sz="2000" b="1">
                <a:solidFill>
                  <a:srgbClr val="FFFFFF"/>
                </a:solidFill>
                <a:latin typeface="メイリオ"/>
              </a:rPr>
              <a:t>画像生成</a:t>
            </a:r>
          </a:p>
        </p:txBody>
      </p:sp>
      <p:sp>
        <p:nvSpPr>
          <p:cNvPr id="14" name="Rectangle 13"/>
          <p:cNvSpPr/>
          <p:nvPr/>
        </p:nvSpPr>
        <p:spPr>
          <a:xfrm>
            <a:off x="3291840" y="2560320"/>
            <a:ext cx="2788920" cy="1645920"/>
          </a:xfrm>
          <a:prstGeom prst="rect">
            <a:avLst/>
          </a:prstGeom>
          <a:solidFill>
            <a:srgbClr val="F2F2F2"/>
          </a:solidFill>
          <a:ln w="1270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83280" y="2651760"/>
            <a:ext cx="2606040" cy="1554480"/>
          </a:xfrm>
          <a:prstGeom prst="rect">
            <a:avLst/>
          </a:prstGeom>
          <a:noFill/>
        </p:spPr>
        <p:txBody>
          <a:bodyPr wrap="square">
            <a:spAutoFit/>
          </a:bodyPr>
          <a:lstStyle/>
          <a:p>
            <a:pPr algn="l">
              <a:spcAft>
                <a:spcPts val="200"/>
              </a:spcAft>
            </a:pPr>
            <a:r>
              <a:rPr sz="1800" b="0">
                <a:solidFill>
                  <a:srgbClr val="262626"/>
                </a:solidFill>
                <a:latin typeface="メイリオ"/>
              </a:rPr>
              <a:t>DALL-E 3 / Midjourney</a:t>
            </a:r>
          </a:p>
          <a:p>
            <a:pPr algn="l">
              <a:spcAft>
                <a:spcPts val="200"/>
              </a:spcAft>
            </a:pPr>
            <a:r>
              <a:rPr sz="1800" b="0">
                <a:solidFill>
                  <a:srgbClr val="262626"/>
                </a:solidFill>
                <a:latin typeface="メイリオ"/>
              </a:rPr>
              <a:t>Stable Diffusion</a:t>
            </a:r>
          </a:p>
          <a:p>
            <a:pPr algn="l">
              <a:spcAft>
                <a:spcPts val="200"/>
              </a:spcAft>
            </a:pPr>
            <a:r>
              <a:rPr sz="1800" b="0">
                <a:solidFill>
                  <a:srgbClr val="262626"/>
                </a:solidFill>
                <a:latin typeface="メイリオ"/>
              </a:rPr>
              <a:t>デザイン・マーケティング素材</a:t>
            </a:r>
          </a:p>
        </p:txBody>
      </p:sp>
      <p:sp>
        <p:nvSpPr>
          <p:cNvPr id="16" name="Rectangle 15"/>
          <p:cNvSpPr/>
          <p:nvPr/>
        </p:nvSpPr>
        <p:spPr>
          <a:xfrm>
            <a:off x="6217920" y="1965960"/>
            <a:ext cx="2788920" cy="594360"/>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9360" y="2011680"/>
            <a:ext cx="2606040" cy="548640"/>
          </a:xfrm>
          <a:prstGeom prst="rect">
            <a:avLst/>
          </a:prstGeom>
          <a:noFill/>
        </p:spPr>
        <p:txBody>
          <a:bodyPr wrap="square">
            <a:spAutoFit/>
          </a:bodyPr>
          <a:lstStyle/>
          <a:p>
            <a:pPr algn="ctr">
              <a:spcAft>
                <a:spcPts val="200"/>
              </a:spcAft>
            </a:pPr>
            <a:r>
              <a:rPr sz="2000" b="1">
                <a:solidFill>
                  <a:srgbClr val="FFFFFF"/>
                </a:solidFill>
                <a:latin typeface="メイリオ"/>
              </a:rPr>
              <a:t>音声合成</a:t>
            </a:r>
          </a:p>
        </p:txBody>
      </p:sp>
      <p:sp>
        <p:nvSpPr>
          <p:cNvPr id="18" name="Rectangle 17"/>
          <p:cNvSpPr/>
          <p:nvPr/>
        </p:nvSpPr>
        <p:spPr>
          <a:xfrm>
            <a:off x="6217920" y="2560320"/>
            <a:ext cx="2788920" cy="1645920"/>
          </a:xfrm>
          <a:prstGeom prst="rect">
            <a:avLst/>
          </a:prstGeom>
          <a:solidFill>
            <a:srgbClr val="F2F2F2"/>
          </a:solidFill>
          <a:ln w="12700">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9360" y="2651760"/>
            <a:ext cx="2606040" cy="1554480"/>
          </a:xfrm>
          <a:prstGeom prst="rect">
            <a:avLst/>
          </a:prstGeom>
          <a:noFill/>
        </p:spPr>
        <p:txBody>
          <a:bodyPr wrap="square">
            <a:spAutoFit/>
          </a:bodyPr>
          <a:lstStyle/>
          <a:p>
            <a:pPr algn="l">
              <a:spcAft>
                <a:spcPts val="200"/>
              </a:spcAft>
            </a:pPr>
            <a:r>
              <a:rPr sz="1800" b="0">
                <a:solidFill>
                  <a:srgbClr val="262626"/>
                </a:solidFill>
                <a:latin typeface="メイリオ"/>
              </a:rPr>
              <a:t>ElevenLabs / VOICEVOX</a:t>
            </a:r>
          </a:p>
          <a:p>
            <a:pPr algn="l">
              <a:spcAft>
                <a:spcPts val="200"/>
              </a:spcAft>
            </a:pPr>
            <a:r>
              <a:rPr sz="1800" b="0">
                <a:solidFill>
                  <a:srgbClr val="262626"/>
                </a:solidFill>
                <a:latin typeface="メイリオ"/>
              </a:rPr>
              <a:t>テキスト→音声変換(TTS)</a:t>
            </a:r>
          </a:p>
          <a:p>
            <a:pPr algn="l">
              <a:spcAft>
                <a:spcPts val="200"/>
              </a:spcAft>
            </a:pPr>
            <a:r>
              <a:rPr sz="1800" b="0">
                <a:solidFill>
                  <a:srgbClr val="262626"/>
                </a:solidFill>
                <a:latin typeface="メイリオ"/>
              </a:rPr>
              <a:t>音声クローン・ナレーション</a:t>
            </a:r>
          </a:p>
        </p:txBody>
      </p:sp>
      <p:sp>
        <p:nvSpPr>
          <p:cNvPr id="20" name="Rectangle 19"/>
          <p:cNvSpPr/>
          <p:nvPr/>
        </p:nvSpPr>
        <p:spPr>
          <a:xfrm>
            <a:off x="9144000" y="1965960"/>
            <a:ext cx="2788920" cy="594360"/>
          </a:xfrm>
          <a:prstGeom prst="rect">
            <a:avLst/>
          </a:prstGeom>
          <a:solidFill>
            <a:srgbClr val="703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35440" y="2011680"/>
            <a:ext cx="2606040" cy="548640"/>
          </a:xfrm>
          <a:prstGeom prst="rect">
            <a:avLst/>
          </a:prstGeom>
          <a:noFill/>
        </p:spPr>
        <p:txBody>
          <a:bodyPr wrap="square">
            <a:spAutoFit/>
          </a:bodyPr>
          <a:lstStyle/>
          <a:p>
            <a:pPr algn="ctr">
              <a:spcAft>
                <a:spcPts val="200"/>
              </a:spcAft>
            </a:pPr>
            <a:r>
              <a:rPr sz="2000" b="1">
                <a:solidFill>
                  <a:srgbClr val="FFFFFF"/>
                </a:solidFill>
                <a:latin typeface="メイリオ"/>
              </a:rPr>
              <a:t>動画生成</a:t>
            </a:r>
          </a:p>
        </p:txBody>
      </p:sp>
      <p:sp>
        <p:nvSpPr>
          <p:cNvPr id="22" name="Rectangle 21"/>
          <p:cNvSpPr/>
          <p:nvPr/>
        </p:nvSpPr>
        <p:spPr>
          <a:xfrm>
            <a:off x="9144000" y="2560320"/>
            <a:ext cx="2788920" cy="1645920"/>
          </a:xfrm>
          <a:prstGeom prst="rect">
            <a:avLst/>
          </a:prstGeom>
          <a:solidFill>
            <a:srgbClr val="F2F2F2"/>
          </a:solidFill>
          <a:ln w="12700">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35440" y="2651760"/>
            <a:ext cx="2606040" cy="1554480"/>
          </a:xfrm>
          <a:prstGeom prst="rect">
            <a:avLst/>
          </a:prstGeom>
          <a:noFill/>
        </p:spPr>
        <p:txBody>
          <a:bodyPr wrap="square">
            <a:spAutoFit/>
          </a:bodyPr>
          <a:lstStyle/>
          <a:p>
            <a:pPr algn="l">
              <a:spcAft>
                <a:spcPts val="200"/>
              </a:spcAft>
            </a:pPr>
            <a:r>
              <a:rPr sz="1800" b="0">
                <a:solidFill>
                  <a:srgbClr val="262626"/>
                </a:solidFill>
                <a:latin typeface="メイリオ"/>
              </a:rPr>
              <a:t>Sora / Runway / Kling</a:t>
            </a:r>
          </a:p>
          <a:p>
            <a:pPr algn="l">
              <a:spcAft>
                <a:spcPts val="200"/>
              </a:spcAft>
            </a:pPr>
            <a:r>
              <a:rPr sz="1800" b="0">
                <a:solidFill>
                  <a:srgbClr val="262626"/>
                </a:solidFill>
                <a:latin typeface="メイリオ"/>
              </a:rPr>
              <a:t>テキスト→動画生成</a:t>
            </a:r>
          </a:p>
          <a:p>
            <a:pPr algn="l">
              <a:spcAft>
                <a:spcPts val="200"/>
              </a:spcAft>
            </a:pPr>
            <a:r>
              <a:rPr sz="1800" b="0">
                <a:solidFill>
                  <a:srgbClr val="262626"/>
                </a:solidFill>
                <a:latin typeface="メイリオ"/>
              </a:rPr>
              <a:t>広告・教育コンテンツ</a:t>
            </a:r>
          </a:p>
        </p:txBody>
      </p:sp>
      <p:sp>
        <p:nvSpPr>
          <p:cNvPr id="24" name="Rectangle 23"/>
          <p:cNvSpPr/>
          <p:nvPr/>
        </p:nvSpPr>
        <p:spPr>
          <a:xfrm>
            <a:off x="365760" y="4343400"/>
            <a:ext cx="11430000" cy="502920"/>
          </a:xfrm>
          <a:prstGeom prst="rect">
            <a:avLst/>
          </a:prstGeom>
          <a:solidFill>
            <a:srgbClr val="0070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4389120"/>
            <a:ext cx="11247120" cy="457200"/>
          </a:xfrm>
          <a:prstGeom prst="rect">
            <a:avLst/>
          </a:prstGeom>
          <a:noFill/>
        </p:spPr>
        <p:txBody>
          <a:bodyPr wrap="square">
            <a:spAutoFit/>
          </a:bodyPr>
          <a:lstStyle/>
          <a:p>
            <a:pPr algn="ctr">
              <a:spcAft>
                <a:spcPts val="200"/>
              </a:spcAft>
            </a:pPr>
            <a:r>
              <a:rPr sz="1900" b="1">
                <a:solidFill>
                  <a:srgbClr val="FFFFFF"/>
                </a:solidFill>
                <a:latin typeface="メイリオ"/>
              </a:rPr>
              <a:t>経営×生成AI：業務自動化・意思決定支援・新サービス開発に広く普及中</a:t>
            </a:r>
          </a:p>
        </p:txBody>
      </p:sp>
      <p:sp>
        <p:nvSpPr>
          <p:cNvPr id="26" name="Rectangle 25"/>
          <p:cNvSpPr/>
          <p:nvPr/>
        </p:nvSpPr>
        <p:spPr>
          <a:xfrm>
            <a:off x="365760" y="4983480"/>
            <a:ext cx="2788920" cy="50292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5029200"/>
            <a:ext cx="2606040" cy="457200"/>
          </a:xfrm>
          <a:prstGeom prst="rect">
            <a:avLst/>
          </a:prstGeom>
          <a:noFill/>
        </p:spPr>
        <p:txBody>
          <a:bodyPr wrap="square">
            <a:spAutoFit/>
          </a:bodyPr>
          <a:lstStyle/>
          <a:p>
            <a:pPr algn="ctr">
              <a:spcAft>
                <a:spcPts val="200"/>
              </a:spcAft>
            </a:pPr>
            <a:r>
              <a:rPr sz="1800" b="1">
                <a:solidFill>
                  <a:srgbClr val="FFFFFF"/>
                </a:solidFill>
                <a:latin typeface="メイリオ"/>
              </a:rPr>
              <a:t>営業・マーケ</a:t>
            </a:r>
          </a:p>
        </p:txBody>
      </p:sp>
      <p:sp>
        <p:nvSpPr>
          <p:cNvPr id="28" name="Rectangle 27"/>
          <p:cNvSpPr/>
          <p:nvPr/>
        </p:nvSpPr>
        <p:spPr>
          <a:xfrm>
            <a:off x="365760" y="5486400"/>
            <a:ext cx="2788920" cy="1188720"/>
          </a:xfrm>
          <a:prstGeom prst="rect">
            <a:avLst/>
          </a:prstGeom>
          <a:solidFill>
            <a:srgbClr val="F2F2F2"/>
          </a:solidFill>
          <a:ln w="6350">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 y="5532120"/>
            <a:ext cx="2606040" cy="1097280"/>
          </a:xfrm>
          <a:prstGeom prst="rect">
            <a:avLst/>
          </a:prstGeom>
          <a:noFill/>
        </p:spPr>
        <p:txBody>
          <a:bodyPr wrap="square">
            <a:spAutoFit/>
          </a:bodyPr>
          <a:lstStyle/>
          <a:p>
            <a:pPr algn="l">
              <a:spcAft>
                <a:spcPts val="200"/>
              </a:spcAft>
            </a:pPr>
            <a:r>
              <a:rPr sz="1600" b="0">
                <a:solidFill>
                  <a:srgbClr val="262626"/>
                </a:solidFill>
                <a:latin typeface="メイリオ"/>
              </a:rPr>
              <a:t>顧客提案書の自動生成</a:t>
            </a:r>
          </a:p>
          <a:p>
            <a:pPr algn="l">
              <a:spcAft>
                <a:spcPts val="200"/>
              </a:spcAft>
            </a:pPr>
            <a:r>
              <a:rPr sz="1600" b="0">
                <a:solidFill>
                  <a:srgbClr val="262626"/>
                </a:solidFill>
                <a:latin typeface="メイリオ"/>
              </a:rPr>
              <a:t>SNS投稿の最適化</a:t>
            </a:r>
          </a:p>
          <a:p>
            <a:pPr algn="l">
              <a:spcAft>
                <a:spcPts val="200"/>
              </a:spcAft>
            </a:pPr>
            <a:r>
              <a:rPr sz="1600" b="0">
                <a:solidFill>
                  <a:srgbClr val="262626"/>
                </a:solidFill>
                <a:latin typeface="メイリオ"/>
              </a:rPr>
              <a:t>需要予測レポート作成</a:t>
            </a:r>
          </a:p>
        </p:txBody>
      </p:sp>
      <p:sp>
        <p:nvSpPr>
          <p:cNvPr id="30" name="Rectangle 29"/>
          <p:cNvSpPr/>
          <p:nvPr/>
        </p:nvSpPr>
        <p:spPr>
          <a:xfrm>
            <a:off x="3291840" y="4983480"/>
            <a:ext cx="2788920" cy="50292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383280" y="5029200"/>
            <a:ext cx="2606040" cy="457200"/>
          </a:xfrm>
          <a:prstGeom prst="rect">
            <a:avLst/>
          </a:prstGeom>
          <a:noFill/>
        </p:spPr>
        <p:txBody>
          <a:bodyPr wrap="square">
            <a:spAutoFit/>
          </a:bodyPr>
          <a:lstStyle/>
          <a:p>
            <a:pPr algn="ctr">
              <a:spcAft>
                <a:spcPts val="200"/>
              </a:spcAft>
            </a:pPr>
            <a:r>
              <a:rPr sz="1800" b="1">
                <a:solidFill>
                  <a:srgbClr val="FFFFFF"/>
                </a:solidFill>
                <a:latin typeface="メイリオ"/>
              </a:rPr>
              <a:t>経営企画</a:t>
            </a:r>
          </a:p>
        </p:txBody>
      </p:sp>
      <p:sp>
        <p:nvSpPr>
          <p:cNvPr id="32" name="Rectangle 31"/>
          <p:cNvSpPr/>
          <p:nvPr/>
        </p:nvSpPr>
        <p:spPr>
          <a:xfrm>
            <a:off x="3291840" y="5486400"/>
            <a:ext cx="2788920" cy="1188720"/>
          </a:xfrm>
          <a:prstGeom prst="rect">
            <a:avLst/>
          </a:prstGeom>
          <a:solidFill>
            <a:srgbClr val="F2F2F2"/>
          </a:solidFill>
          <a:ln w="6350">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383280" y="5532120"/>
            <a:ext cx="2606040" cy="1097280"/>
          </a:xfrm>
          <a:prstGeom prst="rect">
            <a:avLst/>
          </a:prstGeom>
          <a:noFill/>
        </p:spPr>
        <p:txBody>
          <a:bodyPr wrap="square">
            <a:spAutoFit/>
          </a:bodyPr>
          <a:lstStyle/>
          <a:p>
            <a:pPr algn="l">
              <a:spcAft>
                <a:spcPts val="200"/>
              </a:spcAft>
            </a:pPr>
            <a:r>
              <a:rPr sz="1600" b="0">
                <a:solidFill>
                  <a:srgbClr val="262626"/>
                </a:solidFill>
                <a:latin typeface="メイリオ"/>
              </a:rPr>
              <a:t>財務分析レポート自動化</a:t>
            </a:r>
          </a:p>
          <a:p>
            <a:pPr algn="l">
              <a:spcAft>
                <a:spcPts val="200"/>
              </a:spcAft>
            </a:pPr>
            <a:r>
              <a:rPr sz="1600" b="0">
                <a:solidFill>
                  <a:srgbClr val="262626"/>
                </a:solidFill>
                <a:latin typeface="メイリオ"/>
              </a:rPr>
              <a:t>競合分析・SWOT生成</a:t>
            </a:r>
          </a:p>
          <a:p>
            <a:pPr algn="l">
              <a:spcAft>
                <a:spcPts val="200"/>
              </a:spcAft>
            </a:pPr>
            <a:r>
              <a:rPr sz="1600" b="0">
                <a:solidFill>
                  <a:srgbClr val="262626"/>
                </a:solidFill>
                <a:latin typeface="メイリオ"/>
              </a:rPr>
              <a:t>会議議事録の要約</a:t>
            </a:r>
          </a:p>
        </p:txBody>
      </p:sp>
      <p:sp>
        <p:nvSpPr>
          <p:cNvPr id="34" name="Rectangle 33"/>
          <p:cNvSpPr/>
          <p:nvPr/>
        </p:nvSpPr>
        <p:spPr>
          <a:xfrm>
            <a:off x="6217920" y="4983480"/>
            <a:ext cx="2788920" cy="50292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09360" y="5029200"/>
            <a:ext cx="2606040" cy="457200"/>
          </a:xfrm>
          <a:prstGeom prst="rect">
            <a:avLst/>
          </a:prstGeom>
          <a:noFill/>
        </p:spPr>
        <p:txBody>
          <a:bodyPr wrap="square">
            <a:spAutoFit/>
          </a:bodyPr>
          <a:lstStyle/>
          <a:p>
            <a:pPr algn="ctr">
              <a:spcAft>
                <a:spcPts val="200"/>
              </a:spcAft>
            </a:pPr>
            <a:r>
              <a:rPr sz="1800" b="1">
                <a:solidFill>
                  <a:srgbClr val="FFFFFF"/>
                </a:solidFill>
                <a:latin typeface="メイリオ"/>
              </a:rPr>
              <a:t>人事・採用</a:t>
            </a:r>
          </a:p>
        </p:txBody>
      </p:sp>
      <p:sp>
        <p:nvSpPr>
          <p:cNvPr id="36" name="Rectangle 35"/>
          <p:cNvSpPr/>
          <p:nvPr/>
        </p:nvSpPr>
        <p:spPr>
          <a:xfrm>
            <a:off x="6217920" y="5486400"/>
            <a:ext cx="2788920" cy="1188720"/>
          </a:xfrm>
          <a:prstGeom prst="rect">
            <a:avLst/>
          </a:prstGeom>
          <a:solidFill>
            <a:srgbClr val="F2F2F2"/>
          </a:solidFill>
          <a:ln w="6350">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09360" y="5532120"/>
            <a:ext cx="2606040" cy="1097280"/>
          </a:xfrm>
          <a:prstGeom prst="rect">
            <a:avLst/>
          </a:prstGeom>
          <a:noFill/>
        </p:spPr>
        <p:txBody>
          <a:bodyPr wrap="square">
            <a:spAutoFit/>
          </a:bodyPr>
          <a:lstStyle/>
          <a:p>
            <a:pPr algn="l">
              <a:spcAft>
                <a:spcPts val="200"/>
              </a:spcAft>
            </a:pPr>
            <a:r>
              <a:rPr sz="1600" b="0">
                <a:solidFill>
                  <a:srgbClr val="262626"/>
                </a:solidFill>
                <a:latin typeface="メイリオ"/>
              </a:rPr>
              <a:t>求人票・評価シート生成</a:t>
            </a:r>
          </a:p>
          <a:p>
            <a:pPr algn="l">
              <a:spcAft>
                <a:spcPts val="200"/>
              </a:spcAft>
            </a:pPr>
            <a:r>
              <a:rPr sz="1600" b="0">
                <a:solidFill>
                  <a:srgbClr val="262626"/>
                </a:solidFill>
                <a:latin typeface="メイリオ"/>
              </a:rPr>
              <a:t>研修コンテンツ作成</a:t>
            </a:r>
          </a:p>
          <a:p>
            <a:pPr algn="l">
              <a:spcAft>
                <a:spcPts val="200"/>
              </a:spcAft>
            </a:pPr>
            <a:r>
              <a:rPr sz="1600" b="0">
                <a:solidFill>
                  <a:srgbClr val="262626"/>
                </a:solidFill>
                <a:latin typeface="メイリオ"/>
              </a:rPr>
              <a:t>面接質問の最適化</a:t>
            </a:r>
          </a:p>
        </p:txBody>
      </p:sp>
      <p:sp>
        <p:nvSpPr>
          <p:cNvPr id="38" name="Rectangle 37"/>
          <p:cNvSpPr/>
          <p:nvPr/>
        </p:nvSpPr>
        <p:spPr>
          <a:xfrm>
            <a:off x="9144000" y="4983480"/>
            <a:ext cx="2788920" cy="50292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235440" y="5029200"/>
            <a:ext cx="2606040" cy="457200"/>
          </a:xfrm>
          <a:prstGeom prst="rect">
            <a:avLst/>
          </a:prstGeom>
          <a:noFill/>
        </p:spPr>
        <p:txBody>
          <a:bodyPr wrap="square">
            <a:spAutoFit/>
          </a:bodyPr>
          <a:lstStyle/>
          <a:p>
            <a:pPr algn="ctr">
              <a:spcAft>
                <a:spcPts val="200"/>
              </a:spcAft>
            </a:pPr>
            <a:r>
              <a:rPr sz="1800" b="1">
                <a:solidFill>
                  <a:srgbClr val="FFFFFF"/>
                </a:solidFill>
                <a:latin typeface="メイリオ"/>
              </a:rPr>
              <a:t>開発・IT</a:t>
            </a:r>
          </a:p>
        </p:txBody>
      </p:sp>
      <p:sp>
        <p:nvSpPr>
          <p:cNvPr id="40" name="Rectangle 39"/>
          <p:cNvSpPr/>
          <p:nvPr/>
        </p:nvSpPr>
        <p:spPr>
          <a:xfrm>
            <a:off x="9144000" y="5486400"/>
            <a:ext cx="2788920" cy="1188720"/>
          </a:xfrm>
          <a:prstGeom prst="rect">
            <a:avLst/>
          </a:prstGeom>
          <a:solidFill>
            <a:srgbClr val="F2F2F2"/>
          </a:solidFill>
          <a:ln w="6350">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235440" y="5532120"/>
            <a:ext cx="2606040" cy="1097280"/>
          </a:xfrm>
          <a:prstGeom prst="rect">
            <a:avLst/>
          </a:prstGeom>
          <a:noFill/>
        </p:spPr>
        <p:txBody>
          <a:bodyPr wrap="square">
            <a:spAutoFit/>
          </a:bodyPr>
          <a:lstStyle/>
          <a:p>
            <a:pPr algn="l">
              <a:spcAft>
                <a:spcPts val="200"/>
              </a:spcAft>
            </a:pPr>
            <a:r>
              <a:rPr sz="1600" b="0">
                <a:solidFill>
                  <a:srgbClr val="262626"/>
                </a:solidFill>
                <a:latin typeface="メイリオ"/>
              </a:rPr>
              <a:t>コード生成・レビュー</a:t>
            </a:r>
          </a:p>
          <a:p>
            <a:pPr algn="l">
              <a:spcAft>
                <a:spcPts val="200"/>
              </a:spcAft>
            </a:pPr>
            <a:r>
              <a:rPr sz="1600" b="0">
                <a:solidFill>
                  <a:srgbClr val="262626"/>
                </a:solidFill>
                <a:latin typeface="メイリオ"/>
              </a:rPr>
              <a:t>テスト自動化</a:t>
            </a:r>
          </a:p>
          <a:p>
            <a:pPr algn="l">
              <a:spcAft>
                <a:spcPts val="200"/>
              </a:spcAft>
            </a:pPr>
            <a:r>
              <a:rPr sz="1600" b="0">
                <a:solidFill>
                  <a:srgbClr val="262626"/>
                </a:solidFill>
                <a:latin typeface="メイリオ"/>
              </a:rPr>
              <a:t>ドキュメント生成</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1551615" cy="658368"/>
          </a:xfrm>
          <a:prstGeom prst="rect">
            <a:avLst/>
          </a:prstGeom>
          <a:noFill/>
        </p:spPr>
        <p:txBody>
          <a:bodyPr wrap="square">
            <a:spAutoFit/>
          </a:bodyPr>
          <a:lstStyle/>
          <a:p>
            <a:pPr algn="l">
              <a:spcAft>
                <a:spcPts val="200"/>
              </a:spcAft>
            </a:pPr>
            <a:r>
              <a:rPr sz="2600" b="1">
                <a:solidFill>
                  <a:srgbClr val="FFFFFF"/>
                </a:solidFill>
                <a:latin typeface="メイリオ"/>
              </a:rPr>
              <a:t>第1回 まとめ</a:t>
            </a:r>
          </a:p>
        </p:txBody>
      </p:sp>
      <p:sp>
        <p:nvSpPr>
          <p:cNvPr id="4" name="TextBox 3"/>
          <p:cNvSpPr txBox="1"/>
          <p:nvPr/>
        </p:nvSpPr>
        <p:spPr>
          <a:xfrm>
            <a:off x="320040" y="841248"/>
            <a:ext cx="11551615" cy="457200"/>
          </a:xfrm>
          <a:prstGeom prst="rect">
            <a:avLst/>
          </a:prstGeom>
          <a:noFill/>
        </p:spPr>
        <p:txBody>
          <a:bodyPr wrap="square">
            <a:spAutoFit/>
          </a:bodyPr>
          <a:lstStyle/>
          <a:p>
            <a:pPr algn="l">
              <a:spcAft>
                <a:spcPts val="200"/>
              </a:spcAft>
            </a:pPr>
            <a:r>
              <a:rPr sz="1800" b="1">
                <a:solidFill>
                  <a:srgbClr val="4472C4"/>
                </a:solidFill>
                <a:latin typeface="メイリオ"/>
              </a:rPr>
              <a:t>Lecture Summary</a:t>
            </a:r>
          </a:p>
        </p:txBody>
      </p:sp>
      <p:sp>
        <p:nvSpPr>
          <p:cNvPr id="5" name="Rectangle 4"/>
          <p:cNvSpPr/>
          <p:nvPr/>
        </p:nvSpPr>
        <p:spPr>
          <a:xfrm>
            <a:off x="365760" y="960120"/>
            <a:ext cx="11430000" cy="45720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005840"/>
            <a:ext cx="11247120" cy="411480"/>
          </a:xfrm>
          <a:prstGeom prst="rect">
            <a:avLst/>
          </a:prstGeom>
          <a:noFill/>
        </p:spPr>
        <p:txBody>
          <a:bodyPr wrap="square">
            <a:spAutoFit/>
          </a:bodyPr>
          <a:lstStyle/>
          <a:p>
            <a:pPr algn="l">
              <a:spcAft>
                <a:spcPts val="200"/>
              </a:spcAft>
            </a:pPr>
            <a:r>
              <a:rPr sz="2000" b="1">
                <a:solidFill>
                  <a:srgbClr val="FFFFFF"/>
                </a:solidFill>
                <a:latin typeface="メイリオ"/>
              </a:rPr>
              <a:t>今日学んだキーワード</a:t>
            </a:r>
          </a:p>
        </p:txBody>
      </p:sp>
      <p:sp>
        <p:nvSpPr>
          <p:cNvPr id="7" name="Rectangle 6"/>
          <p:cNvSpPr/>
          <p:nvPr/>
        </p:nvSpPr>
        <p:spPr>
          <a:xfrm>
            <a:off x="365760" y="1508760"/>
            <a:ext cx="2560320" cy="658368"/>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600200"/>
            <a:ext cx="2377440" cy="566928"/>
          </a:xfrm>
          <a:prstGeom prst="rect">
            <a:avLst/>
          </a:prstGeom>
          <a:noFill/>
        </p:spPr>
        <p:txBody>
          <a:bodyPr wrap="square">
            <a:spAutoFit/>
          </a:bodyPr>
          <a:lstStyle/>
          <a:p>
            <a:pPr algn="ctr">
              <a:spcAft>
                <a:spcPts val="200"/>
              </a:spcAft>
            </a:pPr>
            <a:r>
              <a:rPr sz="1900" b="1">
                <a:solidFill>
                  <a:srgbClr val="FFFFFF"/>
                </a:solidFill>
                <a:latin typeface="メイリオ"/>
              </a:rPr>
              <a:t>データ経営</a:t>
            </a:r>
          </a:p>
        </p:txBody>
      </p:sp>
      <p:sp>
        <p:nvSpPr>
          <p:cNvPr id="9" name="Rectangle 8"/>
          <p:cNvSpPr/>
          <p:nvPr/>
        </p:nvSpPr>
        <p:spPr>
          <a:xfrm>
            <a:off x="2926080" y="1508760"/>
            <a:ext cx="8869680" cy="658368"/>
          </a:xfrm>
          <a:prstGeom prst="rect">
            <a:avLst/>
          </a:prstGeom>
          <a:solidFill>
            <a:srgbClr val="F2F2F2"/>
          </a:solidFill>
          <a:ln w="381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17520" y="1600200"/>
            <a:ext cx="8686800" cy="566928"/>
          </a:xfrm>
          <a:prstGeom prst="rect">
            <a:avLst/>
          </a:prstGeom>
          <a:noFill/>
        </p:spPr>
        <p:txBody>
          <a:bodyPr wrap="square">
            <a:spAutoFit/>
          </a:bodyPr>
          <a:lstStyle/>
          <a:p>
            <a:pPr algn="l">
              <a:spcAft>
                <a:spcPts val="200"/>
              </a:spcAft>
            </a:pPr>
            <a:r>
              <a:rPr sz="1900" b="0">
                <a:solidFill>
                  <a:srgbClr val="262626"/>
                </a:solidFill>
                <a:latin typeface="メイリオ"/>
              </a:rPr>
              <a:t>データサイエンスを基礎とした科学的経営手法。意思決定の質を高める</a:t>
            </a:r>
          </a:p>
        </p:txBody>
      </p:sp>
      <p:sp>
        <p:nvSpPr>
          <p:cNvPr id="11" name="Rectangle 10"/>
          <p:cNvSpPr/>
          <p:nvPr/>
        </p:nvSpPr>
        <p:spPr>
          <a:xfrm>
            <a:off x="365760" y="2258568"/>
            <a:ext cx="2560320" cy="658368"/>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2350008"/>
            <a:ext cx="2377440" cy="566928"/>
          </a:xfrm>
          <a:prstGeom prst="rect">
            <a:avLst/>
          </a:prstGeom>
          <a:noFill/>
        </p:spPr>
        <p:txBody>
          <a:bodyPr wrap="square">
            <a:spAutoFit/>
          </a:bodyPr>
          <a:lstStyle/>
          <a:p>
            <a:pPr algn="ctr">
              <a:spcAft>
                <a:spcPts val="200"/>
              </a:spcAft>
            </a:pPr>
            <a:r>
              <a:rPr sz="1900" b="1">
                <a:solidFill>
                  <a:srgbClr val="FFFFFF"/>
                </a:solidFill>
                <a:latin typeface="メイリオ"/>
              </a:rPr>
              <a:t>データサイエンス</a:t>
            </a:r>
          </a:p>
        </p:txBody>
      </p:sp>
      <p:sp>
        <p:nvSpPr>
          <p:cNvPr id="13" name="Rectangle 12"/>
          <p:cNvSpPr/>
          <p:nvPr/>
        </p:nvSpPr>
        <p:spPr>
          <a:xfrm>
            <a:off x="2926080" y="2258568"/>
            <a:ext cx="8869680" cy="658368"/>
          </a:xfrm>
          <a:prstGeom prst="rect">
            <a:avLst/>
          </a:prstGeom>
          <a:solidFill>
            <a:srgbClr val="F2F2F2"/>
          </a:solidFill>
          <a:ln w="381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17520" y="2350008"/>
            <a:ext cx="8686800" cy="566928"/>
          </a:xfrm>
          <a:prstGeom prst="rect">
            <a:avLst/>
          </a:prstGeom>
          <a:noFill/>
        </p:spPr>
        <p:txBody>
          <a:bodyPr wrap="square">
            <a:spAutoFit/>
          </a:bodyPr>
          <a:lstStyle/>
          <a:p>
            <a:pPr algn="l">
              <a:spcAft>
                <a:spcPts val="200"/>
              </a:spcAft>
            </a:pPr>
            <a:r>
              <a:rPr sz="1900" b="0">
                <a:solidFill>
                  <a:srgbClr val="262626"/>
                </a:solidFill>
                <a:latin typeface="メイリオ"/>
              </a:rPr>
              <a:t>統計・IT・ビジネスの3分野を統合した学際的問題解決技術</a:t>
            </a:r>
          </a:p>
        </p:txBody>
      </p:sp>
      <p:sp>
        <p:nvSpPr>
          <p:cNvPr id="15" name="Rectangle 14"/>
          <p:cNvSpPr/>
          <p:nvPr/>
        </p:nvSpPr>
        <p:spPr>
          <a:xfrm>
            <a:off x="365760" y="3008376"/>
            <a:ext cx="2560320" cy="658368"/>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099816"/>
            <a:ext cx="2377440" cy="566928"/>
          </a:xfrm>
          <a:prstGeom prst="rect">
            <a:avLst/>
          </a:prstGeom>
          <a:noFill/>
        </p:spPr>
        <p:txBody>
          <a:bodyPr wrap="square">
            <a:spAutoFit/>
          </a:bodyPr>
          <a:lstStyle/>
          <a:p>
            <a:pPr algn="ctr">
              <a:spcAft>
                <a:spcPts val="200"/>
              </a:spcAft>
            </a:pPr>
            <a:r>
              <a:rPr sz="1900" b="1">
                <a:solidFill>
                  <a:srgbClr val="FFFFFF"/>
                </a:solidFill>
                <a:latin typeface="メイリオ"/>
              </a:rPr>
              <a:t>ビッグデータ</a:t>
            </a:r>
          </a:p>
        </p:txBody>
      </p:sp>
      <p:sp>
        <p:nvSpPr>
          <p:cNvPr id="17" name="Rectangle 16"/>
          <p:cNvSpPr/>
          <p:nvPr/>
        </p:nvSpPr>
        <p:spPr>
          <a:xfrm>
            <a:off x="2926080" y="3008376"/>
            <a:ext cx="8869680" cy="658368"/>
          </a:xfrm>
          <a:prstGeom prst="rect">
            <a:avLst/>
          </a:prstGeom>
          <a:solidFill>
            <a:srgbClr val="F2F2F2"/>
          </a:solidFill>
          <a:ln w="381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17520" y="3099816"/>
            <a:ext cx="8686800" cy="566928"/>
          </a:xfrm>
          <a:prstGeom prst="rect">
            <a:avLst/>
          </a:prstGeom>
          <a:noFill/>
        </p:spPr>
        <p:txBody>
          <a:bodyPr wrap="square">
            <a:spAutoFit/>
          </a:bodyPr>
          <a:lstStyle/>
          <a:p>
            <a:pPr algn="l">
              <a:spcAft>
                <a:spcPts val="200"/>
              </a:spcAft>
            </a:pPr>
            <a:r>
              <a:rPr sz="1900" b="0">
                <a:solidFill>
                  <a:srgbClr val="262626"/>
                </a:solidFill>
                <a:latin typeface="メイリオ"/>
              </a:rPr>
              <a:t>3V（Volume・Variety・Velocity）を特徴とする大量多様なデータ</a:t>
            </a:r>
          </a:p>
        </p:txBody>
      </p:sp>
      <p:sp>
        <p:nvSpPr>
          <p:cNvPr id="19" name="Rectangle 18"/>
          <p:cNvSpPr/>
          <p:nvPr/>
        </p:nvSpPr>
        <p:spPr>
          <a:xfrm>
            <a:off x="365760" y="3758184"/>
            <a:ext cx="2560320" cy="658368"/>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3849624"/>
            <a:ext cx="2377440" cy="566928"/>
          </a:xfrm>
          <a:prstGeom prst="rect">
            <a:avLst/>
          </a:prstGeom>
          <a:noFill/>
        </p:spPr>
        <p:txBody>
          <a:bodyPr wrap="square">
            <a:spAutoFit/>
          </a:bodyPr>
          <a:lstStyle/>
          <a:p>
            <a:pPr algn="ctr">
              <a:spcAft>
                <a:spcPts val="200"/>
              </a:spcAft>
            </a:pPr>
            <a:r>
              <a:rPr sz="1900" b="1">
                <a:solidFill>
                  <a:srgbClr val="FFFFFF"/>
                </a:solidFill>
                <a:latin typeface="メイリオ"/>
              </a:rPr>
              <a:t>DXデータ活用</a:t>
            </a:r>
          </a:p>
        </p:txBody>
      </p:sp>
      <p:sp>
        <p:nvSpPr>
          <p:cNvPr id="21" name="Rectangle 20"/>
          <p:cNvSpPr/>
          <p:nvPr/>
        </p:nvSpPr>
        <p:spPr>
          <a:xfrm>
            <a:off x="2926080" y="3758184"/>
            <a:ext cx="8869680" cy="658368"/>
          </a:xfrm>
          <a:prstGeom prst="rect">
            <a:avLst/>
          </a:prstGeom>
          <a:solidFill>
            <a:srgbClr val="F2F2F2"/>
          </a:solidFill>
          <a:ln w="381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017520" y="3849624"/>
            <a:ext cx="8686800" cy="566928"/>
          </a:xfrm>
          <a:prstGeom prst="rect">
            <a:avLst/>
          </a:prstGeom>
          <a:noFill/>
        </p:spPr>
        <p:txBody>
          <a:bodyPr wrap="square">
            <a:spAutoFit/>
          </a:bodyPr>
          <a:lstStyle/>
          <a:p>
            <a:pPr algn="l">
              <a:spcAft>
                <a:spcPts val="200"/>
              </a:spcAft>
            </a:pPr>
            <a:r>
              <a:rPr sz="1900" b="0">
                <a:solidFill>
                  <a:srgbClr val="262626"/>
                </a:solidFill>
                <a:latin typeface="メイリオ"/>
              </a:rPr>
              <a:t>意思決定支援（分析）× 業務自動化（AI/ML）の2つの柱</a:t>
            </a:r>
          </a:p>
        </p:txBody>
      </p:sp>
      <p:sp>
        <p:nvSpPr>
          <p:cNvPr id="23" name="Rectangle 22"/>
          <p:cNvSpPr/>
          <p:nvPr/>
        </p:nvSpPr>
        <p:spPr>
          <a:xfrm>
            <a:off x="365760" y="4507992"/>
            <a:ext cx="2560320" cy="658368"/>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4599432"/>
            <a:ext cx="2377440" cy="566928"/>
          </a:xfrm>
          <a:prstGeom prst="rect">
            <a:avLst/>
          </a:prstGeom>
          <a:noFill/>
        </p:spPr>
        <p:txBody>
          <a:bodyPr wrap="square">
            <a:spAutoFit/>
          </a:bodyPr>
          <a:lstStyle/>
          <a:p>
            <a:pPr algn="ctr">
              <a:spcAft>
                <a:spcPts val="200"/>
              </a:spcAft>
            </a:pPr>
            <a:r>
              <a:rPr sz="1900" b="1">
                <a:solidFill>
                  <a:srgbClr val="FFFFFF"/>
                </a:solidFill>
                <a:latin typeface="メイリオ"/>
              </a:rPr>
              <a:t>生成AI・LLM</a:t>
            </a:r>
          </a:p>
        </p:txBody>
      </p:sp>
      <p:sp>
        <p:nvSpPr>
          <p:cNvPr id="25" name="Rectangle 24"/>
          <p:cNvSpPr/>
          <p:nvPr/>
        </p:nvSpPr>
        <p:spPr>
          <a:xfrm>
            <a:off x="2926080" y="4507992"/>
            <a:ext cx="8869680" cy="658368"/>
          </a:xfrm>
          <a:prstGeom prst="rect">
            <a:avLst/>
          </a:prstGeom>
          <a:solidFill>
            <a:srgbClr val="F2F2F2"/>
          </a:solidFill>
          <a:ln w="381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017520" y="4599432"/>
            <a:ext cx="8686800" cy="566928"/>
          </a:xfrm>
          <a:prstGeom prst="rect">
            <a:avLst/>
          </a:prstGeom>
          <a:noFill/>
        </p:spPr>
        <p:txBody>
          <a:bodyPr wrap="square">
            <a:spAutoFit/>
          </a:bodyPr>
          <a:lstStyle/>
          <a:p>
            <a:pPr algn="l">
              <a:spcAft>
                <a:spcPts val="200"/>
              </a:spcAft>
            </a:pPr>
            <a:r>
              <a:rPr sz="1900" b="0">
                <a:solidFill>
                  <a:srgbClr val="262626"/>
                </a:solidFill>
                <a:latin typeface="メイリオ"/>
              </a:rPr>
              <a:t>テキスト・画像・音声を生成するAI。経営全般に浸透中</a:t>
            </a:r>
          </a:p>
        </p:txBody>
      </p:sp>
      <p:sp>
        <p:nvSpPr>
          <p:cNvPr id="27" name="Rectangle 26"/>
          <p:cNvSpPr/>
          <p:nvPr/>
        </p:nvSpPr>
        <p:spPr>
          <a:xfrm>
            <a:off x="365760" y="5257800"/>
            <a:ext cx="2560320" cy="658368"/>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5349240"/>
            <a:ext cx="2377440" cy="566928"/>
          </a:xfrm>
          <a:prstGeom prst="rect">
            <a:avLst/>
          </a:prstGeom>
          <a:noFill/>
        </p:spPr>
        <p:txBody>
          <a:bodyPr wrap="square">
            <a:spAutoFit/>
          </a:bodyPr>
          <a:lstStyle/>
          <a:p>
            <a:pPr algn="ctr">
              <a:spcAft>
                <a:spcPts val="200"/>
              </a:spcAft>
            </a:pPr>
            <a:r>
              <a:rPr sz="1900" b="1">
                <a:solidFill>
                  <a:srgbClr val="FFFFFF"/>
                </a:solidFill>
                <a:latin typeface="メイリオ"/>
              </a:rPr>
              <a:t>産業別応用</a:t>
            </a:r>
          </a:p>
        </p:txBody>
      </p:sp>
      <p:sp>
        <p:nvSpPr>
          <p:cNvPr id="29" name="Rectangle 28"/>
          <p:cNvSpPr/>
          <p:nvPr/>
        </p:nvSpPr>
        <p:spPr>
          <a:xfrm>
            <a:off x="2926080" y="5257800"/>
            <a:ext cx="8869680" cy="658368"/>
          </a:xfrm>
          <a:prstGeom prst="rect">
            <a:avLst/>
          </a:prstGeom>
          <a:solidFill>
            <a:srgbClr val="F2F2F2"/>
          </a:solidFill>
          <a:ln w="381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017520" y="5349240"/>
            <a:ext cx="8686800" cy="566928"/>
          </a:xfrm>
          <a:prstGeom prst="rect">
            <a:avLst/>
          </a:prstGeom>
          <a:noFill/>
        </p:spPr>
        <p:txBody>
          <a:bodyPr wrap="square">
            <a:spAutoFit/>
          </a:bodyPr>
          <a:lstStyle/>
          <a:p>
            <a:pPr algn="l">
              <a:spcAft>
                <a:spcPts val="200"/>
              </a:spcAft>
            </a:pPr>
            <a:r>
              <a:rPr sz="1900" b="0">
                <a:solidFill>
                  <a:srgbClr val="262626"/>
                </a:solidFill>
                <a:latin typeface="メイリオ"/>
              </a:rPr>
              <a:t>ヘルスケア・金融・工場・農漁業・商店それぞれのデータ活用</a:t>
            </a:r>
          </a:p>
        </p:txBody>
      </p:sp>
      <p:sp>
        <p:nvSpPr>
          <p:cNvPr id="31" name="Rectangle 30"/>
          <p:cNvSpPr/>
          <p:nvPr/>
        </p:nvSpPr>
        <p:spPr>
          <a:xfrm>
            <a:off x="365760" y="6035040"/>
            <a:ext cx="11430000" cy="594360"/>
          </a:xfrm>
          <a:prstGeom prst="rect">
            <a:avLst/>
          </a:prstGeom>
          <a:solidFill>
            <a:srgbClr val="FFF2CC"/>
          </a:solidFill>
          <a:ln w="12700">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6080760"/>
            <a:ext cx="11247120" cy="502920"/>
          </a:xfrm>
          <a:prstGeom prst="rect">
            <a:avLst/>
          </a:prstGeom>
          <a:noFill/>
        </p:spPr>
        <p:txBody>
          <a:bodyPr wrap="square">
            <a:spAutoFit/>
          </a:bodyPr>
          <a:lstStyle/>
          <a:p>
            <a:pPr algn="l">
              <a:spcAft>
                <a:spcPts val="200"/>
              </a:spcAft>
            </a:pPr>
            <a:r>
              <a:rPr sz="2000" b="1">
                <a:solidFill>
                  <a:srgbClr val="B88600"/>
                </a:solidFill>
                <a:latin typeface="メイリオ"/>
              </a:rPr>
              <a:t>次回：データ収集・前処理の実践（Excel / Python）と基本統計量の計算</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1551615" cy="658368"/>
          </a:xfrm>
          <a:prstGeom prst="rect">
            <a:avLst/>
          </a:prstGeom>
          <a:noFill/>
        </p:spPr>
        <p:txBody>
          <a:bodyPr wrap="square">
            <a:spAutoFit/>
          </a:bodyPr>
          <a:lstStyle/>
          <a:p>
            <a:pPr algn="l">
              <a:spcAft>
                <a:spcPts val="200"/>
              </a:spcAft>
            </a:pPr>
            <a:r>
              <a:rPr sz="2600" b="1">
                <a:solidFill>
                  <a:srgbClr val="FFFFFF"/>
                </a:solidFill>
                <a:latin typeface="メイリオ"/>
              </a:rPr>
              <a:t>課題・演習</a:t>
            </a:r>
          </a:p>
        </p:txBody>
      </p:sp>
      <p:sp>
        <p:nvSpPr>
          <p:cNvPr id="4" name="TextBox 3"/>
          <p:cNvSpPr txBox="1"/>
          <p:nvPr/>
        </p:nvSpPr>
        <p:spPr>
          <a:xfrm>
            <a:off x="320040" y="841248"/>
            <a:ext cx="11551615" cy="457200"/>
          </a:xfrm>
          <a:prstGeom prst="rect">
            <a:avLst/>
          </a:prstGeom>
          <a:noFill/>
        </p:spPr>
        <p:txBody>
          <a:bodyPr wrap="square">
            <a:spAutoFit/>
          </a:bodyPr>
          <a:lstStyle/>
          <a:p>
            <a:pPr algn="l">
              <a:spcAft>
                <a:spcPts val="200"/>
              </a:spcAft>
            </a:pPr>
            <a:r>
              <a:rPr sz="1800" b="1">
                <a:solidFill>
                  <a:srgbClr val="4472C4"/>
                </a:solidFill>
                <a:latin typeface="メイリオ"/>
              </a:rPr>
              <a:t>Assignment</a:t>
            </a:r>
          </a:p>
        </p:txBody>
      </p:sp>
      <p:sp>
        <p:nvSpPr>
          <p:cNvPr id="5" name="Rectangle 4"/>
          <p:cNvSpPr/>
          <p:nvPr/>
        </p:nvSpPr>
        <p:spPr>
          <a:xfrm>
            <a:off x="365760" y="960120"/>
            <a:ext cx="11430000" cy="594360"/>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005840"/>
            <a:ext cx="11247120" cy="548640"/>
          </a:xfrm>
          <a:prstGeom prst="rect">
            <a:avLst/>
          </a:prstGeom>
          <a:noFill/>
        </p:spPr>
        <p:txBody>
          <a:bodyPr wrap="square">
            <a:spAutoFit/>
          </a:bodyPr>
          <a:lstStyle/>
          <a:p>
            <a:pPr algn="l">
              <a:spcAft>
                <a:spcPts val="200"/>
              </a:spcAft>
            </a:pPr>
            <a:r>
              <a:rPr sz="2100" b="1">
                <a:solidFill>
                  <a:srgbClr val="FFFFFF"/>
                </a:solidFill>
                <a:latin typeface="メイリオ"/>
              </a:rPr>
              <a:t>【課題】日常で使われるデータを考え、簡単なデータ分析を行いプレゼン資料を作成する</a:t>
            </a:r>
          </a:p>
        </p:txBody>
      </p:sp>
      <p:sp>
        <p:nvSpPr>
          <p:cNvPr id="7" name="Rectangle 6"/>
          <p:cNvSpPr/>
          <p:nvPr/>
        </p:nvSpPr>
        <p:spPr>
          <a:xfrm>
            <a:off x="365760" y="1691640"/>
            <a:ext cx="11430000" cy="2286000"/>
          </a:xfrm>
          <a:prstGeom prst="rect">
            <a:avLst/>
          </a:prstGeom>
          <a:solidFill>
            <a:srgbClr val="F2F2F2"/>
          </a:solidFill>
          <a:ln w="1270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783080"/>
            <a:ext cx="11247120" cy="457200"/>
          </a:xfrm>
          <a:prstGeom prst="rect">
            <a:avLst/>
          </a:prstGeom>
          <a:noFill/>
        </p:spPr>
        <p:txBody>
          <a:bodyPr wrap="square">
            <a:spAutoFit/>
          </a:bodyPr>
          <a:lstStyle/>
          <a:p>
            <a:pPr algn="l">
              <a:spcAft>
                <a:spcPts val="200"/>
              </a:spcAft>
            </a:pPr>
            <a:r>
              <a:rPr sz="2000" b="1">
                <a:solidFill>
                  <a:srgbClr val="1F3864"/>
                </a:solidFill>
                <a:latin typeface="メイリオ"/>
              </a:rPr>
              <a:t>■ 身近なデータ例（いずれかを選択）</a:t>
            </a:r>
          </a:p>
        </p:txBody>
      </p:sp>
      <p:sp>
        <p:nvSpPr>
          <p:cNvPr id="9" name="TextBox 8"/>
          <p:cNvSpPr txBox="1"/>
          <p:nvPr/>
        </p:nvSpPr>
        <p:spPr>
          <a:xfrm>
            <a:off x="548640" y="2286000"/>
            <a:ext cx="10972800" cy="1554480"/>
          </a:xfrm>
          <a:prstGeom prst="rect">
            <a:avLst/>
          </a:prstGeom>
          <a:noFill/>
        </p:spPr>
        <p:txBody>
          <a:bodyPr wrap="square">
            <a:spAutoFit/>
          </a:bodyPr>
          <a:lstStyle/>
          <a:p>
            <a:pPr algn="l">
              <a:spcAft>
                <a:spcPts val="200"/>
              </a:spcAft>
            </a:pPr>
            <a:r>
              <a:rPr sz="1900" b="0">
                <a:solidFill>
                  <a:srgbClr val="262626"/>
                </a:solidFill>
                <a:latin typeface="メイリオ"/>
              </a:rPr>
              <a:t>・ アルバイト先のハンバーガー店の売上（時間帯別・日別・月別）</a:t>
            </a:r>
          </a:p>
          <a:p>
            <a:pPr algn="l">
              <a:spcAft>
                <a:spcPts val="200"/>
              </a:spcAft>
            </a:pPr>
            <a:r>
              <a:rPr sz="1900" b="0">
                <a:solidFill>
                  <a:srgbClr val="262626"/>
                </a:solidFill>
                <a:latin typeface="メイリオ"/>
              </a:rPr>
              <a:t>・ 通学に使う駅の乗降者数（平日・週間・季節変動）</a:t>
            </a:r>
          </a:p>
          <a:p>
            <a:pPr algn="l">
              <a:spcAft>
                <a:spcPts val="200"/>
              </a:spcAft>
            </a:pPr>
            <a:r>
              <a:rPr sz="1900" b="0">
                <a:solidFill>
                  <a:srgbClr val="262626"/>
                </a:solidFill>
                <a:latin typeface="メイリオ"/>
              </a:rPr>
              <a:t>・ 自分のお小遣い・出費の記録</a:t>
            </a:r>
          </a:p>
          <a:p>
            <a:pPr algn="l">
              <a:spcAft>
                <a:spcPts val="200"/>
              </a:spcAft>
            </a:pPr>
            <a:r>
              <a:rPr sz="1900" b="0">
                <a:solidFill>
                  <a:srgbClr val="262626"/>
                </a:solidFill>
                <a:latin typeface="メイリオ"/>
              </a:rPr>
              <a:t>・ 好きなスポーツチームの成績データ</a:t>
            </a:r>
          </a:p>
          <a:p>
            <a:pPr algn="l">
              <a:spcAft>
                <a:spcPts val="200"/>
              </a:spcAft>
            </a:pPr>
            <a:r>
              <a:rPr sz="1900" b="0">
                <a:solidFill>
                  <a:srgbClr val="262626"/>
                </a:solidFill>
                <a:latin typeface="メイリオ"/>
              </a:rPr>
              <a:t>・ SNSのフォロワー数・いいね数の推移</a:t>
            </a:r>
          </a:p>
        </p:txBody>
      </p:sp>
      <p:sp>
        <p:nvSpPr>
          <p:cNvPr id="10" name="Rectangle 9"/>
          <p:cNvSpPr/>
          <p:nvPr/>
        </p:nvSpPr>
        <p:spPr>
          <a:xfrm>
            <a:off x="365760" y="4114800"/>
            <a:ext cx="5486400" cy="2468880"/>
          </a:xfrm>
          <a:prstGeom prst="rect">
            <a:avLst/>
          </a:prstGeom>
          <a:solidFill>
            <a:srgbClr val="E1F5FE"/>
          </a:solidFill>
          <a:ln w="1270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4206240"/>
            <a:ext cx="5303520" cy="502920"/>
          </a:xfrm>
          <a:prstGeom prst="rect">
            <a:avLst/>
          </a:prstGeom>
          <a:noFill/>
        </p:spPr>
        <p:txBody>
          <a:bodyPr wrap="square">
            <a:spAutoFit/>
          </a:bodyPr>
          <a:lstStyle/>
          <a:p>
            <a:pPr algn="l">
              <a:spcAft>
                <a:spcPts val="200"/>
              </a:spcAft>
            </a:pPr>
            <a:r>
              <a:rPr sz="2000" b="1">
                <a:solidFill>
                  <a:srgbClr val="1F3864"/>
                </a:solidFill>
                <a:latin typeface="メイリオ"/>
              </a:rPr>
              <a:t>■ プレゼン資料の構成</a:t>
            </a:r>
          </a:p>
        </p:txBody>
      </p:sp>
      <p:sp>
        <p:nvSpPr>
          <p:cNvPr id="12" name="TextBox 11"/>
          <p:cNvSpPr txBox="1"/>
          <p:nvPr/>
        </p:nvSpPr>
        <p:spPr>
          <a:xfrm>
            <a:off x="548640" y="4754880"/>
            <a:ext cx="5212080" cy="1645920"/>
          </a:xfrm>
          <a:prstGeom prst="rect">
            <a:avLst/>
          </a:prstGeom>
          <a:noFill/>
        </p:spPr>
        <p:txBody>
          <a:bodyPr wrap="square">
            <a:spAutoFit/>
          </a:bodyPr>
          <a:lstStyle/>
          <a:p>
            <a:pPr algn="l">
              <a:spcAft>
                <a:spcPts val="200"/>
              </a:spcAft>
            </a:pPr>
            <a:r>
              <a:rPr sz="1800" b="0">
                <a:solidFill>
                  <a:srgbClr val="262626"/>
                </a:solidFill>
                <a:latin typeface="メイリオ"/>
              </a:rPr>
              <a:t>① 選んだデータの説明（何のデータか）</a:t>
            </a:r>
          </a:p>
          <a:p>
            <a:pPr algn="l">
              <a:spcAft>
                <a:spcPts val="200"/>
              </a:spcAft>
            </a:pPr>
            <a:r>
              <a:rPr sz="1800" b="0">
                <a:solidFill>
                  <a:srgbClr val="262626"/>
                </a:solidFill>
                <a:latin typeface="メイリオ"/>
              </a:rPr>
              <a:t>② データの収集方法</a:t>
            </a:r>
          </a:p>
          <a:p>
            <a:pPr algn="l">
              <a:spcAft>
                <a:spcPts val="200"/>
              </a:spcAft>
            </a:pPr>
            <a:r>
              <a:rPr sz="1800" b="0">
                <a:solidFill>
                  <a:srgbClr val="262626"/>
                </a:solidFill>
                <a:latin typeface="メイリオ"/>
              </a:rPr>
              <a:t>③ データの可視化（グラフ・表）</a:t>
            </a:r>
          </a:p>
          <a:p>
            <a:pPr algn="l">
              <a:spcAft>
                <a:spcPts val="200"/>
              </a:spcAft>
            </a:pPr>
            <a:r>
              <a:rPr sz="1800" b="0">
                <a:solidFill>
                  <a:srgbClr val="262626"/>
                </a:solidFill>
                <a:latin typeface="メイリオ"/>
              </a:rPr>
              <a:t>④ わかったこと・気づき</a:t>
            </a:r>
          </a:p>
          <a:p>
            <a:pPr algn="l">
              <a:spcAft>
                <a:spcPts val="200"/>
              </a:spcAft>
            </a:pPr>
            <a:r>
              <a:rPr sz="1800" b="0">
                <a:solidFill>
                  <a:srgbClr val="262626"/>
                </a:solidFill>
                <a:latin typeface="メイリオ"/>
              </a:rPr>
              <a:t>⑤ 今後どう活用できるか</a:t>
            </a:r>
          </a:p>
        </p:txBody>
      </p:sp>
      <p:sp>
        <p:nvSpPr>
          <p:cNvPr id="13" name="Rectangle 12"/>
          <p:cNvSpPr/>
          <p:nvPr/>
        </p:nvSpPr>
        <p:spPr>
          <a:xfrm>
            <a:off x="6217920" y="4114800"/>
            <a:ext cx="5577840" cy="2468880"/>
          </a:xfrm>
          <a:prstGeom prst="rect">
            <a:avLst/>
          </a:prstGeom>
          <a:solidFill>
            <a:srgbClr val="FFF2CC"/>
          </a:solidFill>
          <a:ln w="12700">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0" y="4206240"/>
            <a:ext cx="5394960" cy="502920"/>
          </a:xfrm>
          <a:prstGeom prst="rect">
            <a:avLst/>
          </a:prstGeom>
          <a:noFill/>
        </p:spPr>
        <p:txBody>
          <a:bodyPr wrap="square">
            <a:spAutoFit/>
          </a:bodyPr>
          <a:lstStyle/>
          <a:p>
            <a:pPr algn="l">
              <a:spcAft>
                <a:spcPts val="200"/>
              </a:spcAft>
            </a:pPr>
            <a:r>
              <a:rPr sz="2000" b="1">
                <a:solidFill>
                  <a:srgbClr val="B88600"/>
                </a:solidFill>
                <a:latin typeface="メイリオ"/>
              </a:rPr>
              <a:t>■ 提出方法・期限</a:t>
            </a:r>
          </a:p>
        </p:txBody>
      </p:sp>
      <p:sp>
        <p:nvSpPr>
          <p:cNvPr id="15" name="TextBox 14"/>
          <p:cNvSpPr txBox="1"/>
          <p:nvPr/>
        </p:nvSpPr>
        <p:spPr>
          <a:xfrm>
            <a:off x="6309360" y="4754880"/>
            <a:ext cx="5394960" cy="1645920"/>
          </a:xfrm>
          <a:prstGeom prst="rect">
            <a:avLst/>
          </a:prstGeom>
          <a:noFill/>
        </p:spPr>
        <p:txBody>
          <a:bodyPr wrap="square">
            <a:spAutoFit/>
          </a:bodyPr>
          <a:lstStyle/>
          <a:p>
            <a:pPr algn="l">
              <a:spcAft>
                <a:spcPts val="200"/>
              </a:spcAft>
            </a:pPr>
            <a:r>
              <a:rPr sz="1800" b="0">
                <a:solidFill>
                  <a:srgbClr val="262626"/>
                </a:solidFill>
                <a:latin typeface="メイリオ"/>
              </a:rPr>
              <a:t>・ 今日は提出なし（次回から）</a:t>
            </a:r>
          </a:p>
          <a:p>
            <a:pPr algn="l">
              <a:spcAft>
                <a:spcPts val="200"/>
              </a:spcAft>
            </a:pPr>
            <a:r>
              <a:rPr sz="1800" b="0">
                <a:solidFill>
                  <a:srgbClr val="262626"/>
                </a:solidFill>
                <a:latin typeface="メイリオ"/>
              </a:rPr>
              <a:t>・ PowerPoint または PDF で提出</a:t>
            </a:r>
          </a:p>
          <a:p>
            <a:pPr algn="l">
              <a:spcAft>
                <a:spcPts val="200"/>
              </a:spcAft>
            </a:pPr>
            <a:r>
              <a:rPr sz="1800" b="0">
                <a:solidFill>
                  <a:srgbClr val="262626"/>
                </a:solidFill>
                <a:latin typeface="メイリオ"/>
              </a:rPr>
              <a:t>・ 5〜8スライドでまとめる</a:t>
            </a:r>
          </a:p>
          <a:p>
            <a:pPr algn="l">
              <a:spcAft>
                <a:spcPts val="200"/>
              </a:spcAft>
            </a:pPr>
            <a:r>
              <a:rPr sz="1800" b="0">
                <a:solidFill>
                  <a:srgbClr val="262626"/>
                </a:solidFill>
                <a:latin typeface="メイリオ"/>
              </a:rPr>
              <a:t>・ データソースを明記すること</a:t>
            </a:r>
          </a:p>
        </p:txBody>
      </p:sp>
      <p:sp>
        <p:nvSpPr>
          <p:cNvPr id="16" name="Rectangle 15"/>
          <p:cNvSpPr/>
          <p:nvPr/>
        </p:nvSpPr>
        <p:spPr>
          <a:xfrm>
            <a:off x="365760" y="6629400"/>
            <a:ext cx="11430000" cy="45720"/>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1551615" cy="658368"/>
          </a:xfrm>
          <a:prstGeom prst="rect">
            <a:avLst/>
          </a:prstGeom>
          <a:noFill/>
        </p:spPr>
        <p:txBody>
          <a:bodyPr wrap="square">
            <a:spAutoFit/>
          </a:bodyPr>
          <a:lstStyle/>
          <a:p>
            <a:pPr algn="l">
              <a:spcAft>
                <a:spcPts val="200"/>
              </a:spcAft>
            </a:pPr>
            <a:r>
              <a:rPr sz="2600" b="1">
                <a:solidFill>
                  <a:srgbClr val="FFFFFF"/>
                </a:solidFill>
                <a:latin typeface="メイリオ"/>
              </a:rPr>
              <a:t>国内企業のデータ経営成功事例</a:t>
            </a:r>
          </a:p>
        </p:txBody>
      </p:sp>
      <p:sp>
        <p:nvSpPr>
          <p:cNvPr id="4" name="TextBox 3"/>
          <p:cNvSpPr txBox="1"/>
          <p:nvPr/>
        </p:nvSpPr>
        <p:spPr>
          <a:xfrm>
            <a:off x="320040" y="841248"/>
            <a:ext cx="11551615" cy="457200"/>
          </a:xfrm>
          <a:prstGeom prst="rect">
            <a:avLst/>
          </a:prstGeom>
          <a:noFill/>
        </p:spPr>
        <p:txBody>
          <a:bodyPr wrap="square">
            <a:spAutoFit/>
          </a:bodyPr>
          <a:lstStyle/>
          <a:p>
            <a:pPr algn="l">
              <a:spcAft>
                <a:spcPts val="200"/>
              </a:spcAft>
            </a:pPr>
            <a:r>
              <a:rPr sz="1800" b="1">
                <a:solidFill>
                  <a:srgbClr val="4472C4"/>
                </a:solidFill>
                <a:latin typeface="メイリオ"/>
              </a:rPr>
              <a:t>Japanese Data-Driven Management Cases</a:t>
            </a:r>
          </a:p>
        </p:txBody>
      </p:sp>
      <p:sp>
        <p:nvSpPr>
          <p:cNvPr id="5" name="Rectangle 4"/>
          <p:cNvSpPr/>
          <p:nvPr/>
        </p:nvSpPr>
        <p:spPr>
          <a:xfrm>
            <a:off x="365760" y="960120"/>
            <a:ext cx="2788920" cy="59436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38912" y="1005840"/>
            <a:ext cx="2651760" cy="320040"/>
          </a:xfrm>
          <a:prstGeom prst="rect">
            <a:avLst/>
          </a:prstGeom>
          <a:noFill/>
        </p:spPr>
        <p:txBody>
          <a:bodyPr wrap="square">
            <a:spAutoFit/>
          </a:bodyPr>
          <a:lstStyle/>
          <a:p>
            <a:pPr algn="ctr">
              <a:spcAft>
                <a:spcPts val="200"/>
              </a:spcAft>
            </a:pPr>
            <a:r>
              <a:rPr sz="1700" b="1">
                <a:solidFill>
                  <a:srgbClr val="FFFFFF"/>
                </a:solidFill>
                <a:latin typeface="メイリオ"/>
              </a:rPr>
              <a:t>トヨタ自動車</a:t>
            </a:r>
          </a:p>
        </p:txBody>
      </p:sp>
      <p:sp>
        <p:nvSpPr>
          <p:cNvPr id="7" name="TextBox 6"/>
          <p:cNvSpPr txBox="1"/>
          <p:nvPr/>
        </p:nvSpPr>
        <p:spPr>
          <a:xfrm>
            <a:off x="438912" y="1325880"/>
            <a:ext cx="2651760" cy="228600"/>
          </a:xfrm>
          <a:prstGeom prst="rect">
            <a:avLst/>
          </a:prstGeom>
          <a:noFill/>
        </p:spPr>
        <p:txBody>
          <a:bodyPr wrap="square">
            <a:spAutoFit/>
          </a:bodyPr>
          <a:lstStyle/>
          <a:p>
            <a:pPr algn="ctr">
              <a:spcAft>
                <a:spcPts val="200"/>
              </a:spcAft>
            </a:pPr>
            <a:r>
              <a:rPr sz="1300" b="0">
                <a:solidFill>
                  <a:srgbClr val="FFFFFF"/>
                </a:solidFill>
                <a:latin typeface="メイリオ"/>
              </a:rPr>
              <a:t>製造×IoT×データ</a:t>
            </a:r>
          </a:p>
        </p:txBody>
      </p:sp>
      <p:sp>
        <p:nvSpPr>
          <p:cNvPr id="8" name="Rectangle 7"/>
          <p:cNvSpPr/>
          <p:nvPr/>
        </p:nvSpPr>
        <p:spPr>
          <a:xfrm>
            <a:off x="365760" y="1554480"/>
            <a:ext cx="2788920" cy="2743200"/>
          </a:xfrm>
          <a:prstGeom prst="rect">
            <a:avLst/>
          </a:prstGeom>
          <a:solidFill>
            <a:srgbClr val="F2F2F2"/>
          </a:solidFill>
          <a:ln w="1270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645920"/>
            <a:ext cx="2606040" cy="2560320"/>
          </a:xfrm>
          <a:prstGeom prst="rect">
            <a:avLst/>
          </a:prstGeom>
          <a:noFill/>
        </p:spPr>
        <p:txBody>
          <a:bodyPr wrap="square">
            <a:spAutoFit/>
          </a:bodyPr>
          <a:lstStyle/>
          <a:p>
            <a:pPr algn="l">
              <a:spcAft>
                <a:spcPts val="200"/>
              </a:spcAft>
            </a:pPr>
            <a:r>
              <a:rPr sz="1700" b="0">
                <a:solidFill>
                  <a:srgbClr val="262626"/>
                </a:solidFill>
                <a:latin typeface="メイリオ"/>
              </a:rPr>
              <a:t>工場の全設備をセンサーで監視</a:t>
            </a:r>
          </a:p>
          <a:p>
            <a:pPr algn="l">
              <a:spcAft>
                <a:spcPts val="200"/>
              </a:spcAft>
            </a:pPr>
            <a:r>
              <a:rPr sz="1700" b="0">
                <a:solidFill>
                  <a:srgbClr val="262626"/>
                </a:solidFill>
                <a:latin typeface="メイリオ"/>
              </a:rPr>
              <a:t>品質不良を0.01%未満に削減</a:t>
            </a:r>
          </a:p>
          <a:p>
            <a:pPr algn="l">
              <a:spcAft>
                <a:spcPts val="200"/>
              </a:spcAft>
            </a:pPr>
            <a:r>
              <a:rPr sz="1700" b="0">
                <a:solidFill>
                  <a:srgbClr val="262626"/>
                </a:solidFill>
                <a:latin typeface="メイリオ"/>
              </a:rPr>
              <a:t>需要予測AIで在庫を30%削減</a:t>
            </a:r>
          </a:p>
          <a:p>
            <a:pPr algn="l">
              <a:spcAft>
                <a:spcPts val="200"/>
              </a:spcAft>
            </a:pPr>
            <a:r>
              <a:rPr sz="1700" b="0">
                <a:solidFill>
                  <a:srgbClr val="262626"/>
                </a:solidFill>
                <a:latin typeface="メイリオ"/>
              </a:rPr>
              <a:t>TPS×データで世界最高水準の生産性</a:t>
            </a:r>
          </a:p>
        </p:txBody>
      </p:sp>
      <p:sp>
        <p:nvSpPr>
          <p:cNvPr id="10" name="Rectangle 9"/>
          <p:cNvSpPr/>
          <p:nvPr/>
        </p:nvSpPr>
        <p:spPr>
          <a:xfrm>
            <a:off x="3291840" y="960120"/>
            <a:ext cx="2788920" cy="594360"/>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64992" y="1005840"/>
            <a:ext cx="2651760" cy="320040"/>
          </a:xfrm>
          <a:prstGeom prst="rect">
            <a:avLst/>
          </a:prstGeom>
          <a:noFill/>
        </p:spPr>
        <p:txBody>
          <a:bodyPr wrap="square">
            <a:spAutoFit/>
          </a:bodyPr>
          <a:lstStyle/>
          <a:p>
            <a:pPr algn="ctr">
              <a:spcAft>
                <a:spcPts val="200"/>
              </a:spcAft>
            </a:pPr>
            <a:r>
              <a:rPr sz="1700" b="1">
                <a:solidFill>
                  <a:srgbClr val="FFFFFF"/>
                </a:solidFill>
                <a:latin typeface="メイリオ"/>
              </a:rPr>
              <a:t>楽天グループ</a:t>
            </a:r>
          </a:p>
        </p:txBody>
      </p:sp>
      <p:sp>
        <p:nvSpPr>
          <p:cNvPr id="12" name="TextBox 11"/>
          <p:cNvSpPr txBox="1"/>
          <p:nvPr/>
        </p:nvSpPr>
        <p:spPr>
          <a:xfrm>
            <a:off x="3364992" y="1325880"/>
            <a:ext cx="2651760" cy="228600"/>
          </a:xfrm>
          <a:prstGeom prst="rect">
            <a:avLst/>
          </a:prstGeom>
          <a:noFill/>
        </p:spPr>
        <p:txBody>
          <a:bodyPr wrap="square">
            <a:spAutoFit/>
          </a:bodyPr>
          <a:lstStyle/>
          <a:p>
            <a:pPr algn="ctr">
              <a:spcAft>
                <a:spcPts val="200"/>
              </a:spcAft>
            </a:pPr>
            <a:r>
              <a:rPr sz="1300" b="0">
                <a:solidFill>
                  <a:srgbClr val="FFFFFF"/>
                </a:solidFill>
                <a:latin typeface="メイリオ"/>
              </a:rPr>
              <a:t>EC×データ活用</a:t>
            </a:r>
          </a:p>
        </p:txBody>
      </p:sp>
      <p:sp>
        <p:nvSpPr>
          <p:cNvPr id="13" name="Rectangle 12"/>
          <p:cNvSpPr/>
          <p:nvPr/>
        </p:nvSpPr>
        <p:spPr>
          <a:xfrm>
            <a:off x="3291840" y="1554480"/>
            <a:ext cx="2788920" cy="2743200"/>
          </a:xfrm>
          <a:prstGeom prst="rect">
            <a:avLst/>
          </a:prstGeom>
          <a:solidFill>
            <a:srgbClr val="F2F2F2"/>
          </a:solidFill>
          <a:ln w="1270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83280" y="1645920"/>
            <a:ext cx="2606040" cy="2560320"/>
          </a:xfrm>
          <a:prstGeom prst="rect">
            <a:avLst/>
          </a:prstGeom>
          <a:noFill/>
        </p:spPr>
        <p:txBody>
          <a:bodyPr wrap="square">
            <a:spAutoFit/>
          </a:bodyPr>
          <a:lstStyle/>
          <a:p>
            <a:pPr algn="l">
              <a:spcAft>
                <a:spcPts val="200"/>
              </a:spcAft>
            </a:pPr>
            <a:r>
              <a:rPr sz="1700" b="0">
                <a:solidFill>
                  <a:srgbClr val="262626"/>
                </a:solidFill>
                <a:latin typeface="メイリオ"/>
              </a:rPr>
              <a:t>購買履歴×行動ログで超個人化</a:t>
            </a:r>
          </a:p>
          <a:p>
            <a:pPr algn="l">
              <a:spcAft>
                <a:spcPts val="200"/>
              </a:spcAft>
            </a:pPr>
            <a:r>
              <a:rPr sz="1700" b="0">
                <a:solidFill>
                  <a:srgbClr val="262626"/>
                </a:solidFill>
                <a:latin typeface="メイリオ"/>
              </a:rPr>
              <a:t>レコメンドAIがCVR3倍向上</a:t>
            </a:r>
          </a:p>
          <a:p>
            <a:pPr algn="l">
              <a:spcAft>
                <a:spcPts val="200"/>
              </a:spcAft>
            </a:pPr>
            <a:r>
              <a:rPr sz="1700" b="0">
                <a:solidFill>
                  <a:srgbClr val="262626"/>
                </a:solidFill>
                <a:latin typeface="メイリオ"/>
              </a:rPr>
              <a:t>楽天エコシステムで横断分析</a:t>
            </a:r>
          </a:p>
          <a:p>
            <a:pPr algn="l">
              <a:spcAft>
                <a:spcPts val="200"/>
              </a:spcAft>
            </a:pPr>
            <a:r>
              <a:rPr sz="1700" b="0">
                <a:solidFill>
                  <a:srgbClr val="262626"/>
                </a:solidFill>
                <a:latin typeface="メイリオ"/>
              </a:rPr>
              <a:t>データ共有で顧客LTV最大化</a:t>
            </a:r>
          </a:p>
        </p:txBody>
      </p:sp>
      <p:sp>
        <p:nvSpPr>
          <p:cNvPr id="15" name="Rectangle 14"/>
          <p:cNvSpPr/>
          <p:nvPr/>
        </p:nvSpPr>
        <p:spPr>
          <a:xfrm>
            <a:off x="6217920" y="960120"/>
            <a:ext cx="2788920" cy="594360"/>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91072" y="1005840"/>
            <a:ext cx="2651760" cy="320040"/>
          </a:xfrm>
          <a:prstGeom prst="rect">
            <a:avLst/>
          </a:prstGeom>
          <a:noFill/>
        </p:spPr>
        <p:txBody>
          <a:bodyPr wrap="square">
            <a:spAutoFit/>
          </a:bodyPr>
          <a:lstStyle/>
          <a:p>
            <a:pPr algn="ctr">
              <a:spcAft>
                <a:spcPts val="200"/>
              </a:spcAft>
            </a:pPr>
            <a:r>
              <a:rPr sz="1700" b="1">
                <a:solidFill>
                  <a:srgbClr val="FFFFFF"/>
                </a:solidFill>
                <a:latin typeface="メイリオ"/>
              </a:rPr>
              <a:t>NTTドコモ</a:t>
            </a:r>
          </a:p>
        </p:txBody>
      </p:sp>
      <p:sp>
        <p:nvSpPr>
          <p:cNvPr id="17" name="TextBox 16"/>
          <p:cNvSpPr txBox="1"/>
          <p:nvPr/>
        </p:nvSpPr>
        <p:spPr>
          <a:xfrm>
            <a:off x="6291072" y="1325880"/>
            <a:ext cx="2651760" cy="228600"/>
          </a:xfrm>
          <a:prstGeom prst="rect">
            <a:avLst/>
          </a:prstGeom>
          <a:noFill/>
        </p:spPr>
        <p:txBody>
          <a:bodyPr wrap="square">
            <a:spAutoFit/>
          </a:bodyPr>
          <a:lstStyle/>
          <a:p>
            <a:pPr algn="ctr">
              <a:spcAft>
                <a:spcPts val="200"/>
              </a:spcAft>
            </a:pPr>
            <a:r>
              <a:rPr sz="1300" b="0">
                <a:solidFill>
                  <a:srgbClr val="FFFFFF"/>
                </a:solidFill>
                <a:latin typeface="メイリオ"/>
              </a:rPr>
              <a:t>通信×ビッグデータ</a:t>
            </a:r>
          </a:p>
        </p:txBody>
      </p:sp>
      <p:sp>
        <p:nvSpPr>
          <p:cNvPr id="18" name="Rectangle 17"/>
          <p:cNvSpPr/>
          <p:nvPr/>
        </p:nvSpPr>
        <p:spPr>
          <a:xfrm>
            <a:off x="6217920" y="1554480"/>
            <a:ext cx="2788920" cy="2743200"/>
          </a:xfrm>
          <a:prstGeom prst="rect">
            <a:avLst/>
          </a:prstGeom>
          <a:solidFill>
            <a:srgbClr val="F2F2F2"/>
          </a:solidFill>
          <a:ln w="12700">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9360" y="1645920"/>
            <a:ext cx="2606040" cy="2560320"/>
          </a:xfrm>
          <a:prstGeom prst="rect">
            <a:avLst/>
          </a:prstGeom>
          <a:noFill/>
        </p:spPr>
        <p:txBody>
          <a:bodyPr wrap="square">
            <a:spAutoFit/>
          </a:bodyPr>
          <a:lstStyle/>
          <a:p>
            <a:pPr algn="l">
              <a:spcAft>
                <a:spcPts val="200"/>
              </a:spcAft>
            </a:pPr>
            <a:r>
              <a:rPr sz="1700" b="0">
                <a:solidFill>
                  <a:srgbClr val="262626"/>
                </a:solidFill>
                <a:latin typeface="メイリオ"/>
              </a:rPr>
              <a:t>位置情報データで人流を可視化</a:t>
            </a:r>
          </a:p>
          <a:p>
            <a:pPr algn="l">
              <a:spcAft>
                <a:spcPts val="200"/>
              </a:spcAft>
            </a:pPr>
            <a:r>
              <a:rPr sz="1700" b="0">
                <a:solidFill>
                  <a:srgbClr val="262626"/>
                </a:solidFill>
                <a:latin typeface="メイリオ"/>
              </a:rPr>
              <a:t>コロナ禍の行動変容を行政に提供</a:t>
            </a:r>
          </a:p>
          <a:p>
            <a:pPr algn="l">
              <a:spcAft>
                <a:spcPts val="200"/>
              </a:spcAft>
            </a:pPr>
            <a:r>
              <a:rPr sz="1700" b="0">
                <a:solidFill>
                  <a:srgbClr val="262626"/>
                </a:solidFill>
                <a:latin typeface="メイリオ"/>
              </a:rPr>
              <a:t>モバイル空間統計で都市計画支援</a:t>
            </a:r>
          </a:p>
          <a:p>
            <a:pPr algn="l">
              <a:spcAft>
                <a:spcPts val="200"/>
              </a:spcAft>
            </a:pPr>
            <a:r>
              <a:rPr sz="1700" b="0">
                <a:solidFill>
                  <a:srgbClr val="262626"/>
                </a:solidFill>
                <a:latin typeface="メイリオ"/>
              </a:rPr>
              <a:t>通信データを社会インフラとして活用</a:t>
            </a:r>
          </a:p>
        </p:txBody>
      </p:sp>
      <p:sp>
        <p:nvSpPr>
          <p:cNvPr id="20" name="Rectangle 19"/>
          <p:cNvSpPr/>
          <p:nvPr/>
        </p:nvSpPr>
        <p:spPr>
          <a:xfrm>
            <a:off x="9144000" y="960120"/>
            <a:ext cx="2788920" cy="594360"/>
          </a:xfrm>
          <a:prstGeom prst="rect">
            <a:avLst/>
          </a:prstGeom>
          <a:solidFill>
            <a:srgbClr val="703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17152" y="1005840"/>
            <a:ext cx="2651760" cy="320040"/>
          </a:xfrm>
          <a:prstGeom prst="rect">
            <a:avLst/>
          </a:prstGeom>
          <a:noFill/>
        </p:spPr>
        <p:txBody>
          <a:bodyPr wrap="square">
            <a:spAutoFit/>
          </a:bodyPr>
          <a:lstStyle/>
          <a:p>
            <a:pPr algn="ctr">
              <a:spcAft>
                <a:spcPts val="200"/>
              </a:spcAft>
            </a:pPr>
            <a:r>
              <a:rPr sz="1700" b="1">
                <a:solidFill>
                  <a:srgbClr val="FFFFFF"/>
                </a:solidFill>
                <a:latin typeface="メイリオ"/>
              </a:rPr>
              <a:t>ファーストリテイリング</a:t>
            </a:r>
          </a:p>
        </p:txBody>
      </p:sp>
      <p:sp>
        <p:nvSpPr>
          <p:cNvPr id="22" name="TextBox 21"/>
          <p:cNvSpPr txBox="1"/>
          <p:nvPr/>
        </p:nvSpPr>
        <p:spPr>
          <a:xfrm>
            <a:off x="9217152" y="1325880"/>
            <a:ext cx="2651760" cy="228600"/>
          </a:xfrm>
          <a:prstGeom prst="rect">
            <a:avLst/>
          </a:prstGeom>
          <a:noFill/>
        </p:spPr>
        <p:txBody>
          <a:bodyPr wrap="square">
            <a:spAutoFit/>
          </a:bodyPr>
          <a:lstStyle/>
          <a:p>
            <a:pPr algn="ctr">
              <a:spcAft>
                <a:spcPts val="200"/>
              </a:spcAft>
            </a:pPr>
            <a:r>
              <a:rPr sz="1300" b="0">
                <a:solidFill>
                  <a:srgbClr val="FFFFFF"/>
                </a:solidFill>
                <a:latin typeface="メイリオ"/>
              </a:rPr>
              <a:t>小売×需要予測</a:t>
            </a:r>
          </a:p>
        </p:txBody>
      </p:sp>
      <p:sp>
        <p:nvSpPr>
          <p:cNvPr id="23" name="Rectangle 22"/>
          <p:cNvSpPr/>
          <p:nvPr/>
        </p:nvSpPr>
        <p:spPr>
          <a:xfrm>
            <a:off x="9144000" y="1554480"/>
            <a:ext cx="2788920" cy="2743200"/>
          </a:xfrm>
          <a:prstGeom prst="rect">
            <a:avLst/>
          </a:prstGeom>
          <a:solidFill>
            <a:srgbClr val="F2F2F2"/>
          </a:solidFill>
          <a:ln w="12700">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35440" y="1645920"/>
            <a:ext cx="2606040" cy="2560320"/>
          </a:xfrm>
          <a:prstGeom prst="rect">
            <a:avLst/>
          </a:prstGeom>
          <a:noFill/>
        </p:spPr>
        <p:txBody>
          <a:bodyPr wrap="square">
            <a:spAutoFit/>
          </a:bodyPr>
          <a:lstStyle/>
          <a:p>
            <a:pPr algn="l">
              <a:spcAft>
                <a:spcPts val="200"/>
              </a:spcAft>
            </a:pPr>
            <a:r>
              <a:rPr sz="1700" b="0">
                <a:solidFill>
                  <a:srgbClr val="262626"/>
                </a:solidFill>
                <a:latin typeface="メイリオ"/>
              </a:rPr>
              <a:t>RFID全商品タグで在庫リアルタイム管理</a:t>
            </a:r>
          </a:p>
          <a:p>
            <a:pPr algn="l">
              <a:spcAft>
                <a:spcPts val="200"/>
              </a:spcAft>
            </a:pPr>
            <a:r>
              <a:rPr sz="1700" b="0">
                <a:solidFill>
                  <a:srgbClr val="262626"/>
                </a:solidFill>
                <a:latin typeface="メイリオ"/>
              </a:rPr>
              <a:t>需要予測AIで廃棄ロスを大幅削減</a:t>
            </a:r>
          </a:p>
          <a:p>
            <a:pPr algn="l">
              <a:spcAft>
                <a:spcPts val="200"/>
              </a:spcAft>
            </a:pPr>
            <a:r>
              <a:rPr sz="1700" b="0">
                <a:solidFill>
                  <a:srgbClr val="262626"/>
                </a:solidFill>
                <a:latin typeface="メイリオ"/>
              </a:rPr>
              <a:t>AIデザインアシスタントで企画効率化</a:t>
            </a:r>
          </a:p>
          <a:p>
            <a:pPr algn="l">
              <a:spcAft>
                <a:spcPts val="200"/>
              </a:spcAft>
            </a:pPr>
            <a:r>
              <a:rPr sz="1700" b="0">
                <a:solidFill>
                  <a:srgbClr val="262626"/>
                </a:solidFill>
                <a:latin typeface="メイリオ"/>
              </a:rPr>
              <a:t>サプライチェーン全体をデジタル化</a:t>
            </a:r>
          </a:p>
        </p:txBody>
      </p:sp>
      <p:sp>
        <p:nvSpPr>
          <p:cNvPr id="25" name="Rectangle 24"/>
          <p:cNvSpPr/>
          <p:nvPr/>
        </p:nvSpPr>
        <p:spPr>
          <a:xfrm>
            <a:off x="365760" y="4434840"/>
            <a:ext cx="11430000" cy="457200"/>
          </a:xfrm>
          <a:prstGeom prst="rect">
            <a:avLst/>
          </a:prstGeom>
          <a:solidFill>
            <a:srgbClr val="E1F5FE"/>
          </a:solidFill>
          <a:ln w="1270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4480560"/>
            <a:ext cx="11247120" cy="365760"/>
          </a:xfrm>
          <a:prstGeom prst="rect">
            <a:avLst/>
          </a:prstGeom>
          <a:noFill/>
        </p:spPr>
        <p:txBody>
          <a:bodyPr wrap="square">
            <a:spAutoFit/>
          </a:bodyPr>
          <a:lstStyle/>
          <a:p>
            <a:pPr algn="l">
              <a:spcAft>
                <a:spcPts val="200"/>
              </a:spcAft>
            </a:pPr>
            <a:r>
              <a:rPr sz="1700" b="1">
                <a:solidFill>
                  <a:srgbClr val="1F3864"/>
                </a:solidFill>
                <a:latin typeface="メイリオ"/>
              </a:rPr>
              <a:t>共通点：①データ収集基盤への投資 ②全社的なデータ活用文化 ③AI/機械学習の継続的活用 ④経営判断へのフィードバック</a:t>
            </a:r>
          </a:p>
        </p:txBody>
      </p:sp>
      <p:sp>
        <p:nvSpPr>
          <p:cNvPr id="27" name="TextBox 26"/>
          <p:cNvSpPr txBox="1"/>
          <p:nvPr/>
        </p:nvSpPr>
        <p:spPr>
          <a:xfrm>
            <a:off x="365760" y="5029200"/>
            <a:ext cx="11430000" cy="411480"/>
          </a:xfrm>
          <a:prstGeom prst="rect">
            <a:avLst/>
          </a:prstGeom>
          <a:noFill/>
        </p:spPr>
        <p:txBody>
          <a:bodyPr wrap="square">
            <a:spAutoFit/>
          </a:bodyPr>
          <a:lstStyle/>
          <a:p>
            <a:pPr algn="l">
              <a:spcAft>
                <a:spcPts val="200"/>
              </a:spcAft>
            </a:pPr>
            <a:r>
              <a:rPr sz="1900" b="1">
                <a:solidFill>
                  <a:srgbClr val="1F3864"/>
                </a:solidFill>
                <a:latin typeface="メイリオ"/>
              </a:rPr>
              <a:t>■ 中小企業でもできるデータ経営の第一歩</a:t>
            </a:r>
          </a:p>
        </p:txBody>
      </p:sp>
      <p:sp>
        <p:nvSpPr>
          <p:cNvPr id="28" name="Rectangle 27"/>
          <p:cNvSpPr/>
          <p:nvPr/>
        </p:nvSpPr>
        <p:spPr>
          <a:xfrm>
            <a:off x="365760" y="5532120"/>
            <a:ext cx="2788920" cy="41148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8912" y="5577840"/>
            <a:ext cx="2651760" cy="365760"/>
          </a:xfrm>
          <a:prstGeom prst="rect">
            <a:avLst/>
          </a:prstGeom>
          <a:noFill/>
        </p:spPr>
        <p:txBody>
          <a:bodyPr wrap="square">
            <a:spAutoFit/>
          </a:bodyPr>
          <a:lstStyle/>
          <a:p>
            <a:pPr algn="ctr">
              <a:spcAft>
                <a:spcPts val="200"/>
              </a:spcAft>
            </a:pPr>
            <a:r>
              <a:rPr sz="1500" b="1">
                <a:solidFill>
                  <a:srgbClr val="FFFFFF"/>
                </a:solidFill>
                <a:latin typeface="メイリオ"/>
              </a:rPr>
              <a:t>STEP 1</a:t>
            </a:r>
          </a:p>
        </p:txBody>
      </p:sp>
      <p:sp>
        <p:nvSpPr>
          <p:cNvPr id="30" name="Rectangle 29"/>
          <p:cNvSpPr/>
          <p:nvPr/>
        </p:nvSpPr>
        <p:spPr>
          <a:xfrm>
            <a:off x="365760" y="5943600"/>
            <a:ext cx="2788920" cy="640080"/>
          </a:xfrm>
          <a:prstGeom prst="rect">
            <a:avLst/>
          </a:prstGeom>
          <a:solidFill>
            <a:srgbClr val="F2F2F2"/>
          </a:solidFill>
          <a:ln w="63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8912" y="5989320"/>
            <a:ext cx="2651760" cy="548640"/>
          </a:xfrm>
          <a:prstGeom prst="rect">
            <a:avLst/>
          </a:prstGeom>
          <a:noFill/>
        </p:spPr>
        <p:txBody>
          <a:bodyPr wrap="square">
            <a:spAutoFit/>
          </a:bodyPr>
          <a:lstStyle/>
          <a:p>
            <a:pPr algn="ctr">
              <a:spcAft>
                <a:spcPts val="200"/>
              </a:spcAft>
            </a:pPr>
            <a:r>
              <a:rPr sz="1500" b="0">
                <a:solidFill>
                  <a:srgbClr val="262626"/>
                </a:solidFill>
                <a:latin typeface="メイリオ"/>
              </a:rPr>
              <a:t>既存データの棚卸し（売上・顧客・在庫）</a:t>
            </a:r>
          </a:p>
        </p:txBody>
      </p:sp>
      <p:sp>
        <p:nvSpPr>
          <p:cNvPr id="32" name="Rectangle 31"/>
          <p:cNvSpPr/>
          <p:nvPr/>
        </p:nvSpPr>
        <p:spPr>
          <a:xfrm>
            <a:off x="3291840" y="5532120"/>
            <a:ext cx="2788920" cy="411480"/>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364992" y="5577840"/>
            <a:ext cx="2651760" cy="365760"/>
          </a:xfrm>
          <a:prstGeom prst="rect">
            <a:avLst/>
          </a:prstGeom>
          <a:noFill/>
        </p:spPr>
        <p:txBody>
          <a:bodyPr wrap="square">
            <a:spAutoFit/>
          </a:bodyPr>
          <a:lstStyle/>
          <a:p>
            <a:pPr algn="ctr">
              <a:spcAft>
                <a:spcPts val="200"/>
              </a:spcAft>
            </a:pPr>
            <a:r>
              <a:rPr sz="1500" b="1">
                <a:solidFill>
                  <a:srgbClr val="FFFFFF"/>
                </a:solidFill>
                <a:latin typeface="メイリオ"/>
              </a:rPr>
              <a:t>STEP 2</a:t>
            </a:r>
          </a:p>
        </p:txBody>
      </p:sp>
      <p:sp>
        <p:nvSpPr>
          <p:cNvPr id="34" name="Rectangle 33"/>
          <p:cNvSpPr/>
          <p:nvPr/>
        </p:nvSpPr>
        <p:spPr>
          <a:xfrm>
            <a:off x="3291840" y="5943600"/>
            <a:ext cx="2788920" cy="640080"/>
          </a:xfrm>
          <a:prstGeom prst="rect">
            <a:avLst/>
          </a:prstGeom>
          <a:solidFill>
            <a:srgbClr val="F2F2F2"/>
          </a:solidFill>
          <a:ln w="635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364992" y="5989320"/>
            <a:ext cx="2651760" cy="548640"/>
          </a:xfrm>
          <a:prstGeom prst="rect">
            <a:avLst/>
          </a:prstGeom>
          <a:noFill/>
        </p:spPr>
        <p:txBody>
          <a:bodyPr wrap="square">
            <a:spAutoFit/>
          </a:bodyPr>
          <a:lstStyle/>
          <a:p>
            <a:pPr algn="ctr">
              <a:spcAft>
                <a:spcPts val="200"/>
              </a:spcAft>
            </a:pPr>
            <a:r>
              <a:rPr sz="1500" b="0">
                <a:solidFill>
                  <a:srgbClr val="262626"/>
                </a:solidFill>
                <a:latin typeface="メイリオ"/>
              </a:rPr>
              <a:t>Excelで基本集計とグラフ化を習慣化</a:t>
            </a:r>
          </a:p>
        </p:txBody>
      </p:sp>
      <p:sp>
        <p:nvSpPr>
          <p:cNvPr id="36" name="Rectangle 35"/>
          <p:cNvSpPr/>
          <p:nvPr/>
        </p:nvSpPr>
        <p:spPr>
          <a:xfrm>
            <a:off x="6217920" y="5532120"/>
            <a:ext cx="2788920" cy="411480"/>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91072" y="5577840"/>
            <a:ext cx="2651760" cy="365760"/>
          </a:xfrm>
          <a:prstGeom prst="rect">
            <a:avLst/>
          </a:prstGeom>
          <a:noFill/>
        </p:spPr>
        <p:txBody>
          <a:bodyPr wrap="square">
            <a:spAutoFit/>
          </a:bodyPr>
          <a:lstStyle/>
          <a:p>
            <a:pPr algn="ctr">
              <a:spcAft>
                <a:spcPts val="200"/>
              </a:spcAft>
            </a:pPr>
            <a:r>
              <a:rPr sz="1500" b="1">
                <a:solidFill>
                  <a:srgbClr val="FFFFFF"/>
                </a:solidFill>
                <a:latin typeface="メイリオ"/>
              </a:rPr>
              <a:t>STEP 3</a:t>
            </a:r>
          </a:p>
        </p:txBody>
      </p:sp>
      <p:sp>
        <p:nvSpPr>
          <p:cNvPr id="38" name="Rectangle 37"/>
          <p:cNvSpPr/>
          <p:nvPr/>
        </p:nvSpPr>
        <p:spPr>
          <a:xfrm>
            <a:off x="6217920" y="5943600"/>
            <a:ext cx="2788920" cy="640080"/>
          </a:xfrm>
          <a:prstGeom prst="rect">
            <a:avLst/>
          </a:prstGeom>
          <a:solidFill>
            <a:srgbClr val="F2F2F2"/>
          </a:solidFill>
          <a:ln w="6350">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291072" y="5989320"/>
            <a:ext cx="2651760" cy="548640"/>
          </a:xfrm>
          <a:prstGeom prst="rect">
            <a:avLst/>
          </a:prstGeom>
          <a:noFill/>
        </p:spPr>
        <p:txBody>
          <a:bodyPr wrap="square">
            <a:spAutoFit/>
          </a:bodyPr>
          <a:lstStyle/>
          <a:p>
            <a:pPr algn="ctr">
              <a:spcAft>
                <a:spcPts val="200"/>
              </a:spcAft>
            </a:pPr>
            <a:r>
              <a:rPr sz="1500" b="0">
                <a:solidFill>
                  <a:srgbClr val="262626"/>
                </a:solidFill>
                <a:latin typeface="メイリオ"/>
              </a:rPr>
              <a:t>KPIを定義して定期的にモニタリング</a:t>
            </a:r>
          </a:p>
        </p:txBody>
      </p:sp>
      <p:sp>
        <p:nvSpPr>
          <p:cNvPr id="40" name="Rectangle 39"/>
          <p:cNvSpPr/>
          <p:nvPr/>
        </p:nvSpPr>
        <p:spPr>
          <a:xfrm>
            <a:off x="9144000" y="5532120"/>
            <a:ext cx="2788920" cy="411480"/>
          </a:xfrm>
          <a:prstGeom prst="rect">
            <a:avLst/>
          </a:prstGeom>
          <a:solidFill>
            <a:srgbClr val="703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217152" y="5577840"/>
            <a:ext cx="2651760" cy="365760"/>
          </a:xfrm>
          <a:prstGeom prst="rect">
            <a:avLst/>
          </a:prstGeom>
          <a:noFill/>
        </p:spPr>
        <p:txBody>
          <a:bodyPr wrap="square">
            <a:spAutoFit/>
          </a:bodyPr>
          <a:lstStyle/>
          <a:p>
            <a:pPr algn="ctr">
              <a:spcAft>
                <a:spcPts val="200"/>
              </a:spcAft>
            </a:pPr>
            <a:r>
              <a:rPr sz="1500" b="1">
                <a:solidFill>
                  <a:srgbClr val="FFFFFF"/>
                </a:solidFill>
                <a:latin typeface="メイリオ"/>
              </a:rPr>
              <a:t>STEP 4</a:t>
            </a:r>
          </a:p>
        </p:txBody>
      </p:sp>
      <p:sp>
        <p:nvSpPr>
          <p:cNvPr id="42" name="Rectangle 41"/>
          <p:cNvSpPr/>
          <p:nvPr/>
        </p:nvSpPr>
        <p:spPr>
          <a:xfrm>
            <a:off x="9144000" y="5943600"/>
            <a:ext cx="2788920" cy="640080"/>
          </a:xfrm>
          <a:prstGeom prst="rect">
            <a:avLst/>
          </a:prstGeom>
          <a:solidFill>
            <a:srgbClr val="F2F2F2"/>
          </a:solidFill>
          <a:ln w="6350">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217152" y="5989320"/>
            <a:ext cx="2651760" cy="548640"/>
          </a:xfrm>
          <a:prstGeom prst="rect">
            <a:avLst/>
          </a:prstGeom>
          <a:noFill/>
        </p:spPr>
        <p:txBody>
          <a:bodyPr wrap="square">
            <a:spAutoFit/>
          </a:bodyPr>
          <a:lstStyle/>
          <a:p>
            <a:pPr algn="ctr">
              <a:spcAft>
                <a:spcPts val="200"/>
              </a:spcAft>
            </a:pPr>
            <a:r>
              <a:rPr sz="1500" b="0">
                <a:solidFill>
                  <a:srgbClr val="262626"/>
                </a:solidFill>
                <a:latin typeface="メイリオ"/>
              </a:rPr>
              <a:t>データに基づく仮説→実験→改善サイクル</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1551615" cy="658368"/>
          </a:xfrm>
          <a:prstGeom prst="rect">
            <a:avLst/>
          </a:prstGeom>
          <a:noFill/>
        </p:spPr>
        <p:txBody>
          <a:bodyPr wrap="square">
            <a:spAutoFit/>
          </a:bodyPr>
          <a:lstStyle/>
          <a:p>
            <a:pPr algn="l">
              <a:spcAft>
                <a:spcPts val="200"/>
              </a:spcAft>
            </a:pPr>
            <a:r>
              <a:rPr sz="2600" b="1">
                <a:solidFill>
                  <a:srgbClr val="FFFFFF"/>
                </a:solidFill>
                <a:latin typeface="メイリオ"/>
              </a:rPr>
              <a:t>DX（デジタルトランスフォーメーション）と経営変革</a:t>
            </a:r>
          </a:p>
        </p:txBody>
      </p:sp>
      <p:sp>
        <p:nvSpPr>
          <p:cNvPr id="4" name="TextBox 3"/>
          <p:cNvSpPr txBox="1"/>
          <p:nvPr/>
        </p:nvSpPr>
        <p:spPr>
          <a:xfrm>
            <a:off x="320040" y="841248"/>
            <a:ext cx="11551615" cy="457200"/>
          </a:xfrm>
          <a:prstGeom prst="rect">
            <a:avLst/>
          </a:prstGeom>
          <a:noFill/>
        </p:spPr>
        <p:txBody>
          <a:bodyPr wrap="square">
            <a:spAutoFit/>
          </a:bodyPr>
          <a:lstStyle/>
          <a:p>
            <a:pPr algn="l">
              <a:spcAft>
                <a:spcPts val="200"/>
              </a:spcAft>
            </a:pPr>
            <a:r>
              <a:rPr sz="1800" b="1">
                <a:solidFill>
                  <a:srgbClr val="4472C4"/>
                </a:solidFill>
                <a:latin typeface="メイリオ"/>
              </a:rPr>
              <a:t>Digital Transformation</a:t>
            </a:r>
          </a:p>
        </p:txBody>
      </p:sp>
      <p:sp>
        <p:nvSpPr>
          <p:cNvPr id="5" name="Rectangle 4"/>
          <p:cNvSpPr/>
          <p:nvPr/>
        </p:nvSpPr>
        <p:spPr>
          <a:xfrm>
            <a:off x="365760" y="960120"/>
            <a:ext cx="11430000" cy="6858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33271"/>
            <a:ext cx="11064240" cy="365760"/>
          </a:xfrm>
          <a:prstGeom prst="rect">
            <a:avLst/>
          </a:prstGeom>
          <a:noFill/>
        </p:spPr>
        <p:txBody>
          <a:bodyPr wrap="square">
            <a:spAutoFit/>
          </a:bodyPr>
          <a:lstStyle/>
          <a:p>
            <a:pPr algn="l">
              <a:spcAft>
                <a:spcPts val="200"/>
              </a:spcAft>
            </a:pPr>
            <a:r>
              <a:rPr sz="2100" b="1">
                <a:solidFill>
                  <a:srgbClr val="FFFFFF"/>
                </a:solidFill>
                <a:latin typeface="メイリオ"/>
              </a:rPr>
              <a:t>DX = デジタル技術を活用してビジネスモデル・組織・文化を根本から変革すること</a:t>
            </a:r>
          </a:p>
        </p:txBody>
      </p:sp>
      <p:sp>
        <p:nvSpPr>
          <p:cNvPr id="7" name="TextBox 6"/>
          <p:cNvSpPr txBox="1"/>
          <p:nvPr/>
        </p:nvSpPr>
        <p:spPr>
          <a:xfrm>
            <a:off x="548640" y="1399032"/>
            <a:ext cx="11064240" cy="228600"/>
          </a:xfrm>
          <a:prstGeom prst="rect">
            <a:avLst/>
          </a:prstGeom>
          <a:noFill/>
        </p:spPr>
        <p:txBody>
          <a:bodyPr wrap="square">
            <a:spAutoFit/>
          </a:bodyPr>
          <a:lstStyle/>
          <a:p>
            <a:pPr algn="l">
              <a:spcAft>
                <a:spcPts val="200"/>
              </a:spcAft>
            </a:pPr>
            <a:r>
              <a:rPr sz="1700" b="0">
                <a:solidFill>
                  <a:srgbClr val="BDD7EE"/>
                </a:solidFill>
                <a:latin typeface="メイリオ"/>
              </a:rPr>
              <a:t>単なる「IT化」や「システム導入」ではなく、価値創造の方法そのものを変えること</a:t>
            </a:r>
          </a:p>
        </p:txBody>
      </p:sp>
      <p:sp>
        <p:nvSpPr>
          <p:cNvPr id="8" name="Rectangle 7"/>
          <p:cNvSpPr/>
          <p:nvPr/>
        </p:nvSpPr>
        <p:spPr>
          <a:xfrm>
            <a:off x="365760" y="1828800"/>
            <a:ext cx="11430000" cy="1143000"/>
          </a:xfrm>
          <a:prstGeom prst="rect">
            <a:avLst/>
          </a:prstGeom>
          <a:solidFill>
            <a:srgbClr val="F2F2F2"/>
          </a:solidFill>
          <a:ln w="19050">
            <a:solidFill>
              <a:srgbClr val="5959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1828800"/>
            <a:ext cx="3200400" cy="1143000"/>
          </a:xfrm>
          <a:prstGeom prst="rect">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920240"/>
            <a:ext cx="3017520" cy="502920"/>
          </a:xfrm>
          <a:prstGeom prst="rect">
            <a:avLst/>
          </a:prstGeom>
          <a:noFill/>
        </p:spPr>
        <p:txBody>
          <a:bodyPr wrap="square">
            <a:spAutoFit/>
          </a:bodyPr>
          <a:lstStyle/>
          <a:p>
            <a:pPr algn="l">
              <a:spcAft>
                <a:spcPts val="200"/>
              </a:spcAft>
            </a:pPr>
            <a:r>
              <a:rPr sz="1700" b="1">
                <a:solidFill>
                  <a:srgbClr val="FFFFFF"/>
                </a:solidFill>
                <a:latin typeface="メイリオ"/>
              </a:rPr>
              <a:t>デジタイゼーション</a:t>
            </a:r>
          </a:p>
        </p:txBody>
      </p:sp>
      <p:sp>
        <p:nvSpPr>
          <p:cNvPr id="11" name="TextBox 10"/>
          <p:cNvSpPr txBox="1"/>
          <p:nvPr/>
        </p:nvSpPr>
        <p:spPr>
          <a:xfrm>
            <a:off x="457200" y="2423160"/>
            <a:ext cx="3017520" cy="457200"/>
          </a:xfrm>
          <a:prstGeom prst="rect">
            <a:avLst/>
          </a:prstGeom>
          <a:noFill/>
        </p:spPr>
        <p:txBody>
          <a:bodyPr wrap="square">
            <a:spAutoFit/>
          </a:bodyPr>
          <a:lstStyle/>
          <a:p>
            <a:pPr algn="l">
              <a:spcAft>
                <a:spcPts val="200"/>
              </a:spcAft>
            </a:pPr>
            <a:r>
              <a:rPr sz="1400" b="0">
                <a:solidFill>
                  <a:srgbClr val="FFFFFF"/>
                </a:solidFill>
                <a:latin typeface="メイリオ"/>
              </a:rPr>
              <a:t>アナログ→デジタル変換</a:t>
            </a:r>
          </a:p>
        </p:txBody>
      </p:sp>
      <p:sp>
        <p:nvSpPr>
          <p:cNvPr id="12" name="TextBox 11"/>
          <p:cNvSpPr txBox="1"/>
          <p:nvPr/>
        </p:nvSpPr>
        <p:spPr>
          <a:xfrm>
            <a:off x="3749039" y="1965960"/>
            <a:ext cx="7772400" cy="914400"/>
          </a:xfrm>
          <a:prstGeom prst="rect">
            <a:avLst/>
          </a:prstGeom>
          <a:noFill/>
        </p:spPr>
        <p:txBody>
          <a:bodyPr wrap="square">
            <a:spAutoFit/>
          </a:bodyPr>
          <a:lstStyle/>
          <a:p>
            <a:pPr algn="l">
              <a:spcAft>
                <a:spcPts val="200"/>
              </a:spcAft>
            </a:pPr>
            <a:r>
              <a:rPr sz="1800" b="0">
                <a:solidFill>
                  <a:srgbClr val="262626"/>
                </a:solidFill>
                <a:latin typeface="メイリオ"/>
              </a:rPr>
              <a:t>紙の書類をExcelに入力・FAXをメールに変更
「作業の効率化」レベル</a:t>
            </a:r>
          </a:p>
        </p:txBody>
      </p:sp>
      <p:sp>
        <p:nvSpPr>
          <p:cNvPr id="13" name="Rectangle 12"/>
          <p:cNvSpPr/>
          <p:nvPr/>
        </p:nvSpPr>
        <p:spPr>
          <a:xfrm>
            <a:off x="365760" y="3108960"/>
            <a:ext cx="11430000" cy="1143000"/>
          </a:xfrm>
          <a:prstGeom prst="rect">
            <a:avLst/>
          </a:prstGeom>
          <a:solidFill>
            <a:srgbClr val="FFFFFF"/>
          </a:solidFill>
          <a:ln w="190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5760" y="3108960"/>
            <a:ext cx="3200400" cy="114300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3200400"/>
            <a:ext cx="3017520" cy="502920"/>
          </a:xfrm>
          <a:prstGeom prst="rect">
            <a:avLst/>
          </a:prstGeom>
          <a:noFill/>
        </p:spPr>
        <p:txBody>
          <a:bodyPr wrap="square">
            <a:spAutoFit/>
          </a:bodyPr>
          <a:lstStyle/>
          <a:p>
            <a:pPr algn="l">
              <a:spcAft>
                <a:spcPts val="200"/>
              </a:spcAft>
            </a:pPr>
            <a:r>
              <a:rPr sz="1700" b="1">
                <a:solidFill>
                  <a:srgbClr val="FFFFFF"/>
                </a:solidFill>
                <a:latin typeface="メイリオ"/>
              </a:rPr>
              <a:t>デジタライゼーション</a:t>
            </a:r>
          </a:p>
        </p:txBody>
      </p:sp>
      <p:sp>
        <p:nvSpPr>
          <p:cNvPr id="16" name="TextBox 15"/>
          <p:cNvSpPr txBox="1"/>
          <p:nvPr/>
        </p:nvSpPr>
        <p:spPr>
          <a:xfrm>
            <a:off x="457200" y="3703320"/>
            <a:ext cx="3017520" cy="457200"/>
          </a:xfrm>
          <a:prstGeom prst="rect">
            <a:avLst/>
          </a:prstGeom>
          <a:noFill/>
        </p:spPr>
        <p:txBody>
          <a:bodyPr wrap="square">
            <a:spAutoFit/>
          </a:bodyPr>
          <a:lstStyle/>
          <a:p>
            <a:pPr algn="l">
              <a:spcAft>
                <a:spcPts val="200"/>
              </a:spcAft>
            </a:pPr>
            <a:r>
              <a:rPr sz="1400" b="0">
                <a:solidFill>
                  <a:srgbClr val="FFFFFF"/>
                </a:solidFill>
                <a:latin typeface="メイリオ"/>
              </a:rPr>
              <a:t>業務プロセスの変革</a:t>
            </a:r>
          </a:p>
        </p:txBody>
      </p:sp>
      <p:sp>
        <p:nvSpPr>
          <p:cNvPr id="17" name="TextBox 16"/>
          <p:cNvSpPr txBox="1"/>
          <p:nvPr/>
        </p:nvSpPr>
        <p:spPr>
          <a:xfrm>
            <a:off x="3749039" y="3246120"/>
            <a:ext cx="7772400" cy="914400"/>
          </a:xfrm>
          <a:prstGeom prst="rect">
            <a:avLst/>
          </a:prstGeom>
          <a:noFill/>
        </p:spPr>
        <p:txBody>
          <a:bodyPr wrap="square">
            <a:spAutoFit/>
          </a:bodyPr>
          <a:lstStyle/>
          <a:p>
            <a:pPr algn="l">
              <a:spcAft>
                <a:spcPts val="200"/>
              </a:spcAft>
            </a:pPr>
            <a:r>
              <a:rPr sz="1800" b="0">
                <a:solidFill>
                  <a:srgbClr val="262626"/>
                </a:solidFill>
                <a:latin typeface="メイリオ"/>
              </a:rPr>
              <a:t>販売管理をクラウドSaaSで自動化・顧客DBとの連携
「業務の再設計」レベル</a:t>
            </a:r>
          </a:p>
        </p:txBody>
      </p:sp>
      <p:sp>
        <p:nvSpPr>
          <p:cNvPr id="18" name="Rectangle 17"/>
          <p:cNvSpPr/>
          <p:nvPr/>
        </p:nvSpPr>
        <p:spPr>
          <a:xfrm>
            <a:off x="365760" y="4389120"/>
            <a:ext cx="11430000" cy="1143000"/>
          </a:xfrm>
          <a:prstGeom prst="rect">
            <a:avLst/>
          </a:prstGeom>
          <a:solidFill>
            <a:srgbClr val="F2F2F2"/>
          </a:solidFill>
          <a:ln w="19050">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5760" y="4389120"/>
            <a:ext cx="3200400" cy="1143000"/>
          </a:xfrm>
          <a:prstGeom prst="rect">
            <a:avLst/>
          </a:prstGeom>
          <a:solidFill>
            <a:srgbClr val="703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4480560"/>
            <a:ext cx="3017520" cy="502920"/>
          </a:xfrm>
          <a:prstGeom prst="rect">
            <a:avLst/>
          </a:prstGeom>
          <a:noFill/>
        </p:spPr>
        <p:txBody>
          <a:bodyPr wrap="square">
            <a:spAutoFit/>
          </a:bodyPr>
          <a:lstStyle/>
          <a:p>
            <a:pPr algn="l">
              <a:spcAft>
                <a:spcPts val="200"/>
              </a:spcAft>
            </a:pPr>
            <a:r>
              <a:rPr sz="1700" b="1">
                <a:solidFill>
                  <a:srgbClr val="FFFFFF"/>
                </a:solidFill>
                <a:latin typeface="メイリオ"/>
              </a:rPr>
              <a:t>デジタルトランスフォーメーション</a:t>
            </a:r>
          </a:p>
        </p:txBody>
      </p:sp>
      <p:sp>
        <p:nvSpPr>
          <p:cNvPr id="21" name="TextBox 20"/>
          <p:cNvSpPr txBox="1"/>
          <p:nvPr/>
        </p:nvSpPr>
        <p:spPr>
          <a:xfrm>
            <a:off x="457200" y="4983480"/>
            <a:ext cx="3017520" cy="457200"/>
          </a:xfrm>
          <a:prstGeom prst="rect">
            <a:avLst/>
          </a:prstGeom>
          <a:noFill/>
        </p:spPr>
        <p:txBody>
          <a:bodyPr wrap="square">
            <a:spAutoFit/>
          </a:bodyPr>
          <a:lstStyle/>
          <a:p>
            <a:pPr algn="l">
              <a:spcAft>
                <a:spcPts val="200"/>
              </a:spcAft>
            </a:pPr>
            <a:r>
              <a:rPr sz="1400" b="0">
                <a:solidFill>
                  <a:srgbClr val="FFFFFF"/>
                </a:solidFill>
                <a:latin typeface="メイリオ"/>
              </a:rPr>
              <a:t>ビジネスモデルの変革</a:t>
            </a:r>
          </a:p>
        </p:txBody>
      </p:sp>
      <p:sp>
        <p:nvSpPr>
          <p:cNvPr id="22" name="TextBox 21"/>
          <p:cNvSpPr txBox="1"/>
          <p:nvPr/>
        </p:nvSpPr>
        <p:spPr>
          <a:xfrm>
            <a:off x="3749039" y="4526280"/>
            <a:ext cx="7772400" cy="914400"/>
          </a:xfrm>
          <a:prstGeom prst="rect">
            <a:avLst/>
          </a:prstGeom>
          <a:noFill/>
        </p:spPr>
        <p:txBody>
          <a:bodyPr wrap="square">
            <a:spAutoFit/>
          </a:bodyPr>
          <a:lstStyle/>
          <a:p>
            <a:pPr algn="l">
              <a:spcAft>
                <a:spcPts val="200"/>
              </a:spcAft>
            </a:pPr>
            <a:r>
              <a:rPr sz="1800" b="0">
                <a:solidFill>
                  <a:srgbClr val="262626"/>
                </a:solidFill>
                <a:latin typeface="メイリオ"/>
              </a:rPr>
              <a:t>データを核にした新サービス・収益モデルの創出
「企業価値の再定義」レベル</a:t>
            </a:r>
          </a:p>
        </p:txBody>
      </p:sp>
      <p:sp>
        <p:nvSpPr>
          <p:cNvPr id="23" name="Rectangle 22"/>
          <p:cNvSpPr/>
          <p:nvPr/>
        </p:nvSpPr>
        <p:spPr>
          <a:xfrm>
            <a:off x="365760" y="5760720"/>
            <a:ext cx="11430000" cy="457200"/>
          </a:xfrm>
          <a:prstGeom prst="rect">
            <a:avLst/>
          </a:prstGeom>
          <a:solidFill>
            <a:srgbClr val="FFF2CC"/>
          </a:solidFill>
          <a:ln w="12700">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5806440"/>
            <a:ext cx="11247120" cy="384048"/>
          </a:xfrm>
          <a:prstGeom prst="rect">
            <a:avLst/>
          </a:prstGeom>
          <a:noFill/>
        </p:spPr>
        <p:txBody>
          <a:bodyPr wrap="square">
            <a:spAutoFit/>
          </a:bodyPr>
          <a:lstStyle/>
          <a:p>
            <a:pPr algn="l">
              <a:spcAft>
                <a:spcPts val="200"/>
              </a:spcAft>
            </a:pPr>
            <a:r>
              <a:rPr sz="1800" b="1">
                <a:solidFill>
                  <a:srgbClr val="B88600"/>
                </a:solidFill>
                <a:latin typeface="メイリオ"/>
              </a:rPr>
              <a:t>経産省「2025年の崖」：DXに失敗した企業は最大12兆円/年の経済損失と推計。既存IT維持コストがDX投資を圧迫</a:t>
            </a:r>
          </a:p>
        </p:txBody>
      </p:sp>
      <p:sp>
        <p:nvSpPr>
          <p:cNvPr id="25" name="TextBox 24"/>
          <p:cNvSpPr txBox="1"/>
          <p:nvPr/>
        </p:nvSpPr>
        <p:spPr>
          <a:xfrm>
            <a:off x="457200" y="6309360"/>
            <a:ext cx="11247120" cy="384048"/>
          </a:xfrm>
          <a:prstGeom prst="rect">
            <a:avLst/>
          </a:prstGeom>
          <a:noFill/>
        </p:spPr>
        <p:txBody>
          <a:bodyPr wrap="square">
            <a:spAutoFit/>
          </a:bodyPr>
          <a:lstStyle/>
          <a:p>
            <a:pPr algn="l">
              <a:spcAft>
                <a:spcPts val="200"/>
              </a:spcAft>
            </a:pPr>
            <a:r>
              <a:rPr sz="1800" b="0">
                <a:solidFill>
                  <a:srgbClr val="262626"/>
                </a:solidFill>
                <a:latin typeface="メイリオ"/>
              </a:rPr>
              <a:t>→ データ経営の構築はDX推進の核心。「データを持つ企業」と「持たない企業」の格差は急拡大している</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1551615" cy="658368"/>
          </a:xfrm>
          <a:prstGeom prst="rect">
            <a:avLst/>
          </a:prstGeom>
          <a:noFill/>
        </p:spPr>
        <p:txBody>
          <a:bodyPr wrap="square">
            <a:spAutoFit/>
          </a:bodyPr>
          <a:lstStyle/>
          <a:p>
            <a:pPr algn="l">
              <a:spcAft>
                <a:spcPts val="200"/>
              </a:spcAft>
            </a:pPr>
            <a:r>
              <a:rPr sz="2600" b="1">
                <a:solidFill>
                  <a:srgbClr val="FFFFFF"/>
                </a:solidFill>
                <a:latin typeface="メイリオ"/>
              </a:rPr>
              <a:t>データ組織の構築とデータ人材</a:t>
            </a:r>
          </a:p>
        </p:txBody>
      </p:sp>
      <p:sp>
        <p:nvSpPr>
          <p:cNvPr id="4" name="TextBox 3"/>
          <p:cNvSpPr txBox="1"/>
          <p:nvPr/>
        </p:nvSpPr>
        <p:spPr>
          <a:xfrm>
            <a:off x="320040" y="841248"/>
            <a:ext cx="11551615" cy="457200"/>
          </a:xfrm>
          <a:prstGeom prst="rect">
            <a:avLst/>
          </a:prstGeom>
          <a:noFill/>
        </p:spPr>
        <p:txBody>
          <a:bodyPr wrap="square">
            <a:spAutoFit/>
          </a:bodyPr>
          <a:lstStyle/>
          <a:p>
            <a:pPr algn="l">
              <a:spcAft>
                <a:spcPts val="200"/>
              </a:spcAft>
            </a:pPr>
            <a:r>
              <a:rPr sz="1800" b="1">
                <a:solidFill>
                  <a:srgbClr val="4472C4"/>
                </a:solidFill>
                <a:latin typeface="メイリオ"/>
              </a:rPr>
              <a:t>Data Organization &amp; Talent</a:t>
            </a:r>
          </a:p>
        </p:txBody>
      </p:sp>
      <p:sp>
        <p:nvSpPr>
          <p:cNvPr id="5" name="Rectangle 4"/>
          <p:cNvSpPr/>
          <p:nvPr/>
        </p:nvSpPr>
        <p:spPr>
          <a:xfrm>
            <a:off x="365760" y="960120"/>
            <a:ext cx="11430000" cy="594360"/>
          </a:xfrm>
          <a:prstGeom prst="rect">
            <a:avLst/>
          </a:prstGeom>
          <a:solidFill>
            <a:srgbClr val="0070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33271"/>
            <a:ext cx="11064240" cy="457200"/>
          </a:xfrm>
          <a:prstGeom prst="rect">
            <a:avLst/>
          </a:prstGeom>
          <a:noFill/>
        </p:spPr>
        <p:txBody>
          <a:bodyPr wrap="square">
            <a:spAutoFit/>
          </a:bodyPr>
          <a:lstStyle/>
          <a:p>
            <a:pPr algn="l">
              <a:spcAft>
                <a:spcPts val="200"/>
              </a:spcAft>
            </a:pPr>
            <a:r>
              <a:rPr sz="2000" b="1">
                <a:solidFill>
                  <a:srgbClr val="FFFFFF"/>
                </a:solidFill>
                <a:latin typeface="メイリオ"/>
              </a:rPr>
              <a:t>データ経営を推進するには「人材」「組織」「文化」の3つを同時に整備する必要がある</a:t>
            </a:r>
          </a:p>
        </p:txBody>
      </p:sp>
      <p:sp>
        <p:nvSpPr>
          <p:cNvPr id="7" name="Rectangle 6"/>
          <p:cNvSpPr/>
          <p:nvPr/>
        </p:nvSpPr>
        <p:spPr>
          <a:xfrm>
            <a:off x="365760" y="1737360"/>
            <a:ext cx="2788920" cy="73152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 y="1783080"/>
            <a:ext cx="2651760" cy="411480"/>
          </a:xfrm>
          <a:prstGeom prst="rect">
            <a:avLst/>
          </a:prstGeom>
          <a:noFill/>
        </p:spPr>
        <p:txBody>
          <a:bodyPr wrap="square">
            <a:spAutoFit/>
          </a:bodyPr>
          <a:lstStyle/>
          <a:p>
            <a:pPr algn="ctr">
              <a:spcAft>
                <a:spcPts val="200"/>
              </a:spcAft>
            </a:pPr>
            <a:r>
              <a:rPr sz="1600" b="1">
                <a:solidFill>
                  <a:srgbClr val="FFFFFF"/>
                </a:solidFill>
                <a:latin typeface="メイリオ"/>
              </a:rPr>
              <a:t>CDO
Chief Data Officer</a:t>
            </a:r>
          </a:p>
        </p:txBody>
      </p:sp>
      <p:sp>
        <p:nvSpPr>
          <p:cNvPr id="9" name="TextBox 8"/>
          <p:cNvSpPr txBox="1"/>
          <p:nvPr/>
        </p:nvSpPr>
        <p:spPr>
          <a:xfrm>
            <a:off x="438912" y="2194560"/>
            <a:ext cx="2651760" cy="228600"/>
          </a:xfrm>
          <a:prstGeom prst="rect">
            <a:avLst/>
          </a:prstGeom>
          <a:noFill/>
        </p:spPr>
        <p:txBody>
          <a:bodyPr wrap="square">
            <a:spAutoFit/>
          </a:bodyPr>
          <a:lstStyle/>
          <a:p>
            <a:pPr algn="ctr">
              <a:spcAft>
                <a:spcPts val="200"/>
              </a:spcAft>
            </a:pPr>
            <a:r>
              <a:rPr sz="1300" b="0">
                <a:solidFill>
                  <a:srgbClr val="FFFFFF"/>
                </a:solidFill>
                <a:latin typeface="メイリオ"/>
              </a:rPr>
              <a:t>最高データ責任者</a:t>
            </a:r>
          </a:p>
        </p:txBody>
      </p:sp>
      <p:sp>
        <p:nvSpPr>
          <p:cNvPr id="10" name="Rectangle 9"/>
          <p:cNvSpPr/>
          <p:nvPr/>
        </p:nvSpPr>
        <p:spPr>
          <a:xfrm>
            <a:off x="365760" y="2468880"/>
            <a:ext cx="2788920" cy="2514600"/>
          </a:xfrm>
          <a:prstGeom prst="rect">
            <a:avLst/>
          </a:prstGeom>
          <a:solidFill>
            <a:srgbClr val="F2F2F2"/>
          </a:solidFill>
          <a:ln w="12700">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560320"/>
            <a:ext cx="2606040" cy="2331720"/>
          </a:xfrm>
          <a:prstGeom prst="rect">
            <a:avLst/>
          </a:prstGeom>
          <a:noFill/>
        </p:spPr>
        <p:txBody>
          <a:bodyPr wrap="square">
            <a:spAutoFit/>
          </a:bodyPr>
          <a:lstStyle/>
          <a:p>
            <a:pPr algn="l">
              <a:spcAft>
                <a:spcPts val="200"/>
              </a:spcAft>
            </a:pPr>
            <a:r>
              <a:rPr sz="1700" b="0">
                <a:solidFill>
                  <a:srgbClr val="262626"/>
                </a:solidFill>
                <a:latin typeface="メイリオ"/>
              </a:rPr>
              <a:t>データ戦略の立案・推進</a:t>
            </a:r>
          </a:p>
          <a:p>
            <a:pPr algn="l">
              <a:spcAft>
                <a:spcPts val="200"/>
              </a:spcAft>
            </a:pPr>
            <a:r>
              <a:rPr sz="1700" b="0">
                <a:solidFill>
                  <a:srgbClr val="262626"/>
                </a:solidFill>
                <a:latin typeface="メイリオ"/>
              </a:rPr>
              <a:t>データガバナンスの統括</a:t>
            </a:r>
          </a:p>
          <a:p>
            <a:pPr algn="l">
              <a:spcAft>
                <a:spcPts val="200"/>
              </a:spcAft>
            </a:pPr>
            <a:r>
              <a:rPr sz="1700" b="0">
                <a:solidFill>
                  <a:srgbClr val="262626"/>
                </a:solidFill>
                <a:latin typeface="メイリオ"/>
              </a:rPr>
              <a:t>経営陣とのデータ活用調整</a:t>
            </a:r>
          </a:p>
          <a:p>
            <a:pPr algn="l">
              <a:spcAft>
                <a:spcPts val="200"/>
              </a:spcAft>
            </a:pPr>
            <a:r>
              <a:rPr sz="1700" b="0">
                <a:solidFill>
                  <a:srgbClr val="262626"/>
                </a:solidFill>
                <a:latin typeface="メイリオ"/>
              </a:rPr>
              <a:t>組織横断のデータ文化醸成</a:t>
            </a:r>
          </a:p>
        </p:txBody>
      </p:sp>
      <p:sp>
        <p:nvSpPr>
          <p:cNvPr id="12" name="Rectangle 11"/>
          <p:cNvSpPr/>
          <p:nvPr/>
        </p:nvSpPr>
        <p:spPr>
          <a:xfrm>
            <a:off x="3291840" y="1737360"/>
            <a:ext cx="2788920" cy="7315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64992" y="1783080"/>
            <a:ext cx="2651760" cy="411480"/>
          </a:xfrm>
          <a:prstGeom prst="rect">
            <a:avLst/>
          </a:prstGeom>
          <a:noFill/>
        </p:spPr>
        <p:txBody>
          <a:bodyPr wrap="square">
            <a:spAutoFit/>
          </a:bodyPr>
          <a:lstStyle/>
          <a:p>
            <a:pPr algn="ctr">
              <a:spcAft>
                <a:spcPts val="200"/>
              </a:spcAft>
            </a:pPr>
            <a:r>
              <a:rPr sz="1600" b="1">
                <a:solidFill>
                  <a:srgbClr val="FFFFFF"/>
                </a:solidFill>
                <a:latin typeface="メイリオ"/>
              </a:rPr>
              <a:t>データサイエンティスト</a:t>
            </a:r>
          </a:p>
        </p:txBody>
      </p:sp>
      <p:sp>
        <p:nvSpPr>
          <p:cNvPr id="14" name="TextBox 13"/>
          <p:cNvSpPr txBox="1"/>
          <p:nvPr/>
        </p:nvSpPr>
        <p:spPr>
          <a:xfrm>
            <a:off x="3364992" y="2194560"/>
            <a:ext cx="2651760" cy="228600"/>
          </a:xfrm>
          <a:prstGeom prst="rect">
            <a:avLst/>
          </a:prstGeom>
          <a:noFill/>
        </p:spPr>
        <p:txBody>
          <a:bodyPr wrap="square">
            <a:spAutoFit/>
          </a:bodyPr>
          <a:lstStyle/>
          <a:p>
            <a:pPr algn="ctr">
              <a:spcAft>
                <a:spcPts val="200"/>
              </a:spcAft>
            </a:pPr>
            <a:r>
              <a:rPr sz="1300" b="0">
                <a:solidFill>
                  <a:srgbClr val="FFFFFF"/>
                </a:solidFill>
                <a:latin typeface="メイリオ"/>
              </a:rPr>
              <a:t>分析・モデル開発</a:t>
            </a:r>
          </a:p>
        </p:txBody>
      </p:sp>
      <p:sp>
        <p:nvSpPr>
          <p:cNvPr id="15" name="Rectangle 14"/>
          <p:cNvSpPr/>
          <p:nvPr/>
        </p:nvSpPr>
        <p:spPr>
          <a:xfrm>
            <a:off x="3291840" y="2468880"/>
            <a:ext cx="2788920" cy="2514600"/>
          </a:xfrm>
          <a:prstGeom prst="rect">
            <a:avLst/>
          </a:prstGeom>
          <a:solidFill>
            <a:srgbClr val="F2F2F2"/>
          </a:solidFill>
          <a:ln w="1270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83280" y="2560320"/>
            <a:ext cx="2606040" cy="2331720"/>
          </a:xfrm>
          <a:prstGeom prst="rect">
            <a:avLst/>
          </a:prstGeom>
          <a:noFill/>
        </p:spPr>
        <p:txBody>
          <a:bodyPr wrap="square">
            <a:spAutoFit/>
          </a:bodyPr>
          <a:lstStyle/>
          <a:p>
            <a:pPr algn="l">
              <a:spcAft>
                <a:spcPts val="200"/>
              </a:spcAft>
            </a:pPr>
            <a:r>
              <a:rPr sz="1700" b="0">
                <a:solidFill>
                  <a:srgbClr val="262626"/>
                </a:solidFill>
                <a:latin typeface="メイリオ"/>
              </a:rPr>
              <a:t>機械学習モデルの開発</a:t>
            </a:r>
          </a:p>
          <a:p>
            <a:pPr algn="l">
              <a:spcAft>
                <a:spcPts val="200"/>
              </a:spcAft>
            </a:pPr>
            <a:r>
              <a:rPr sz="1700" b="0">
                <a:solidFill>
                  <a:srgbClr val="262626"/>
                </a:solidFill>
                <a:latin typeface="メイリオ"/>
              </a:rPr>
              <a:t>統計分析・仮説検証</a:t>
            </a:r>
          </a:p>
          <a:p>
            <a:pPr algn="l">
              <a:spcAft>
                <a:spcPts val="200"/>
              </a:spcAft>
            </a:pPr>
            <a:r>
              <a:rPr sz="1700" b="0">
                <a:solidFill>
                  <a:srgbClr val="262626"/>
                </a:solidFill>
                <a:latin typeface="メイリオ"/>
              </a:rPr>
              <a:t>ビジネス課題の数値化</a:t>
            </a:r>
          </a:p>
          <a:p>
            <a:pPr algn="l">
              <a:spcAft>
                <a:spcPts val="200"/>
              </a:spcAft>
            </a:pPr>
            <a:r>
              <a:rPr sz="1700" b="0">
                <a:solidFill>
                  <a:srgbClr val="262626"/>
                </a:solidFill>
                <a:latin typeface="メイリオ"/>
              </a:rPr>
              <a:t>分析結果の経営への提言</a:t>
            </a:r>
          </a:p>
        </p:txBody>
      </p:sp>
      <p:sp>
        <p:nvSpPr>
          <p:cNvPr id="17" name="Rectangle 16"/>
          <p:cNvSpPr/>
          <p:nvPr/>
        </p:nvSpPr>
        <p:spPr>
          <a:xfrm>
            <a:off x="6217920" y="1737360"/>
            <a:ext cx="2788920" cy="731520"/>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91072" y="1783080"/>
            <a:ext cx="2651760" cy="411480"/>
          </a:xfrm>
          <a:prstGeom prst="rect">
            <a:avLst/>
          </a:prstGeom>
          <a:noFill/>
        </p:spPr>
        <p:txBody>
          <a:bodyPr wrap="square">
            <a:spAutoFit/>
          </a:bodyPr>
          <a:lstStyle/>
          <a:p>
            <a:pPr algn="ctr">
              <a:spcAft>
                <a:spcPts val="200"/>
              </a:spcAft>
            </a:pPr>
            <a:r>
              <a:rPr sz="1600" b="1">
                <a:solidFill>
                  <a:srgbClr val="FFFFFF"/>
                </a:solidFill>
                <a:latin typeface="メイリオ"/>
              </a:rPr>
              <a:t>データエンジニア</a:t>
            </a:r>
          </a:p>
        </p:txBody>
      </p:sp>
      <p:sp>
        <p:nvSpPr>
          <p:cNvPr id="19" name="TextBox 18"/>
          <p:cNvSpPr txBox="1"/>
          <p:nvPr/>
        </p:nvSpPr>
        <p:spPr>
          <a:xfrm>
            <a:off x="6291072" y="2194560"/>
            <a:ext cx="2651760" cy="228600"/>
          </a:xfrm>
          <a:prstGeom prst="rect">
            <a:avLst/>
          </a:prstGeom>
          <a:noFill/>
        </p:spPr>
        <p:txBody>
          <a:bodyPr wrap="square">
            <a:spAutoFit/>
          </a:bodyPr>
          <a:lstStyle/>
          <a:p>
            <a:pPr algn="ctr">
              <a:spcAft>
                <a:spcPts val="200"/>
              </a:spcAft>
            </a:pPr>
            <a:r>
              <a:rPr sz="1300" b="0">
                <a:solidFill>
                  <a:srgbClr val="FFFFFF"/>
                </a:solidFill>
                <a:latin typeface="メイリオ"/>
              </a:rPr>
              <a:t>基盤・パイプライン</a:t>
            </a:r>
          </a:p>
        </p:txBody>
      </p:sp>
      <p:sp>
        <p:nvSpPr>
          <p:cNvPr id="20" name="Rectangle 19"/>
          <p:cNvSpPr/>
          <p:nvPr/>
        </p:nvSpPr>
        <p:spPr>
          <a:xfrm>
            <a:off x="6217920" y="2468880"/>
            <a:ext cx="2788920" cy="2514600"/>
          </a:xfrm>
          <a:prstGeom prst="rect">
            <a:avLst/>
          </a:prstGeom>
          <a:solidFill>
            <a:srgbClr val="F2F2F2"/>
          </a:solidFill>
          <a:ln w="1270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9360" y="2560320"/>
            <a:ext cx="2606040" cy="2331720"/>
          </a:xfrm>
          <a:prstGeom prst="rect">
            <a:avLst/>
          </a:prstGeom>
          <a:noFill/>
        </p:spPr>
        <p:txBody>
          <a:bodyPr wrap="square">
            <a:spAutoFit/>
          </a:bodyPr>
          <a:lstStyle/>
          <a:p>
            <a:pPr algn="l">
              <a:spcAft>
                <a:spcPts val="200"/>
              </a:spcAft>
            </a:pPr>
            <a:r>
              <a:rPr sz="1700" b="0">
                <a:solidFill>
                  <a:srgbClr val="262626"/>
                </a:solidFill>
                <a:latin typeface="メイリオ"/>
              </a:rPr>
              <a:t>データ収集・加工・蓄積</a:t>
            </a:r>
          </a:p>
          <a:p>
            <a:pPr algn="l">
              <a:spcAft>
                <a:spcPts val="200"/>
              </a:spcAft>
            </a:pPr>
            <a:r>
              <a:rPr sz="1700" b="0">
                <a:solidFill>
                  <a:srgbClr val="262626"/>
                </a:solidFill>
                <a:latin typeface="メイリオ"/>
              </a:rPr>
              <a:t>データウェアハウス構築</a:t>
            </a:r>
          </a:p>
          <a:p>
            <a:pPr algn="l">
              <a:spcAft>
                <a:spcPts val="200"/>
              </a:spcAft>
            </a:pPr>
            <a:r>
              <a:rPr sz="1700" b="0">
                <a:solidFill>
                  <a:srgbClr val="262626"/>
                </a:solidFill>
                <a:latin typeface="メイリオ"/>
              </a:rPr>
              <a:t>ETLパイプラインの開発</a:t>
            </a:r>
          </a:p>
          <a:p>
            <a:pPr algn="l">
              <a:spcAft>
                <a:spcPts val="200"/>
              </a:spcAft>
            </a:pPr>
            <a:r>
              <a:rPr sz="1700" b="0">
                <a:solidFill>
                  <a:srgbClr val="262626"/>
                </a:solidFill>
                <a:latin typeface="メイリオ"/>
              </a:rPr>
              <a:t>データ品質の維持管理</a:t>
            </a:r>
          </a:p>
        </p:txBody>
      </p:sp>
      <p:sp>
        <p:nvSpPr>
          <p:cNvPr id="22" name="Rectangle 21"/>
          <p:cNvSpPr/>
          <p:nvPr/>
        </p:nvSpPr>
        <p:spPr>
          <a:xfrm>
            <a:off x="9144000" y="1737360"/>
            <a:ext cx="2788920" cy="731520"/>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17152" y="1783080"/>
            <a:ext cx="2651760" cy="411480"/>
          </a:xfrm>
          <a:prstGeom prst="rect">
            <a:avLst/>
          </a:prstGeom>
          <a:noFill/>
        </p:spPr>
        <p:txBody>
          <a:bodyPr wrap="square">
            <a:spAutoFit/>
          </a:bodyPr>
          <a:lstStyle/>
          <a:p>
            <a:pPr algn="ctr">
              <a:spcAft>
                <a:spcPts val="200"/>
              </a:spcAft>
            </a:pPr>
            <a:r>
              <a:rPr sz="1600" b="1">
                <a:solidFill>
                  <a:srgbClr val="FFFFFF"/>
                </a:solidFill>
                <a:latin typeface="メイリオ"/>
              </a:rPr>
              <a:t>ビジネスアナリスト</a:t>
            </a:r>
          </a:p>
        </p:txBody>
      </p:sp>
      <p:sp>
        <p:nvSpPr>
          <p:cNvPr id="24" name="TextBox 23"/>
          <p:cNvSpPr txBox="1"/>
          <p:nvPr/>
        </p:nvSpPr>
        <p:spPr>
          <a:xfrm>
            <a:off x="9217152" y="2194560"/>
            <a:ext cx="2651760" cy="228600"/>
          </a:xfrm>
          <a:prstGeom prst="rect">
            <a:avLst/>
          </a:prstGeom>
          <a:noFill/>
        </p:spPr>
        <p:txBody>
          <a:bodyPr wrap="square">
            <a:spAutoFit/>
          </a:bodyPr>
          <a:lstStyle/>
          <a:p>
            <a:pPr algn="ctr">
              <a:spcAft>
                <a:spcPts val="200"/>
              </a:spcAft>
            </a:pPr>
            <a:r>
              <a:rPr sz="1300" b="0">
                <a:solidFill>
                  <a:srgbClr val="FFFFFF"/>
                </a:solidFill>
                <a:latin typeface="メイリオ"/>
              </a:rPr>
              <a:t>分析・意思決定支援</a:t>
            </a:r>
          </a:p>
        </p:txBody>
      </p:sp>
      <p:sp>
        <p:nvSpPr>
          <p:cNvPr id="25" name="Rectangle 24"/>
          <p:cNvSpPr/>
          <p:nvPr/>
        </p:nvSpPr>
        <p:spPr>
          <a:xfrm>
            <a:off x="9144000" y="2468880"/>
            <a:ext cx="2788920" cy="2514600"/>
          </a:xfrm>
          <a:prstGeom prst="rect">
            <a:avLst/>
          </a:prstGeom>
          <a:solidFill>
            <a:srgbClr val="F2F2F2"/>
          </a:solidFill>
          <a:ln w="12700">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35440" y="2560320"/>
            <a:ext cx="2606040" cy="2331720"/>
          </a:xfrm>
          <a:prstGeom prst="rect">
            <a:avLst/>
          </a:prstGeom>
          <a:noFill/>
        </p:spPr>
        <p:txBody>
          <a:bodyPr wrap="square">
            <a:spAutoFit/>
          </a:bodyPr>
          <a:lstStyle/>
          <a:p>
            <a:pPr algn="l">
              <a:spcAft>
                <a:spcPts val="200"/>
              </a:spcAft>
            </a:pPr>
            <a:r>
              <a:rPr sz="1700" b="0">
                <a:solidFill>
                  <a:srgbClr val="262626"/>
                </a:solidFill>
                <a:latin typeface="メイリオ"/>
              </a:rPr>
              <a:t>KPI設計・ダッシュボード</a:t>
            </a:r>
          </a:p>
          <a:p>
            <a:pPr algn="l">
              <a:spcAft>
                <a:spcPts val="200"/>
              </a:spcAft>
            </a:pPr>
            <a:r>
              <a:rPr sz="1700" b="0">
                <a:solidFill>
                  <a:srgbClr val="262626"/>
                </a:solidFill>
                <a:latin typeface="メイリオ"/>
              </a:rPr>
              <a:t>現場データの収集・整理</a:t>
            </a:r>
          </a:p>
          <a:p>
            <a:pPr algn="l">
              <a:spcAft>
                <a:spcPts val="200"/>
              </a:spcAft>
            </a:pPr>
            <a:r>
              <a:rPr sz="1700" b="0">
                <a:solidFill>
                  <a:srgbClr val="262626"/>
                </a:solidFill>
                <a:latin typeface="メイリオ"/>
              </a:rPr>
              <a:t>SQLによるデータ抽出</a:t>
            </a:r>
          </a:p>
          <a:p>
            <a:pPr algn="l">
              <a:spcAft>
                <a:spcPts val="200"/>
              </a:spcAft>
            </a:pPr>
            <a:r>
              <a:rPr sz="1700" b="0">
                <a:solidFill>
                  <a:srgbClr val="262626"/>
                </a:solidFill>
                <a:latin typeface="メイリオ"/>
              </a:rPr>
              <a:t>レポート作成・説明</a:t>
            </a:r>
          </a:p>
        </p:txBody>
      </p:sp>
      <p:sp>
        <p:nvSpPr>
          <p:cNvPr id="27" name="Rectangle 26"/>
          <p:cNvSpPr/>
          <p:nvPr/>
        </p:nvSpPr>
        <p:spPr>
          <a:xfrm>
            <a:off x="365760" y="5120640"/>
            <a:ext cx="11430000" cy="457200"/>
          </a:xfrm>
          <a:prstGeom prst="rect">
            <a:avLst/>
          </a:prstGeom>
          <a:solidFill>
            <a:srgbClr val="E1F5FE"/>
          </a:solidFill>
          <a:ln w="1270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5166360"/>
            <a:ext cx="11247120" cy="365760"/>
          </a:xfrm>
          <a:prstGeom prst="rect">
            <a:avLst/>
          </a:prstGeom>
          <a:noFill/>
        </p:spPr>
        <p:txBody>
          <a:bodyPr wrap="square">
            <a:spAutoFit/>
          </a:bodyPr>
          <a:lstStyle/>
          <a:p>
            <a:pPr algn="l">
              <a:spcAft>
                <a:spcPts val="200"/>
              </a:spcAft>
            </a:pPr>
            <a:r>
              <a:rPr sz="1800" b="1">
                <a:solidFill>
                  <a:srgbClr val="1F3864"/>
                </a:solidFill>
                <a:latin typeface="メイリオ"/>
              </a:rPr>
              <a:t>CoE（Center of Excellence）: 全社データ活用の専門チームを設置し、各部門にデータ活用を浸透させる体制</a:t>
            </a:r>
          </a:p>
        </p:txBody>
      </p:sp>
      <p:sp>
        <p:nvSpPr>
          <p:cNvPr id="29" name="TextBox 28"/>
          <p:cNvSpPr txBox="1"/>
          <p:nvPr/>
        </p:nvSpPr>
        <p:spPr>
          <a:xfrm>
            <a:off x="365760" y="5669280"/>
            <a:ext cx="11430000" cy="411480"/>
          </a:xfrm>
          <a:prstGeom prst="rect">
            <a:avLst/>
          </a:prstGeom>
          <a:noFill/>
        </p:spPr>
        <p:txBody>
          <a:bodyPr wrap="square">
            <a:spAutoFit/>
          </a:bodyPr>
          <a:lstStyle/>
          <a:p>
            <a:pPr algn="l">
              <a:spcAft>
                <a:spcPts val="200"/>
              </a:spcAft>
            </a:pPr>
            <a:r>
              <a:rPr sz="1800" b="1">
                <a:solidFill>
                  <a:srgbClr val="C00000"/>
                </a:solidFill>
                <a:latin typeface="メイリオ"/>
              </a:rPr>
              <a:t>■ データ人材の不足：経済産業省は2030年に約79万人のIT・データ人材が不足すると試算</a:t>
            </a:r>
          </a:p>
        </p:txBody>
      </p:sp>
      <p:sp>
        <p:nvSpPr>
          <p:cNvPr id="30" name="TextBox 29"/>
          <p:cNvSpPr txBox="1"/>
          <p:nvPr/>
        </p:nvSpPr>
        <p:spPr>
          <a:xfrm>
            <a:off x="365760" y="6126480"/>
            <a:ext cx="11430000" cy="411480"/>
          </a:xfrm>
          <a:prstGeom prst="rect">
            <a:avLst/>
          </a:prstGeom>
          <a:noFill/>
        </p:spPr>
        <p:txBody>
          <a:bodyPr wrap="square">
            <a:spAutoFit/>
          </a:bodyPr>
          <a:lstStyle/>
          <a:p>
            <a:pPr algn="l">
              <a:spcAft>
                <a:spcPts val="200"/>
              </a:spcAft>
            </a:pPr>
            <a:r>
              <a:rPr sz="1800" b="0">
                <a:solidFill>
                  <a:srgbClr val="262626"/>
                </a:solidFill>
                <a:latin typeface="メイリオ"/>
              </a:rPr>
              <a:t>→ この講義でデータ分析の基礎を身につけることが、キャリアの大きな強みになる</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1551615" cy="658368"/>
          </a:xfrm>
          <a:prstGeom prst="rect">
            <a:avLst/>
          </a:prstGeom>
          <a:noFill/>
        </p:spPr>
        <p:txBody>
          <a:bodyPr wrap="square">
            <a:spAutoFit/>
          </a:bodyPr>
          <a:lstStyle/>
          <a:p>
            <a:pPr algn="l">
              <a:spcAft>
                <a:spcPts val="200"/>
              </a:spcAft>
            </a:pPr>
            <a:r>
              <a:rPr sz="2600" b="1">
                <a:solidFill>
                  <a:srgbClr val="FFFFFF"/>
                </a:solidFill>
                <a:latin typeface="メイリオ"/>
              </a:rPr>
              <a:t>データガバナンスとセキュリティ</a:t>
            </a:r>
          </a:p>
        </p:txBody>
      </p:sp>
      <p:sp>
        <p:nvSpPr>
          <p:cNvPr id="4" name="TextBox 3"/>
          <p:cNvSpPr txBox="1"/>
          <p:nvPr/>
        </p:nvSpPr>
        <p:spPr>
          <a:xfrm>
            <a:off x="320040" y="841248"/>
            <a:ext cx="11551615" cy="457200"/>
          </a:xfrm>
          <a:prstGeom prst="rect">
            <a:avLst/>
          </a:prstGeom>
          <a:noFill/>
        </p:spPr>
        <p:txBody>
          <a:bodyPr wrap="square">
            <a:spAutoFit/>
          </a:bodyPr>
          <a:lstStyle/>
          <a:p>
            <a:pPr algn="l">
              <a:spcAft>
                <a:spcPts val="200"/>
              </a:spcAft>
            </a:pPr>
            <a:r>
              <a:rPr sz="1800" b="1">
                <a:solidFill>
                  <a:srgbClr val="4472C4"/>
                </a:solidFill>
                <a:latin typeface="メイリオ"/>
              </a:rPr>
              <a:t>Data Governance &amp; Security</a:t>
            </a:r>
          </a:p>
        </p:txBody>
      </p:sp>
      <p:sp>
        <p:nvSpPr>
          <p:cNvPr id="5" name="Rectangle 4"/>
          <p:cNvSpPr/>
          <p:nvPr/>
        </p:nvSpPr>
        <p:spPr>
          <a:xfrm>
            <a:off x="365760" y="960120"/>
            <a:ext cx="11430000" cy="59436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33271"/>
            <a:ext cx="11064240" cy="457200"/>
          </a:xfrm>
          <a:prstGeom prst="rect">
            <a:avLst/>
          </a:prstGeom>
          <a:noFill/>
        </p:spPr>
        <p:txBody>
          <a:bodyPr wrap="square">
            <a:spAutoFit/>
          </a:bodyPr>
          <a:lstStyle/>
          <a:p>
            <a:pPr algn="l">
              <a:spcAft>
                <a:spcPts val="200"/>
              </a:spcAft>
            </a:pPr>
            <a:r>
              <a:rPr sz="2000" b="1">
                <a:solidFill>
                  <a:srgbClr val="FFFFFF"/>
                </a:solidFill>
                <a:latin typeface="メイリオ"/>
              </a:rPr>
              <a:t>データガバナンス = データを「正しく・安全に・効果的に」活用するためのルールと体制</a:t>
            </a:r>
          </a:p>
        </p:txBody>
      </p:sp>
      <p:sp>
        <p:nvSpPr>
          <p:cNvPr id="7" name="Rectangle 6"/>
          <p:cNvSpPr/>
          <p:nvPr/>
        </p:nvSpPr>
        <p:spPr>
          <a:xfrm>
            <a:off x="365760" y="1737360"/>
            <a:ext cx="2788920" cy="54864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 y="1783080"/>
            <a:ext cx="2651760" cy="502920"/>
          </a:xfrm>
          <a:prstGeom prst="rect">
            <a:avLst/>
          </a:prstGeom>
          <a:noFill/>
        </p:spPr>
        <p:txBody>
          <a:bodyPr wrap="square">
            <a:spAutoFit/>
          </a:bodyPr>
          <a:lstStyle/>
          <a:p>
            <a:pPr algn="ctr">
              <a:spcAft>
                <a:spcPts val="200"/>
              </a:spcAft>
            </a:pPr>
            <a:r>
              <a:rPr sz="1900" b="1">
                <a:solidFill>
                  <a:srgbClr val="FFFFFF"/>
                </a:solidFill>
                <a:latin typeface="メイリオ"/>
              </a:rPr>
              <a:t>データ品質</a:t>
            </a:r>
          </a:p>
        </p:txBody>
      </p:sp>
      <p:sp>
        <p:nvSpPr>
          <p:cNvPr id="9" name="Rectangle 8"/>
          <p:cNvSpPr/>
          <p:nvPr/>
        </p:nvSpPr>
        <p:spPr>
          <a:xfrm>
            <a:off x="365760" y="2286000"/>
            <a:ext cx="2788920" cy="2560320"/>
          </a:xfrm>
          <a:prstGeom prst="rect">
            <a:avLst/>
          </a:prstGeom>
          <a:solidFill>
            <a:srgbClr val="F2F2F2"/>
          </a:solidFill>
          <a:ln w="635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377440"/>
            <a:ext cx="2606040" cy="2377440"/>
          </a:xfrm>
          <a:prstGeom prst="rect">
            <a:avLst/>
          </a:prstGeom>
          <a:noFill/>
        </p:spPr>
        <p:txBody>
          <a:bodyPr wrap="square">
            <a:spAutoFit/>
          </a:bodyPr>
          <a:lstStyle/>
          <a:p>
            <a:pPr algn="l">
              <a:spcAft>
                <a:spcPts val="200"/>
              </a:spcAft>
            </a:pPr>
            <a:r>
              <a:rPr sz="1700" b="0">
                <a:solidFill>
                  <a:srgbClr val="262626"/>
                </a:solidFill>
                <a:latin typeface="メイリオ"/>
              </a:rPr>
              <a:t>正確性：データの誤りを排除</a:t>
            </a:r>
          </a:p>
          <a:p>
            <a:pPr algn="l">
              <a:spcAft>
                <a:spcPts val="200"/>
              </a:spcAft>
            </a:pPr>
            <a:r>
              <a:rPr sz="1700" b="0">
                <a:solidFill>
                  <a:srgbClr val="262626"/>
                </a:solidFill>
                <a:latin typeface="メイリオ"/>
              </a:rPr>
              <a:t>完全性：欠損・漏れをなくす</a:t>
            </a:r>
          </a:p>
          <a:p>
            <a:pPr algn="l">
              <a:spcAft>
                <a:spcPts val="200"/>
              </a:spcAft>
            </a:pPr>
            <a:r>
              <a:rPr sz="1700" b="0">
                <a:solidFill>
                  <a:srgbClr val="262626"/>
                </a:solidFill>
                <a:latin typeface="メイリオ"/>
              </a:rPr>
              <a:t>一貫性：複数DBで矛盾しない</a:t>
            </a:r>
          </a:p>
          <a:p>
            <a:pPr algn="l">
              <a:spcAft>
                <a:spcPts val="200"/>
              </a:spcAft>
            </a:pPr>
            <a:r>
              <a:rPr sz="1700" b="0">
                <a:solidFill>
                  <a:srgbClr val="262626"/>
                </a:solidFill>
                <a:latin typeface="メイリオ"/>
              </a:rPr>
              <a:t>最新性：リアルタイムで更新</a:t>
            </a:r>
          </a:p>
        </p:txBody>
      </p:sp>
      <p:sp>
        <p:nvSpPr>
          <p:cNvPr id="11" name="Rectangle 10"/>
          <p:cNvSpPr/>
          <p:nvPr/>
        </p:nvSpPr>
        <p:spPr>
          <a:xfrm>
            <a:off x="3291840" y="1737360"/>
            <a:ext cx="2788920" cy="5486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64992" y="1783080"/>
            <a:ext cx="2651760" cy="502920"/>
          </a:xfrm>
          <a:prstGeom prst="rect">
            <a:avLst/>
          </a:prstGeom>
          <a:noFill/>
        </p:spPr>
        <p:txBody>
          <a:bodyPr wrap="square">
            <a:spAutoFit/>
          </a:bodyPr>
          <a:lstStyle/>
          <a:p>
            <a:pPr algn="ctr">
              <a:spcAft>
                <a:spcPts val="200"/>
              </a:spcAft>
            </a:pPr>
            <a:r>
              <a:rPr sz="1900" b="1">
                <a:solidFill>
                  <a:srgbClr val="FFFFFF"/>
                </a:solidFill>
                <a:latin typeface="メイリオ"/>
              </a:rPr>
              <a:t>セキュリティ</a:t>
            </a:r>
          </a:p>
        </p:txBody>
      </p:sp>
      <p:sp>
        <p:nvSpPr>
          <p:cNvPr id="13" name="Rectangle 12"/>
          <p:cNvSpPr/>
          <p:nvPr/>
        </p:nvSpPr>
        <p:spPr>
          <a:xfrm>
            <a:off x="3291840" y="2286000"/>
            <a:ext cx="2788920" cy="2560320"/>
          </a:xfrm>
          <a:prstGeom prst="rect">
            <a:avLst/>
          </a:prstGeom>
          <a:solidFill>
            <a:srgbClr val="F2F2F2"/>
          </a:solidFill>
          <a:ln w="6350">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83280" y="2377440"/>
            <a:ext cx="2606040" cy="2377440"/>
          </a:xfrm>
          <a:prstGeom prst="rect">
            <a:avLst/>
          </a:prstGeom>
          <a:noFill/>
        </p:spPr>
        <p:txBody>
          <a:bodyPr wrap="square">
            <a:spAutoFit/>
          </a:bodyPr>
          <a:lstStyle/>
          <a:p>
            <a:pPr algn="l">
              <a:spcAft>
                <a:spcPts val="200"/>
              </a:spcAft>
            </a:pPr>
            <a:r>
              <a:rPr sz="1700" b="0">
                <a:solidFill>
                  <a:srgbClr val="262626"/>
                </a:solidFill>
                <a:latin typeface="メイリオ"/>
              </a:rPr>
              <a:t>アクセス制御（権限管理）</a:t>
            </a:r>
          </a:p>
          <a:p>
            <a:pPr algn="l">
              <a:spcAft>
                <a:spcPts val="200"/>
              </a:spcAft>
            </a:pPr>
            <a:r>
              <a:rPr sz="1700" b="0">
                <a:solidFill>
                  <a:srgbClr val="262626"/>
                </a:solidFill>
                <a:latin typeface="メイリオ"/>
              </a:rPr>
              <a:t>暗号化・マスキング処理</a:t>
            </a:r>
          </a:p>
          <a:p>
            <a:pPr algn="l">
              <a:spcAft>
                <a:spcPts val="200"/>
              </a:spcAft>
            </a:pPr>
            <a:r>
              <a:rPr sz="1700" b="0">
                <a:solidFill>
                  <a:srgbClr val="262626"/>
                </a:solidFill>
                <a:latin typeface="メイリオ"/>
              </a:rPr>
              <a:t>不正アクセス検知・ログ管理</a:t>
            </a:r>
          </a:p>
          <a:p>
            <a:pPr algn="l">
              <a:spcAft>
                <a:spcPts val="200"/>
              </a:spcAft>
            </a:pPr>
            <a:r>
              <a:rPr sz="1700" b="0">
                <a:solidFill>
                  <a:srgbClr val="262626"/>
                </a:solidFill>
                <a:latin typeface="メイリオ"/>
              </a:rPr>
              <a:t>インシデント対応手順の整備</a:t>
            </a:r>
          </a:p>
        </p:txBody>
      </p:sp>
      <p:sp>
        <p:nvSpPr>
          <p:cNvPr id="15" name="Rectangle 14"/>
          <p:cNvSpPr/>
          <p:nvPr/>
        </p:nvSpPr>
        <p:spPr>
          <a:xfrm>
            <a:off x="6217920" y="1737360"/>
            <a:ext cx="2788920" cy="548640"/>
          </a:xfrm>
          <a:prstGeom prst="rect">
            <a:avLst/>
          </a:prstGeom>
          <a:solidFill>
            <a:srgbClr val="703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91072" y="1783080"/>
            <a:ext cx="2651760" cy="502920"/>
          </a:xfrm>
          <a:prstGeom prst="rect">
            <a:avLst/>
          </a:prstGeom>
          <a:noFill/>
        </p:spPr>
        <p:txBody>
          <a:bodyPr wrap="square">
            <a:spAutoFit/>
          </a:bodyPr>
          <a:lstStyle/>
          <a:p>
            <a:pPr algn="ctr">
              <a:spcAft>
                <a:spcPts val="200"/>
              </a:spcAft>
            </a:pPr>
            <a:r>
              <a:rPr sz="1900" b="1">
                <a:solidFill>
                  <a:srgbClr val="FFFFFF"/>
                </a:solidFill>
                <a:latin typeface="メイリオ"/>
              </a:rPr>
              <a:t>プライバシー保護</a:t>
            </a:r>
          </a:p>
        </p:txBody>
      </p:sp>
      <p:sp>
        <p:nvSpPr>
          <p:cNvPr id="17" name="Rectangle 16"/>
          <p:cNvSpPr/>
          <p:nvPr/>
        </p:nvSpPr>
        <p:spPr>
          <a:xfrm>
            <a:off x="6217920" y="2286000"/>
            <a:ext cx="2788920" cy="2560320"/>
          </a:xfrm>
          <a:prstGeom prst="rect">
            <a:avLst/>
          </a:prstGeom>
          <a:solidFill>
            <a:srgbClr val="F2F2F2"/>
          </a:solidFill>
          <a:ln w="6350">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60" y="2377440"/>
            <a:ext cx="2606040" cy="2377440"/>
          </a:xfrm>
          <a:prstGeom prst="rect">
            <a:avLst/>
          </a:prstGeom>
          <a:noFill/>
        </p:spPr>
        <p:txBody>
          <a:bodyPr wrap="square">
            <a:spAutoFit/>
          </a:bodyPr>
          <a:lstStyle/>
          <a:p>
            <a:pPr algn="l">
              <a:spcAft>
                <a:spcPts val="200"/>
              </a:spcAft>
            </a:pPr>
            <a:r>
              <a:rPr sz="1700" b="0">
                <a:solidFill>
                  <a:srgbClr val="262626"/>
                </a:solidFill>
                <a:latin typeface="メイリオ"/>
              </a:rPr>
              <a:t>個人情報保護法への対応</a:t>
            </a:r>
          </a:p>
          <a:p>
            <a:pPr algn="l">
              <a:spcAft>
                <a:spcPts val="200"/>
              </a:spcAft>
            </a:pPr>
            <a:r>
              <a:rPr sz="1700" b="0">
                <a:solidFill>
                  <a:srgbClr val="262626"/>
                </a:solidFill>
                <a:latin typeface="メイリオ"/>
              </a:rPr>
              <a:t>GDPR（EU規制）の理解</a:t>
            </a:r>
          </a:p>
          <a:p>
            <a:pPr algn="l">
              <a:spcAft>
                <a:spcPts val="200"/>
              </a:spcAft>
            </a:pPr>
            <a:r>
              <a:rPr sz="1700" b="0">
                <a:solidFill>
                  <a:srgbClr val="262626"/>
                </a:solidFill>
                <a:latin typeface="メイリオ"/>
              </a:rPr>
              <a:t>同意管理・データ削除権</a:t>
            </a:r>
          </a:p>
          <a:p>
            <a:pPr algn="l">
              <a:spcAft>
                <a:spcPts val="200"/>
              </a:spcAft>
            </a:pPr>
            <a:r>
              <a:rPr sz="1700" b="0">
                <a:solidFill>
                  <a:srgbClr val="262626"/>
                </a:solidFill>
                <a:latin typeface="メイリオ"/>
              </a:rPr>
              <a:t>仮名化・匿名化処理</a:t>
            </a:r>
          </a:p>
        </p:txBody>
      </p:sp>
      <p:sp>
        <p:nvSpPr>
          <p:cNvPr id="19" name="Rectangle 18"/>
          <p:cNvSpPr/>
          <p:nvPr/>
        </p:nvSpPr>
        <p:spPr>
          <a:xfrm>
            <a:off x="9144000" y="1737360"/>
            <a:ext cx="2788920" cy="548640"/>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17152" y="1783080"/>
            <a:ext cx="2651760" cy="502920"/>
          </a:xfrm>
          <a:prstGeom prst="rect">
            <a:avLst/>
          </a:prstGeom>
          <a:noFill/>
        </p:spPr>
        <p:txBody>
          <a:bodyPr wrap="square">
            <a:spAutoFit/>
          </a:bodyPr>
          <a:lstStyle/>
          <a:p>
            <a:pPr algn="ctr">
              <a:spcAft>
                <a:spcPts val="200"/>
              </a:spcAft>
            </a:pPr>
            <a:r>
              <a:rPr sz="1900" b="1">
                <a:solidFill>
                  <a:srgbClr val="FFFFFF"/>
                </a:solidFill>
                <a:latin typeface="メイリオ"/>
              </a:rPr>
              <a:t>データカタログ</a:t>
            </a:r>
          </a:p>
        </p:txBody>
      </p:sp>
      <p:sp>
        <p:nvSpPr>
          <p:cNvPr id="21" name="Rectangle 20"/>
          <p:cNvSpPr/>
          <p:nvPr/>
        </p:nvSpPr>
        <p:spPr>
          <a:xfrm>
            <a:off x="9144000" y="2286000"/>
            <a:ext cx="2788920" cy="2560320"/>
          </a:xfrm>
          <a:prstGeom prst="rect">
            <a:avLst/>
          </a:prstGeom>
          <a:solidFill>
            <a:srgbClr val="F2F2F2"/>
          </a:solidFill>
          <a:ln w="635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35440" y="2377440"/>
            <a:ext cx="2606040" cy="2377440"/>
          </a:xfrm>
          <a:prstGeom prst="rect">
            <a:avLst/>
          </a:prstGeom>
          <a:noFill/>
        </p:spPr>
        <p:txBody>
          <a:bodyPr wrap="square">
            <a:spAutoFit/>
          </a:bodyPr>
          <a:lstStyle/>
          <a:p>
            <a:pPr algn="l">
              <a:spcAft>
                <a:spcPts val="200"/>
              </a:spcAft>
            </a:pPr>
            <a:r>
              <a:rPr sz="1700" b="0">
                <a:solidFill>
                  <a:srgbClr val="262626"/>
                </a:solidFill>
                <a:latin typeface="メイリオ"/>
              </a:rPr>
              <a:t>データ資産の一元管理</a:t>
            </a:r>
          </a:p>
          <a:p>
            <a:pPr algn="l">
              <a:spcAft>
                <a:spcPts val="200"/>
              </a:spcAft>
            </a:pPr>
            <a:r>
              <a:rPr sz="1700" b="0">
                <a:solidFill>
                  <a:srgbClr val="262626"/>
                </a:solidFill>
                <a:latin typeface="メイリオ"/>
              </a:rPr>
              <a:t>メタデータの整備・検索</a:t>
            </a:r>
          </a:p>
          <a:p>
            <a:pPr algn="l">
              <a:spcAft>
                <a:spcPts val="200"/>
              </a:spcAft>
            </a:pPr>
            <a:r>
              <a:rPr sz="1700" b="0">
                <a:solidFill>
                  <a:srgbClr val="262626"/>
                </a:solidFill>
                <a:latin typeface="メイリオ"/>
              </a:rPr>
              <a:t>データオーナーの明確化</a:t>
            </a:r>
          </a:p>
          <a:p>
            <a:pPr algn="l">
              <a:spcAft>
                <a:spcPts val="200"/>
              </a:spcAft>
            </a:pPr>
            <a:r>
              <a:rPr sz="1700" b="0">
                <a:solidFill>
                  <a:srgbClr val="262626"/>
                </a:solidFill>
                <a:latin typeface="メイリオ"/>
              </a:rPr>
              <a:t>データ利活用ルールの文書化</a:t>
            </a:r>
          </a:p>
        </p:txBody>
      </p:sp>
      <p:sp>
        <p:nvSpPr>
          <p:cNvPr id="23" name="Rectangle 22"/>
          <p:cNvSpPr/>
          <p:nvPr/>
        </p:nvSpPr>
        <p:spPr>
          <a:xfrm>
            <a:off x="365760" y="4983480"/>
            <a:ext cx="11430000" cy="457200"/>
          </a:xfrm>
          <a:prstGeom prst="rect">
            <a:avLst/>
          </a:prstGeom>
          <a:solidFill>
            <a:srgbClr val="FFF2CC"/>
          </a:solidFill>
          <a:ln w="12700">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5029200"/>
            <a:ext cx="11247120" cy="365760"/>
          </a:xfrm>
          <a:prstGeom prst="rect">
            <a:avLst/>
          </a:prstGeom>
          <a:noFill/>
        </p:spPr>
        <p:txBody>
          <a:bodyPr wrap="square">
            <a:spAutoFit/>
          </a:bodyPr>
          <a:lstStyle/>
          <a:p>
            <a:pPr algn="l">
              <a:spcAft>
                <a:spcPts val="200"/>
              </a:spcAft>
            </a:pPr>
            <a:r>
              <a:rPr sz="1800" b="1">
                <a:solidFill>
                  <a:srgbClr val="B88600"/>
                </a:solidFill>
                <a:latin typeface="メイリオ"/>
              </a:rPr>
              <a:t>情報漏えいの代償：平均被害額 約4.45百万ドル（IBM調査2023）。ブランド毀損・取引先喪失のリスクも甚大</a:t>
            </a:r>
          </a:p>
        </p:txBody>
      </p:sp>
      <p:sp>
        <p:nvSpPr>
          <p:cNvPr id="25" name="TextBox 24"/>
          <p:cNvSpPr txBox="1"/>
          <p:nvPr/>
        </p:nvSpPr>
        <p:spPr>
          <a:xfrm>
            <a:off x="457200" y="5532120"/>
            <a:ext cx="11247120" cy="411480"/>
          </a:xfrm>
          <a:prstGeom prst="rect">
            <a:avLst/>
          </a:prstGeom>
          <a:noFill/>
        </p:spPr>
        <p:txBody>
          <a:bodyPr wrap="square">
            <a:spAutoFit/>
          </a:bodyPr>
          <a:lstStyle/>
          <a:p>
            <a:pPr algn="l">
              <a:spcAft>
                <a:spcPts val="200"/>
              </a:spcAft>
            </a:pPr>
            <a:r>
              <a:rPr sz="1800" b="0">
                <a:solidFill>
                  <a:srgbClr val="262626"/>
                </a:solidFill>
                <a:latin typeface="メイリオ"/>
              </a:rPr>
              <a:t>3点セット：①データの棚卸し（何を持っているか把握） ②アクセス権限の整理 ③プライバシーポリシーの策定</a:t>
            </a:r>
          </a:p>
        </p:txBody>
      </p:sp>
      <p:sp>
        <p:nvSpPr>
          <p:cNvPr id="26" name="TextBox 25"/>
          <p:cNvSpPr txBox="1"/>
          <p:nvPr/>
        </p:nvSpPr>
        <p:spPr>
          <a:xfrm>
            <a:off x="457200" y="6035040"/>
            <a:ext cx="11247120" cy="411480"/>
          </a:xfrm>
          <a:prstGeom prst="rect">
            <a:avLst/>
          </a:prstGeom>
          <a:noFill/>
        </p:spPr>
        <p:txBody>
          <a:bodyPr wrap="square">
            <a:spAutoFit/>
          </a:bodyPr>
          <a:lstStyle/>
          <a:p>
            <a:pPr algn="l">
              <a:spcAft>
                <a:spcPts val="200"/>
              </a:spcAft>
            </a:pPr>
            <a:r>
              <a:rPr sz="1800" b="1">
                <a:solidFill>
                  <a:srgbClr val="1F3864"/>
                </a:solidFill>
                <a:latin typeface="メイリオ"/>
              </a:rPr>
              <a:t>→ データを「使う」前に「守る」仕組みを整えることが、データ経営の前提条件</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1551615" cy="658368"/>
          </a:xfrm>
          <a:prstGeom prst="rect">
            <a:avLst/>
          </a:prstGeom>
          <a:noFill/>
        </p:spPr>
        <p:txBody>
          <a:bodyPr wrap="square">
            <a:spAutoFit/>
          </a:bodyPr>
          <a:lstStyle/>
          <a:p>
            <a:pPr algn="l">
              <a:spcAft>
                <a:spcPts val="200"/>
              </a:spcAft>
            </a:pPr>
            <a:r>
              <a:rPr sz="2600" b="1">
                <a:solidFill>
                  <a:srgbClr val="FFFFFF"/>
                </a:solidFill>
                <a:latin typeface="メイリオ"/>
              </a:rPr>
              <a:t>KPI・OKRによるデータドリブン目標管理</a:t>
            </a:r>
          </a:p>
        </p:txBody>
      </p:sp>
      <p:sp>
        <p:nvSpPr>
          <p:cNvPr id="4" name="TextBox 3"/>
          <p:cNvSpPr txBox="1"/>
          <p:nvPr/>
        </p:nvSpPr>
        <p:spPr>
          <a:xfrm>
            <a:off x="320040" y="841248"/>
            <a:ext cx="11551615" cy="457200"/>
          </a:xfrm>
          <a:prstGeom prst="rect">
            <a:avLst/>
          </a:prstGeom>
          <a:noFill/>
        </p:spPr>
        <p:txBody>
          <a:bodyPr wrap="square">
            <a:spAutoFit/>
          </a:bodyPr>
          <a:lstStyle/>
          <a:p>
            <a:pPr algn="l">
              <a:spcAft>
                <a:spcPts val="200"/>
              </a:spcAft>
            </a:pPr>
            <a:r>
              <a:rPr sz="1800" b="1">
                <a:solidFill>
                  <a:srgbClr val="4472C4"/>
                </a:solidFill>
                <a:latin typeface="メイリオ"/>
              </a:rPr>
              <a:t>KPI &amp; OKR for Data-Driven Management</a:t>
            </a:r>
          </a:p>
        </p:txBody>
      </p:sp>
      <p:sp>
        <p:nvSpPr>
          <p:cNvPr id="5" name="Rectangle 4"/>
          <p:cNvSpPr/>
          <p:nvPr/>
        </p:nvSpPr>
        <p:spPr>
          <a:xfrm>
            <a:off x="365760" y="960120"/>
            <a:ext cx="11430000" cy="59436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33271"/>
            <a:ext cx="11064240" cy="411480"/>
          </a:xfrm>
          <a:prstGeom prst="rect">
            <a:avLst/>
          </a:prstGeom>
          <a:noFill/>
        </p:spPr>
        <p:txBody>
          <a:bodyPr wrap="square">
            <a:spAutoFit/>
          </a:bodyPr>
          <a:lstStyle/>
          <a:p>
            <a:pPr algn="l">
              <a:spcAft>
                <a:spcPts val="200"/>
              </a:spcAft>
            </a:pPr>
            <a:r>
              <a:rPr sz="2000" b="1">
                <a:solidFill>
                  <a:srgbClr val="FFFFFF"/>
                </a:solidFill>
                <a:latin typeface="メイリオ"/>
              </a:rPr>
              <a:t>「測定できないものは管理できない」— データで目標を設定・追跡・改善するPDCAの仕組み</a:t>
            </a:r>
          </a:p>
        </p:txBody>
      </p:sp>
      <p:sp>
        <p:nvSpPr>
          <p:cNvPr id="7" name="TextBox 6"/>
          <p:cNvSpPr txBox="1"/>
          <p:nvPr/>
        </p:nvSpPr>
        <p:spPr>
          <a:xfrm>
            <a:off x="548640" y="1463040"/>
            <a:ext cx="11064240" cy="274320"/>
          </a:xfrm>
          <a:prstGeom prst="rect">
            <a:avLst/>
          </a:prstGeom>
          <a:noFill/>
        </p:spPr>
        <p:txBody>
          <a:bodyPr wrap="square">
            <a:spAutoFit/>
          </a:bodyPr>
          <a:lstStyle/>
          <a:p>
            <a:pPr algn="l">
              <a:spcAft>
                <a:spcPts val="200"/>
              </a:spcAft>
            </a:pPr>
            <a:r>
              <a:rPr sz="1700" b="0">
                <a:solidFill>
                  <a:srgbClr val="BDD7EE"/>
                </a:solidFill>
                <a:latin typeface="メイリオ"/>
              </a:rPr>
              <a:t>Peter Drucker（経営の父）の言葉。データ経営の根幹となる考え方</a:t>
            </a:r>
          </a:p>
        </p:txBody>
      </p:sp>
      <p:sp>
        <p:nvSpPr>
          <p:cNvPr id="8" name="Rectangle 7"/>
          <p:cNvSpPr/>
          <p:nvPr/>
        </p:nvSpPr>
        <p:spPr>
          <a:xfrm>
            <a:off x="365760" y="1874519"/>
            <a:ext cx="5486400" cy="4251960"/>
          </a:xfrm>
          <a:prstGeom prst="rect">
            <a:avLst/>
          </a:prstGeom>
          <a:solidFill>
            <a:srgbClr val="E1F5FE"/>
          </a:solidFill>
          <a:ln w="190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965960"/>
            <a:ext cx="5120640" cy="457200"/>
          </a:xfrm>
          <a:prstGeom prst="rect">
            <a:avLst/>
          </a:prstGeom>
          <a:noFill/>
        </p:spPr>
        <p:txBody>
          <a:bodyPr wrap="square">
            <a:spAutoFit/>
          </a:bodyPr>
          <a:lstStyle/>
          <a:p>
            <a:pPr algn="l">
              <a:spcAft>
                <a:spcPts val="200"/>
              </a:spcAft>
            </a:pPr>
            <a:r>
              <a:rPr sz="1900" b="1">
                <a:solidFill>
                  <a:srgbClr val="1F3864"/>
                </a:solidFill>
                <a:latin typeface="メイリオ"/>
              </a:rPr>
              <a:t>KPI（Key Performance Indicator）</a:t>
            </a:r>
          </a:p>
        </p:txBody>
      </p:sp>
      <p:sp>
        <p:nvSpPr>
          <p:cNvPr id="10" name="TextBox 9"/>
          <p:cNvSpPr txBox="1"/>
          <p:nvPr/>
        </p:nvSpPr>
        <p:spPr>
          <a:xfrm>
            <a:off x="548640" y="2468880"/>
            <a:ext cx="5120640" cy="365760"/>
          </a:xfrm>
          <a:prstGeom prst="rect">
            <a:avLst/>
          </a:prstGeom>
          <a:noFill/>
        </p:spPr>
        <p:txBody>
          <a:bodyPr wrap="square">
            <a:spAutoFit/>
          </a:bodyPr>
          <a:lstStyle/>
          <a:p>
            <a:pPr algn="l">
              <a:spcAft>
                <a:spcPts val="200"/>
              </a:spcAft>
            </a:pPr>
            <a:r>
              <a:rPr sz="1700" b="0">
                <a:solidFill>
                  <a:srgbClr val="262626"/>
                </a:solidFill>
                <a:latin typeface="メイリオ"/>
              </a:rPr>
              <a:t>重要業績評価指標 — 目標達成に向けた進捗を測る数値</a:t>
            </a:r>
          </a:p>
        </p:txBody>
      </p:sp>
      <p:sp>
        <p:nvSpPr>
          <p:cNvPr id="11" name="Rectangle 10"/>
          <p:cNvSpPr/>
          <p:nvPr/>
        </p:nvSpPr>
        <p:spPr>
          <a:xfrm>
            <a:off x="457200" y="2926080"/>
            <a:ext cx="1828800" cy="621792"/>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3017520"/>
            <a:ext cx="1737360" cy="475488"/>
          </a:xfrm>
          <a:prstGeom prst="rect">
            <a:avLst/>
          </a:prstGeom>
          <a:noFill/>
        </p:spPr>
        <p:txBody>
          <a:bodyPr wrap="square">
            <a:spAutoFit/>
          </a:bodyPr>
          <a:lstStyle/>
          <a:p>
            <a:pPr algn="ctr">
              <a:spcAft>
                <a:spcPts val="200"/>
              </a:spcAft>
            </a:pPr>
            <a:r>
              <a:rPr sz="1500" b="1">
                <a:solidFill>
                  <a:srgbClr val="FFFFFF"/>
                </a:solidFill>
                <a:latin typeface="メイリオ"/>
              </a:rPr>
              <a:t>売上KPI</a:t>
            </a:r>
          </a:p>
        </p:txBody>
      </p:sp>
      <p:sp>
        <p:nvSpPr>
          <p:cNvPr id="13" name="Rectangle 12"/>
          <p:cNvSpPr/>
          <p:nvPr/>
        </p:nvSpPr>
        <p:spPr>
          <a:xfrm>
            <a:off x="2286000" y="2926080"/>
            <a:ext cx="3383280" cy="621792"/>
          </a:xfrm>
          <a:prstGeom prst="rect">
            <a:avLst/>
          </a:prstGeom>
          <a:solidFill>
            <a:srgbClr val="FFFFFF"/>
          </a:solidFill>
          <a:ln w="63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77440" y="3017520"/>
            <a:ext cx="3200400" cy="475488"/>
          </a:xfrm>
          <a:prstGeom prst="rect">
            <a:avLst/>
          </a:prstGeom>
          <a:noFill/>
        </p:spPr>
        <p:txBody>
          <a:bodyPr wrap="square">
            <a:spAutoFit/>
          </a:bodyPr>
          <a:lstStyle/>
          <a:p>
            <a:pPr algn="l">
              <a:spcAft>
                <a:spcPts val="200"/>
              </a:spcAft>
            </a:pPr>
            <a:r>
              <a:rPr sz="1500" b="0">
                <a:solidFill>
                  <a:srgbClr val="262626"/>
                </a:solidFill>
                <a:latin typeface="メイリオ"/>
              </a:rPr>
              <a:t>月次売上・客単価・リピート率</a:t>
            </a:r>
          </a:p>
        </p:txBody>
      </p:sp>
      <p:sp>
        <p:nvSpPr>
          <p:cNvPr id="15" name="Rectangle 14"/>
          <p:cNvSpPr/>
          <p:nvPr/>
        </p:nvSpPr>
        <p:spPr>
          <a:xfrm>
            <a:off x="457200" y="3611880"/>
            <a:ext cx="1828800" cy="621792"/>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3703320"/>
            <a:ext cx="1737360" cy="475488"/>
          </a:xfrm>
          <a:prstGeom prst="rect">
            <a:avLst/>
          </a:prstGeom>
          <a:noFill/>
        </p:spPr>
        <p:txBody>
          <a:bodyPr wrap="square">
            <a:spAutoFit/>
          </a:bodyPr>
          <a:lstStyle/>
          <a:p>
            <a:pPr algn="ctr">
              <a:spcAft>
                <a:spcPts val="200"/>
              </a:spcAft>
            </a:pPr>
            <a:r>
              <a:rPr sz="1500" b="1">
                <a:solidFill>
                  <a:srgbClr val="FFFFFF"/>
                </a:solidFill>
                <a:latin typeface="メイリオ"/>
              </a:rPr>
              <a:t>顧客KPI</a:t>
            </a:r>
          </a:p>
        </p:txBody>
      </p:sp>
      <p:sp>
        <p:nvSpPr>
          <p:cNvPr id="17" name="Rectangle 16"/>
          <p:cNvSpPr/>
          <p:nvPr/>
        </p:nvSpPr>
        <p:spPr>
          <a:xfrm>
            <a:off x="2286000" y="3611880"/>
            <a:ext cx="3383280" cy="621792"/>
          </a:xfrm>
          <a:prstGeom prst="rect">
            <a:avLst/>
          </a:prstGeom>
          <a:solidFill>
            <a:srgbClr val="FFFFFF"/>
          </a:solidFill>
          <a:ln w="635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77440" y="3703320"/>
            <a:ext cx="3200400" cy="475488"/>
          </a:xfrm>
          <a:prstGeom prst="rect">
            <a:avLst/>
          </a:prstGeom>
          <a:noFill/>
        </p:spPr>
        <p:txBody>
          <a:bodyPr wrap="square">
            <a:spAutoFit/>
          </a:bodyPr>
          <a:lstStyle/>
          <a:p>
            <a:pPr algn="l">
              <a:spcAft>
                <a:spcPts val="200"/>
              </a:spcAft>
            </a:pPr>
            <a:r>
              <a:rPr sz="1500" b="0">
                <a:solidFill>
                  <a:srgbClr val="262626"/>
                </a:solidFill>
                <a:latin typeface="メイリオ"/>
              </a:rPr>
              <a:t>顧客獲得数・解約率・NPS</a:t>
            </a:r>
          </a:p>
        </p:txBody>
      </p:sp>
      <p:sp>
        <p:nvSpPr>
          <p:cNvPr id="19" name="Rectangle 18"/>
          <p:cNvSpPr/>
          <p:nvPr/>
        </p:nvSpPr>
        <p:spPr>
          <a:xfrm>
            <a:off x="457200" y="4297680"/>
            <a:ext cx="1828800" cy="621792"/>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4389120"/>
            <a:ext cx="1737360" cy="475488"/>
          </a:xfrm>
          <a:prstGeom prst="rect">
            <a:avLst/>
          </a:prstGeom>
          <a:noFill/>
        </p:spPr>
        <p:txBody>
          <a:bodyPr wrap="square">
            <a:spAutoFit/>
          </a:bodyPr>
          <a:lstStyle/>
          <a:p>
            <a:pPr algn="ctr">
              <a:spcAft>
                <a:spcPts val="200"/>
              </a:spcAft>
            </a:pPr>
            <a:r>
              <a:rPr sz="1500" b="1">
                <a:solidFill>
                  <a:srgbClr val="FFFFFF"/>
                </a:solidFill>
                <a:latin typeface="メイリオ"/>
              </a:rPr>
              <a:t>業務KPI</a:t>
            </a:r>
          </a:p>
        </p:txBody>
      </p:sp>
      <p:sp>
        <p:nvSpPr>
          <p:cNvPr id="21" name="Rectangle 20"/>
          <p:cNvSpPr/>
          <p:nvPr/>
        </p:nvSpPr>
        <p:spPr>
          <a:xfrm>
            <a:off x="2286000" y="4297680"/>
            <a:ext cx="3383280" cy="621792"/>
          </a:xfrm>
          <a:prstGeom prst="rect">
            <a:avLst/>
          </a:prstGeom>
          <a:solidFill>
            <a:srgbClr val="FFFFFF"/>
          </a:solidFill>
          <a:ln w="6350">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77440" y="4389120"/>
            <a:ext cx="3200400" cy="475488"/>
          </a:xfrm>
          <a:prstGeom prst="rect">
            <a:avLst/>
          </a:prstGeom>
          <a:noFill/>
        </p:spPr>
        <p:txBody>
          <a:bodyPr wrap="square">
            <a:spAutoFit/>
          </a:bodyPr>
          <a:lstStyle/>
          <a:p>
            <a:pPr algn="l">
              <a:spcAft>
                <a:spcPts val="200"/>
              </a:spcAft>
            </a:pPr>
            <a:r>
              <a:rPr sz="1500" b="0">
                <a:solidFill>
                  <a:srgbClr val="262626"/>
                </a:solidFill>
                <a:latin typeface="メイリオ"/>
              </a:rPr>
              <a:t>受注リードタイム・在庫回転率</a:t>
            </a:r>
          </a:p>
        </p:txBody>
      </p:sp>
      <p:sp>
        <p:nvSpPr>
          <p:cNvPr id="23" name="Rectangle 22"/>
          <p:cNvSpPr/>
          <p:nvPr/>
        </p:nvSpPr>
        <p:spPr>
          <a:xfrm>
            <a:off x="457200" y="4983480"/>
            <a:ext cx="1828800" cy="621792"/>
          </a:xfrm>
          <a:prstGeom prst="rect">
            <a:avLst/>
          </a:prstGeom>
          <a:solidFill>
            <a:srgbClr val="703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5074920"/>
            <a:ext cx="1737360" cy="475488"/>
          </a:xfrm>
          <a:prstGeom prst="rect">
            <a:avLst/>
          </a:prstGeom>
          <a:noFill/>
        </p:spPr>
        <p:txBody>
          <a:bodyPr wrap="square">
            <a:spAutoFit/>
          </a:bodyPr>
          <a:lstStyle/>
          <a:p>
            <a:pPr algn="ctr">
              <a:spcAft>
                <a:spcPts val="200"/>
              </a:spcAft>
            </a:pPr>
            <a:r>
              <a:rPr sz="1500" b="1">
                <a:solidFill>
                  <a:srgbClr val="FFFFFF"/>
                </a:solidFill>
                <a:latin typeface="メイリオ"/>
              </a:rPr>
              <a:t>財務KPI</a:t>
            </a:r>
          </a:p>
        </p:txBody>
      </p:sp>
      <p:sp>
        <p:nvSpPr>
          <p:cNvPr id="25" name="Rectangle 24"/>
          <p:cNvSpPr/>
          <p:nvPr/>
        </p:nvSpPr>
        <p:spPr>
          <a:xfrm>
            <a:off x="2286000" y="4983480"/>
            <a:ext cx="3383280" cy="621792"/>
          </a:xfrm>
          <a:prstGeom prst="rect">
            <a:avLst/>
          </a:prstGeom>
          <a:solidFill>
            <a:srgbClr val="FFFFFF"/>
          </a:solidFill>
          <a:ln w="6350">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377440" y="5074920"/>
            <a:ext cx="3200400" cy="475488"/>
          </a:xfrm>
          <a:prstGeom prst="rect">
            <a:avLst/>
          </a:prstGeom>
          <a:noFill/>
        </p:spPr>
        <p:txBody>
          <a:bodyPr wrap="square">
            <a:spAutoFit/>
          </a:bodyPr>
          <a:lstStyle/>
          <a:p>
            <a:pPr algn="l">
              <a:spcAft>
                <a:spcPts val="200"/>
              </a:spcAft>
            </a:pPr>
            <a:r>
              <a:rPr sz="1500" b="0">
                <a:solidFill>
                  <a:srgbClr val="262626"/>
                </a:solidFill>
                <a:latin typeface="メイリオ"/>
              </a:rPr>
              <a:t>ROE・EBITDA・営業利益率</a:t>
            </a:r>
          </a:p>
        </p:txBody>
      </p:sp>
      <p:sp>
        <p:nvSpPr>
          <p:cNvPr id="27" name="Rectangle 26"/>
          <p:cNvSpPr/>
          <p:nvPr/>
        </p:nvSpPr>
        <p:spPr>
          <a:xfrm>
            <a:off x="6126480" y="1874519"/>
            <a:ext cx="5486400" cy="4251960"/>
          </a:xfrm>
          <a:prstGeom prst="rect">
            <a:avLst/>
          </a:prstGeom>
          <a:solidFill>
            <a:srgbClr val="E2EFDA"/>
          </a:solidFill>
          <a:ln w="1905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0" y="1965960"/>
            <a:ext cx="5120640" cy="457200"/>
          </a:xfrm>
          <a:prstGeom prst="rect">
            <a:avLst/>
          </a:prstGeom>
          <a:noFill/>
        </p:spPr>
        <p:txBody>
          <a:bodyPr wrap="square">
            <a:spAutoFit/>
          </a:bodyPr>
          <a:lstStyle/>
          <a:p>
            <a:pPr algn="l">
              <a:spcAft>
                <a:spcPts val="200"/>
              </a:spcAft>
            </a:pPr>
            <a:r>
              <a:rPr sz="1900" b="1">
                <a:solidFill>
                  <a:srgbClr val="1F3864"/>
                </a:solidFill>
                <a:latin typeface="メイリオ"/>
              </a:rPr>
              <a:t>OKR（Objectives &amp; Key Results）</a:t>
            </a:r>
          </a:p>
        </p:txBody>
      </p:sp>
      <p:sp>
        <p:nvSpPr>
          <p:cNvPr id="29" name="TextBox 28"/>
          <p:cNvSpPr txBox="1"/>
          <p:nvPr/>
        </p:nvSpPr>
        <p:spPr>
          <a:xfrm>
            <a:off x="6309360" y="2468880"/>
            <a:ext cx="5120640" cy="365760"/>
          </a:xfrm>
          <a:prstGeom prst="rect">
            <a:avLst/>
          </a:prstGeom>
          <a:noFill/>
        </p:spPr>
        <p:txBody>
          <a:bodyPr wrap="square">
            <a:spAutoFit/>
          </a:bodyPr>
          <a:lstStyle/>
          <a:p>
            <a:pPr algn="l">
              <a:spcAft>
                <a:spcPts val="200"/>
              </a:spcAft>
            </a:pPr>
            <a:r>
              <a:rPr sz="1700" b="0">
                <a:solidFill>
                  <a:srgbClr val="262626"/>
                </a:solidFill>
                <a:latin typeface="メイリオ"/>
              </a:rPr>
              <a:t>目標（O）と主要な成果指標（KR）を紐付けて管理</a:t>
            </a:r>
          </a:p>
        </p:txBody>
      </p:sp>
      <p:sp>
        <p:nvSpPr>
          <p:cNvPr id="30" name="TextBox 29"/>
          <p:cNvSpPr txBox="1"/>
          <p:nvPr/>
        </p:nvSpPr>
        <p:spPr>
          <a:xfrm>
            <a:off x="6309360" y="2926080"/>
            <a:ext cx="5120640" cy="411480"/>
          </a:xfrm>
          <a:prstGeom prst="rect">
            <a:avLst/>
          </a:prstGeom>
          <a:noFill/>
        </p:spPr>
        <p:txBody>
          <a:bodyPr wrap="square">
            <a:spAutoFit/>
          </a:bodyPr>
          <a:lstStyle/>
          <a:p>
            <a:pPr algn="l">
              <a:spcAft>
                <a:spcPts val="200"/>
              </a:spcAft>
            </a:pPr>
            <a:r>
              <a:rPr sz="1700" b="1">
                <a:solidFill>
                  <a:srgbClr val="70AD47"/>
                </a:solidFill>
                <a:latin typeface="メイリオ"/>
              </a:rPr>
              <a:t>【Objective例】顧客満足度No.1になる</a:t>
            </a:r>
          </a:p>
        </p:txBody>
      </p:sp>
      <p:sp>
        <p:nvSpPr>
          <p:cNvPr id="31" name="TextBox 30"/>
          <p:cNvSpPr txBox="1"/>
          <p:nvPr/>
        </p:nvSpPr>
        <p:spPr>
          <a:xfrm>
            <a:off x="6309360" y="3429000"/>
            <a:ext cx="5120640" cy="2377440"/>
          </a:xfrm>
          <a:prstGeom prst="rect">
            <a:avLst/>
          </a:prstGeom>
          <a:noFill/>
        </p:spPr>
        <p:txBody>
          <a:bodyPr wrap="square">
            <a:spAutoFit/>
          </a:bodyPr>
          <a:lstStyle/>
          <a:p>
            <a:pPr algn="l">
              <a:spcAft>
                <a:spcPts val="200"/>
              </a:spcAft>
            </a:pPr>
            <a:r>
              <a:rPr sz="1700" b="0">
                <a:solidFill>
                  <a:srgbClr val="262626"/>
                </a:solidFill>
                <a:latin typeface="メイリオ"/>
              </a:rPr>
              <a:t>KR1：NPS（推薦意向）を40→60に向上</a:t>
            </a:r>
          </a:p>
          <a:p>
            <a:pPr algn="l">
              <a:spcAft>
                <a:spcPts val="200"/>
              </a:spcAft>
            </a:pPr>
            <a:r>
              <a:rPr sz="1700" b="0">
                <a:solidFill>
                  <a:srgbClr val="262626"/>
                </a:solidFill>
                <a:latin typeface="メイリオ"/>
              </a:rPr>
              <a:t>KR2：問い合わせ解決時間を24h→8h以内</a:t>
            </a:r>
          </a:p>
          <a:p>
            <a:pPr algn="l">
              <a:spcAft>
                <a:spcPts val="200"/>
              </a:spcAft>
            </a:pPr>
            <a:r>
              <a:rPr sz="1700" b="0">
                <a:solidFill>
                  <a:srgbClr val="262626"/>
                </a:solidFill>
                <a:latin typeface="メイリオ"/>
              </a:rPr>
              <a:t>KR3：顧客満足度調査で85点以上を達成</a:t>
            </a:r>
          </a:p>
          <a:p>
            <a:pPr algn="l">
              <a:spcAft>
                <a:spcPts val="200"/>
              </a:spcAft>
            </a:pPr>
            <a:r>
              <a:rPr sz="1700" b="0">
                <a:solidFill>
                  <a:srgbClr val="262626"/>
                </a:solidFill>
                <a:latin typeface="メイリオ"/>
              </a:rPr>
              <a:t>KR4：リピート購入率を60%→75%に改善</a:t>
            </a:r>
          </a:p>
        </p:txBody>
      </p:sp>
      <p:sp>
        <p:nvSpPr>
          <p:cNvPr id="32" name="TextBox 31"/>
          <p:cNvSpPr txBox="1"/>
          <p:nvPr/>
        </p:nvSpPr>
        <p:spPr>
          <a:xfrm>
            <a:off x="6309360" y="5852160"/>
            <a:ext cx="5120640" cy="228600"/>
          </a:xfrm>
          <a:prstGeom prst="rect">
            <a:avLst/>
          </a:prstGeom>
          <a:noFill/>
        </p:spPr>
        <p:txBody>
          <a:bodyPr wrap="square">
            <a:spAutoFit/>
          </a:bodyPr>
          <a:lstStyle/>
          <a:p>
            <a:pPr algn="l">
              <a:spcAft>
                <a:spcPts val="200"/>
              </a:spcAft>
            </a:pPr>
            <a:r>
              <a:rPr sz="1400" b="0">
                <a:solidFill>
                  <a:srgbClr val="595959"/>
                </a:solidFill>
                <a:latin typeface="メイリオ"/>
              </a:rPr>
              <a:t>Google・Amazonで採用。四半期ごとに設定・評価</a:t>
            </a:r>
          </a:p>
        </p:txBody>
      </p:sp>
      <p:sp>
        <p:nvSpPr>
          <p:cNvPr id="33" name="Rectangle 32"/>
          <p:cNvSpPr/>
          <p:nvPr/>
        </p:nvSpPr>
        <p:spPr>
          <a:xfrm>
            <a:off x="365760" y="6309360"/>
            <a:ext cx="11430000" cy="4114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 y="6355080"/>
            <a:ext cx="11247120" cy="365760"/>
          </a:xfrm>
          <a:prstGeom prst="rect">
            <a:avLst/>
          </a:prstGeom>
          <a:noFill/>
        </p:spPr>
        <p:txBody>
          <a:bodyPr wrap="square">
            <a:spAutoFit/>
          </a:bodyPr>
          <a:lstStyle/>
          <a:p>
            <a:pPr algn="ctr">
              <a:spcAft>
                <a:spcPts val="200"/>
              </a:spcAft>
            </a:pPr>
            <a:r>
              <a:rPr sz="1700" b="1">
                <a:solidFill>
                  <a:srgbClr val="FFFFFF"/>
                </a:solidFill>
                <a:latin typeface="メイリオ"/>
              </a:rPr>
              <a:t>KPIツリー：売上＝客数×客単価×購買頻度 — 分解して各指標を管理することでボトルネックを特定できる</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1551615" cy="658368"/>
          </a:xfrm>
          <a:prstGeom prst="rect">
            <a:avLst/>
          </a:prstGeom>
          <a:noFill/>
        </p:spPr>
        <p:txBody>
          <a:bodyPr wrap="square">
            <a:spAutoFit/>
          </a:bodyPr>
          <a:lstStyle/>
          <a:p>
            <a:pPr algn="l">
              <a:spcAft>
                <a:spcPts val="200"/>
              </a:spcAft>
            </a:pPr>
            <a:r>
              <a:rPr sz="2600" b="1">
                <a:solidFill>
                  <a:srgbClr val="FFFFFF"/>
                </a:solidFill>
                <a:latin typeface="メイリオ"/>
              </a:rPr>
              <a:t>次回予告：財務諸表の読み方</a:t>
            </a:r>
          </a:p>
        </p:txBody>
      </p:sp>
      <p:sp>
        <p:nvSpPr>
          <p:cNvPr id="4" name="TextBox 3"/>
          <p:cNvSpPr txBox="1"/>
          <p:nvPr/>
        </p:nvSpPr>
        <p:spPr>
          <a:xfrm>
            <a:off x="320040" y="841248"/>
            <a:ext cx="11551615" cy="457200"/>
          </a:xfrm>
          <a:prstGeom prst="rect">
            <a:avLst/>
          </a:prstGeom>
          <a:noFill/>
        </p:spPr>
        <p:txBody>
          <a:bodyPr wrap="square">
            <a:spAutoFit/>
          </a:bodyPr>
          <a:lstStyle/>
          <a:p>
            <a:pPr algn="l">
              <a:spcAft>
                <a:spcPts val="200"/>
              </a:spcAft>
            </a:pPr>
            <a:r>
              <a:rPr sz="1800" b="1">
                <a:solidFill>
                  <a:srgbClr val="4472C4"/>
                </a:solidFill>
                <a:latin typeface="メイリオ"/>
              </a:rPr>
              <a:t>Next: Understanding Financial Statements</a:t>
            </a:r>
          </a:p>
        </p:txBody>
      </p:sp>
      <p:sp>
        <p:nvSpPr>
          <p:cNvPr id="5" name="Rectangle 4"/>
          <p:cNvSpPr/>
          <p:nvPr/>
        </p:nvSpPr>
        <p:spPr>
          <a:xfrm>
            <a:off x="365760" y="960120"/>
            <a:ext cx="11430000" cy="59436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33271"/>
            <a:ext cx="11064240" cy="457200"/>
          </a:xfrm>
          <a:prstGeom prst="rect">
            <a:avLst/>
          </a:prstGeom>
          <a:noFill/>
        </p:spPr>
        <p:txBody>
          <a:bodyPr wrap="square">
            <a:spAutoFit/>
          </a:bodyPr>
          <a:lstStyle/>
          <a:p>
            <a:pPr algn="l">
              <a:spcAft>
                <a:spcPts val="200"/>
              </a:spcAft>
            </a:pPr>
            <a:r>
              <a:rPr sz="2000" b="1">
                <a:solidFill>
                  <a:srgbClr val="FFFFFF"/>
                </a:solidFill>
                <a:latin typeface="メイリオ"/>
              </a:rPr>
              <a:t>第2回：企業の「成績表」を読む — 財務3表（BS・PL・CF）の構造と経営分析への活用</a:t>
            </a:r>
          </a:p>
        </p:txBody>
      </p:sp>
      <p:sp>
        <p:nvSpPr>
          <p:cNvPr id="7" name="Rectangle 6"/>
          <p:cNvSpPr/>
          <p:nvPr/>
        </p:nvSpPr>
        <p:spPr>
          <a:xfrm>
            <a:off x="365760" y="1737360"/>
            <a:ext cx="3657600" cy="73152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783080"/>
            <a:ext cx="3474720" cy="411480"/>
          </a:xfrm>
          <a:prstGeom prst="rect">
            <a:avLst/>
          </a:prstGeom>
          <a:noFill/>
        </p:spPr>
        <p:txBody>
          <a:bodyPr wrap="square">
            <a:spAutoFit/>
          </a:bodyPr>
          <a:lstStyle/>
          <a:p>
            <a:pPr algn="ctr">
              <a:spcAft>
                <a:spcPts val="200"/>
              </a:spcAft>
            </a:pPr>
            <a:r>
              <a:rPr sz="1600" b="1">
                <a:solidFill>
                  <a:srgbClr val="FFFFFF"/>
                </a:solidFill>
                <a:latin typeface="メイリオ"/>
              </a:rPr>
              <a:t>貸借対照表
Balance Sheet</a:t>
            </a:r>
          </a:p>
        </p:txBody>
      </p:sp>
      <p:sp>
        <p:nvSpPr>
          <p:cNvPr id="9" name="TextBox 8"/>
          <p:cNvSpPr txBox="1"/>
          <p:nvPr/>
        </p:nvSpPr>
        <p:spPr>
          <a:xfrm>
            <a:off x="457200" y="2194560"/>
            <a:ext cx="3474720" cy="228600"/>
          </a:xfrm>
          <a:prstGeom prst="rect">
            <a:avLst/>
          </a:prstGeom>
          <a:noFill/>
        </p:spPr>
        <p:txBody>
          <a:bodyPr wrap="square">
            <a:spAutoFit/>
          </a:bodyPr>
          <a:lstStyle/>
          <a:p>
            <a:pPr algn="ctr">
              <a:spcAft>
                <a:spcPts val="200"/>
              </a:spcAft>
            </a:pPr>
            <a:r>
              <a:rPr sz="1300" b="0">
                <a:solidFill>
                  <a:srgbClr val="FFFFFF"/>
                </a:solidFill>
                <a:latin typeface="メイリオ"/>
              </a:rPr>
              <a:t>企業の財産と負債</a:t>
            </a:r>
          </a:p>
        </p:txBody>
      </p:sp>
      <p:sp>
        <p:nvSpPr>
          <p:cNvPr id="10" name="Rectangle 9"/>
          <p:cNvSpPr/>
          <p:nvPr/>
        </p:nvSpPr>
        <p:spPr>
          <a:xfrm>
            <a:off x="365760" y="2468880"/>
            <a:ext cx="3657600" cy="2377440"/>
          </a:xfrm>
          <a:prstGeom prst="rect">
            <a:avLst/>
          </a:prstGeom>
          <a:solidFill>
            <a:srgbClr val="F2F2F2"/>
          </a:solidFill>
          <a:ln w="12700">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560320"/>
            <a:ext cx="3474720" cy="2194560"/>
          </a:xfrm>
          <a:prstGeom prst="rect">
            <a:avLst/>
          </a:prstGeom>
          <a:noFill/>
        </p:spPr>
        <p:txBody>
          <a:bodyPr wrap="square">
            <a:spAutoFit/>
          </a:bodyPr>
          <a:lstStyle/>
          <a:p>
            <a:pPr algn="l">
              <a:spcAft>
                <a:spcPts val="200"/>
              </a:spcAft>
            </a:pPr>
            <a:r>
              <a:rPr sz="1700" b="0">
                <a:solidFill>
                  <a:srgbClr val="262626"/>
                </a:solidFill>
                <a:latin typeface="メイリオ"/>
              </a:rPr>
              <a:t>資産：現金・売掛金・固定資産</a:t>
            </a:r>
          </a:p>
          <a:p>
            <a:pPr algn="l">
              <a:spcAft>
                <a:spcPts val="200"/>
              </a:spcAft>
            </a:pPr>
            <a:r>
              <a:rPr sz="1700" b="0">
                <a:solidFill>
                  <a:srgbClr val="262626"/>
                </a:solidFill>
                <a:latin typeface="メイリオ"/>
              </a:rPr>
              <a:t>負債：借入金・支払手形</a:t>
            </a:r>
          </a:p>
          <a:p>
            <a:pPr algn="l">
              <a:spcAft>
                <a:spcPts val="200"/>
              </a:spcAft>
            </a:pPr>
            <a:r>
              <a:rPr sz="1700" b="0">
                <a:solidFill>
                  <a:srgbClr val="262626"/>
                </a:solidFill>
                <a:latin typeface="メイリオ"/>
              </a:rPr>
              <a:t>純資産：株主資本・利益剰余金</a:t>
            </a:r>
          </a:p>
          <a:p>
            <a:pPr algn="l">
              <a:spcAft>
                <a:spcPts val="200"/>
              </a:spcAft>
            </a:pPr>
            <a:r>
              <a:rPr sz="1700" b="0">
                <a:solidFill>
                  <a:srgbClr val="262626"/>
                </a:solidFill>
                <a:latin typeface="メイリオ"/>
              </a:rPr>
              <a:t>「ある時点」の財政状態を表示</a:t>
            </a:r>
          </a:p>
        </p:txBody>
      </p:sp>
      <p:sp>
        <p:nvSpPr>
          <p:cNvPr id="12" name="Rectangle 11"/>
          <p:cNvSpPr/>
          <p:nvPr/>
        </p:nvSpPr>
        <p:spPr>
          <a:xfrm>
            <a:off x="4206240" y="1737360"/>
            <a:ext cx="3657600" cy="73152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97680" y="1783080"/>
            <a:ext cx="3474720" cy="411480"/>
          </a:xfrm>
          <a:prstGeom prst="rect">
            <a:avLst/>
          </a:prstGeom>
          <a:noFill/>
        </p:spPr>
        <p:txBody>
          <a:bodyPr wrap="square">
            <a:spAutoFit/>
          </a:bodyPr>
          <a:lstStyle/>
          <a:p>
            <a:pPr algn="ctr">
              <a:spcAft>
                <a:spcPts val="200"/>
              </a:spcAft>
            </a:pPr>
            <a:r>
              <a:rPr sz="1600" b="1">
                <a:solidFill>
                  <a:srgbClr val="FFFFFF"/>
                </a:solidFill>
                <a:latin typeface="メイリオ"/>
              </a:rPr>
              <a:t>損益計算書
P/L Statement</a:t>
            </a:r>
          </a:p>
        </p:txBody>
      </p:sp>
      <p:sp>
        <p:nvSpPr>
          <p:cNvPr id="14" name="TextBox 13"/>
          <p:cNvSpPr txBox="1"/>
          <p:nvPr/>
        </p:nvSpPr>
        <p:spPr>
          <a:xfrm>
            <a:off x="4297680" y="2194560"/>
            <a:ext cx="3474720" cy="228600"/>
          </a:xfrm>
          <a:prstGeom prst="rect">
            <a:avLst/>
          </a:prstGeom>
          <a:noFill/>
        </p:spPr>
        <p:txBody>
          <a:bodyPr wrap="square">
            <a:spAutoFit/>
          </a:bodyPr>
          <a:lstStyle/>
          <a:p>
            <a:pPr algn="ctr">
              <a:spcAft>
                <a:spcPts val="200"/>
              </a:spcAft>
            </a:pPr>
            <a:r>
              <a:rPr sz="1300" b="0">
                <a:solidFill>
                  <a:srgbClr val="FFFFFF"/>
                </a:solidFill>
                <a:latin typeface="メイリオ"/>
              </a:rPr>
              <a:t>1年間の経営成績</a:t>
            </a:r>
          </a:p>
        </p:txBody>
      </p:sp>
      <p:sp>
        <p:nvSpPr>
          <p:cNvPr id="15" name="Rectangle 14"/>
          <p:cNvSpPr/>
          <p:nvPr/>
        </p:nvSpPr>
        <p:spPr>
          <a:xfrm>
            <a:off x="4206240" y="2468880"/>
            <a:ext cx="3657600" cy="2377440"/>
          </a:xfrm>
          <a:prstGeom prst="rect">
            <a:avLst/>
          </a:prstGeom>
          <a:solidFill>
            <a:srgbClr val="F2F2F2"/>
          </a:solidFill>
          <a:ln w="1270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97680" y="2560320"/>
            <a:ext cx="3474720" cy="2194560"/>
          </a:xfrm>
          <a:prstGeom prst="rect">
            <a:avLst/>
          </a:prstGeom>
          <a:noFill/>
        </p:spPr>
        <p:txBody>
          <a:bodyPr wrap="square">
            <a:spAutoFit/>
          </a:bodyPr>
          <a:lstStyle/>
          <a:p>
            <a:pPr algn="l">
              <a:spcAft>
                <a:spcPts val="200"/>
              </a:spcAft>
            </a:pPr>
            <a:r>
              <a:rPr sz="1700" b="0">
                <a:solidFill>
                  <a:srgbClr val="262626"/>
                </a:solidFill>
                <a:latin typeface="メイリオ"/>
              </a:rPr>
              <a:t>売上高から費用を引いて利益を計算</a:t>
            </a:r>
          </a:p>
          <a:p>
            <a:pPr algn="l">
              <a:spcAft>
                <a:spcPts val="200"/>
              </a:spcAft>
            </a:pPr>
            <a:r>
              <a:rPr sz="1700" b="0">
                <a:solidFill>
                  <a:srgbClr val="262626"/>
                </a:solidFill>
                <a:latin typeface="メイリオ"/>
              </a:rPr>
              <a:t>売上総利益・営業利益・経常利益</a:t>
            </a:r>
          </a:p>
          <a:p>
            <a:pPr algn="l">
              <a:spcAft>
                <a:spcPts val="200"/>
              </a:spcAft>
            </a:pPr>
            <a:r>
              <a:rPr sz="1700" b="0">
                <a:solidFill>
                  <a:srgbClr val="262626"/>
                </a:solidFill>
                <a:latin typeface="メイリオ"/>
              </a:rPr>
              <a:t>最終的な当期純利益を確認</a:t>
            </a:r>
          </a:p>
          <a:p>
            <a:pPr algn="l">
              <a:spcAft>
                <a:spcPts val="200"/>
              </a:spcAft>
            </a:pPr>
            <a:r>
              <a:rPr sz="1700" b="0">
                <a:solidFill>
                  <a:srgbClr val="262626"/>
                </a:solidFill>
                <a:latin typeface="メイリオ"/>
              </a:rPr>
              <a:t>「一定期間」の収益力を表示</a:t>
            </a:r>
          </a:p>
        </p:txBody>
      </p:sp>
      <p:sp>
        <p:nvSpPr>
          <p:cNvPr id="17" name="Rectangle 16"/>
          <p:cNvSpPr/>
          <p:nvPr/>
        </p:nvSpPr>
        <p:spPr>
          <a:xfrm>
            <a:off x="8046720" y="1737360"/>
            <a:ext cx="3657600" cy="731520"/>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38160" y="1783080"/>
            <a:ext cx="3474720" cy="411480"/>
          </a:xfrm>
          <a:prstGeom prst="rect">
            <a:avLst/>
          </a:prstGeom>
          <a:noFill/>
        </p:spPr>
        <p:txBody>
          <a:bodyPr wrap="square">
            <a:spAutoFit/>
          </a:bodyPr>
          <a:lstStyle/>
          <a:p>
            <a:pPr algn="ctr">
              <a:spcAft>
                <a:spcPts val="200"/>
              </a:spcAft>
            </a:pPr>
            <a:r>
              <a:rPr sz="1600" b="1">
                <a:solidFill>
                  <a:srgbClr val="FFFFFF"/>
                </a:solidFill>
                <a:latin typeface="メイリオ"/>
              </a:rPr>
              <a:t>キャッシュフロー計算書
Cash Flow</a:t>
            </a:r>
          </a:p>
        </p:txBody>
      </p:sp>
      <p:sp>
        <p:nvSpPr>
          <p:cNvPr id="19" name="TextBox 18"/>
          <p:cNvSpPr txBox="1"/>
          <p:nvPr/>
        </p:nvSpPr>
        <p:spPr>
          <a:xfrm>
            <a:off x="8138160" y="2194560"/>
            <a:ext cx="3474720" cy="228600"/>
          </a:xfrm>
          <a:prstGeom prst="rect">
            <a:avLst/>
          </a:prstGeom>
          <a:noFill/>
        </p:spPr>
        <p:txBody>
          <a:bodyPr wrap="square">
            <a:spAutoFit/>
          </a:bodyPr>
          <a:lstStyle/>
          <a:p>
            <a:pPr algn="ctr">
              <a:spcAft>
                <a:spcPts val="200"/>
              </a:spcAft>
            </a:pPr>
            <a:r>
              <a:rPr sz="1300" b="0">
                <a:solidFill>
                  <a:srgbClr val="FFFFFF"/>
                </a:solidFill>
                <a:latin typeface="メイリオ"/>
              </a:rPr>
              <a:t>現金の流れ</a:t>
            </a:r>
          </a:p>
        </p:txBody>
      </p:sp>
      <p:sp>
        <p:nvSpPr>
          <p:cNvPr id="20" name="Rectangle 19"/>
          <p:cNvSpPr/>
          <p:nvPr/>
        </p:nvSpPr>
        <p:spPr>
          <a:xfrm>
            <a:off x="8046720" y="2468880"/>
            <a:ext cx="3657600" cy="2377440"/>
          </a:xfrm>
          <a:prstGeom prst="rect">
            <a:avLst/>
          </a:prstGeom>
          <a:solidFill>
            <a:srgbClr val="F2F2F2"/>
          </a:solidFill>
          <a:ln w="1270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38160" y="2560320"/>
            <a:ext cx="3474720" cy="2194560"/>
          </a:xfrm>
          <a:prstGeom prst="rect">
            <a:avLst/>
          </a:prstGeom>
          <a:noFill/>
        </p:spPr>
        <p:txBody>
          <a:bodyPr wrap="square">
            <a:spAutoFit/>
          </a:bodyPr>
          <a:lstStyle/>
          <a:p>
            <a:pPr algn="l">
              <a:spcAft>
                <a:spcPts val="200"/>
              </a:spcAft>
            </a:pPr>
            <a:r>
              <a:rPr sz="1700" b="0">
                <a:solidFill>
                  <a:srgbClr val="262626"/>
                </a:solidFill>
                <a:latin typeface="メイリオ"/>
              </a:rPr>
              <a:t>営業CF：本業での現金収支</a:t>
            </a:r>
          </a:p>
          <a:p>
            <a:pPr algn="l">
              <a:spcAft>
                <a:spcPts val="200"/>
              </a:spcAft>
            </a:pPr>
            <a:r>
              <a:rPr sz="1700" b="0">
                <a:solidFill>
                  <a:srgbClr val="262626"/>
                </a:solidFill>
                <a:latin typeface="メイリオ"/>
              </a:rPr>
              <a:t>投資CF：設備投資・資産売却</a:t>
            </a:r>
          </a:p>
          <a:p>
            <a:pPr algn="l">
              <a:spcAft>
                <a:spcPts val="200"/>
              </a:spcAft>
            </a:pPr>
            <a:r>
              <a:rPr sz="1700" b="0">
                <a:solidFill>
                  <a:srgbClr val="262626"/>
                </a:solidFill>
                <a:latin typeface="メイリオ"/>
              </a:rPr>
              <a:t>財務CF：借入・返済・配当</a:t>
            </a:r>
          </a:p>
          <a:p>
            <a:pPr algn="l">
              <a:spcAft>
                <a:spcPts val="200"/>
              </a:spcAft>
            </a:pPr>
            <a:r>
              <a:rPr sz="1700" b="0">
                <a:solidFill>
                  <a:srgbClr val="262626"/>
                </a:solidFill>
                <a:latin typeface="メイリオ"/>
              </a:rPr>
              <a:t>「黒字倒産」の防止に不可欠</a:t>
            </a:r>
          </a:p>
        </p:txBody>
      </p:sp>
      <p:sp>
        <p:nvSpPr>
          <p:cNvPr id="22" name="Rectangle 21"/>
          <p:cNvSpPr/>
          <p:nvPr/>
        </p:nvSpPr>
        <p:spPr>
          <a:xfrm>
            <a:off x="365760" y="4983480"/>
            <a:ext cx="11430000" cy="457200"/>
          </a:xfrm>
          <a:prstGeom prst="rect">
            <a:avLst/>
          </a:prstGeom>
          <a:solidFill>
            <a:srgbClr val="E1F5FE"/>
          </a:solidFill>
          <a:ln w="1270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5029200"/>
            <a:ext cx="11247120" cy="365760"/>
          </a:xfrm>
          <a:prstGeom prst="rect">
            <a:avLst/>
          </a:prstGeom>
          <a:noFill/>
        </p:spPr>
        <p:txBody>
          <a:bodyPr wrap="square">
            <a:spAutoFit/>
          </a:bodyPr>
          <a:lstStyle/>
          <a:p>
            <a:pPr algn="l">
              <a:spcAft>
                <a:spcPts val="200"/>
              </a:spcAft>
            </a:pPr>
            <a:r>
              <a:rPr sz="1900" b="1">
                <a:solidFill>
                  <a:srgbClr val="1F3864"/>
                </a:solidFill>
                <a:latin typeface="メイリオ"/>
              </a:rPr>
              <a:t>3表のつながり：PL（純利益）→ BS（純資産に加算）→ CF（現金残高の変動）</a:t>
            </a:r>
          </a:p>
        </p:txBody>
      </p:sp>
      <p:sp>
        <p:nvSpPr>
          <p:cNvPr id="24" name="TextBox 23"/>
          <p:cNvSpPr txBox="1"/>
          <p:nvPr/>
        </p:nvSpPr>
        <p:spPr>
          <a:xfrm>
            <a:off x="365760" y="5577840"/>
            <a:ext cx="11430000" cy="411480"/>
          </a:xfrm>
          <a:prstGeom prst="rect">
            <a:avLst/>
          </a:prstGeom>
          <a:noFill/>
        </p:spPr>
        <p:txBody>
          <a:bodyPr wrap="square">
            <a:spAutoFit/>
          </a:bodyPr>
          <a:lstStyle/>
          <a:p>
            <a:pPr algn="l">
              <a:spcAft>
                <a:spcPts val="200"/>
              </a:spcAft>
            </a:pPr>
            <a:r>
              <a:rPr sz="1800" b="1">
                <a:solidFill>
                  <a:srgbClr val="262626"/>
                </a:solidFill>
                <a:latin typeface="メイリオ"/>
              </a:rPr>
              <a:t>■ 第2回の予習：身近な企業（トヨタ・ソフトバンク等）の有価証券報告書をEDINETで検索してみよう</a:t>
            </a:r>
          </a:p>
        </p:txBody>
      </p:sp>
      <p:sp>
        <p:nvSpPr>
          <p:cNvPr id="25" name="TextBox 24"/>
          <p:cNvSpPr txBox="1"/>
          <p:nvPr/>
        </p:nvSpPr>
        <p:spPr>
          <a:xfrm>
            <a:off x="457200" y="6035040"/>
            <a:ext cx="11247120" cy="365760"/>
          </a:xfrm>
          <a:prstGeom prst="rect">
            <a:avLst/>
          </a:prstGeom>
          <a:noFill/>
        </p:spPr>
        <p:txBody>
          <a:bodyPr wrap="square">
            <a:spAutoFit/>
          </a:bodyPr>
          <a:lstStyle/>
          <a:p>
            <a:pPr algn="l">
              <a:spcAft>
                <a:spcPts val="200"/>
              </a:spcAft>
            </a:pPr>
            <a:r>
              <a:rPr sz="1700" b="0">
                <a:solidFill>
                  <a:srgbClr val="4472C4"/>
                </a:solidFill>
                <a:latin typeface="メイリオ"/>
              </a:rPr>
              <a:t>EDINET：https://disclosure.edinet-fsa.go.jp　（金融庁の電子開示システム・無料で閲覧可能）</a:t>
            </a:r>
          </a:p>
        </p:txBody>
      </p:sp>
      <p:sp>
        <p:nvSpPr>
          <p:cNvPr id="26" name="Rectangle 25"/>
          <p:cNvSpPr/>
          <p:nvPr/>
        </p:nvSpPr>
        <p:spPr>
          <a:xfrm>
            <a:off x="365760" y="6492240"/>
            <a:ext cx="11430000" cy="27432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6537960"/>
            <a:ext cx="11247120" cy="228600"/>
          </a:xfrm>
          <a:prstGeom prst="rect">
            <a:avLst/>
          </a:prstGeom>
          <a:noFill/>
        </p:spPr>
        <p:txBody>
          <a:bodyPr wrap="square">
            <a:spAutoFit/>
          </a:bodyPr>
          <a:lstStyle/>
          <a:p>
            <a:pPr algn="ctr">
              <a:spcAft>
                <a:spcPts val="200"/>
              </a:spcAft>
            </a:pPr>
            <a:r>
              <a:rPr sz="1500" b="1">
                <a:solidFill>
                  <a:srgbClr val="FFFFFF"/>
                </a:solidFill>
                <a:latin typeface="メイリオ"/>
              </a:rPr>
              <a:t>今日の内容を振り返り：データ経営 = データ×AI×人材×組織 の4要素を揃えて初めて実現する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