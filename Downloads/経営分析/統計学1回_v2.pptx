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103120"/>
            <a:ext cx="1124712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メイリオ"/>
              </a:rPr>
              <a:t>統計学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200" b="0">
                <a:solidFill>
                  <a:srgbClr val="FFC000"/>
                </a:solidFill>
                <a:latin typeface="メイリオ"/>
              </a:rPr>
              <a:t>第 1 回：統計の基本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メイリオ"/>
              </a:rPr>
              <a:t>齋藤 邦彦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BDD7EE"/>
                </a:solidFill>
                <a:latin typeface="メイリオ"/>
              </a:rPr>
              <a:t>データサイエンスの基礎となる統計学 — 平均・分散・Σ記号から始める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統計とデータサイエンス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Statistics &amp; Data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データサイエンスにおける統計学の位置付け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BDD7EE"/>
                </a:solidFill>
                <a:latin typeface="メイリオ"/>
              </a:rPr>
              <a:t>金融・経営・財務会計・HRなどのビジネスデータを科学的に分析するための基礎学問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65760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データサイエンス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3657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データ処理・分析の技術体系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ビジネス課題の解決手法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AI・機械学習の基盤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965960"/>
            <a:ext cx="36576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統計学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560320"/>
            <a:ext cx="3657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6517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データの記述・要約（基本統計量）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推測・仮説検定・相関分析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確率論・分布理論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65960"/>
            <a:ext cx="365760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プログラミング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560320"/>
            <a:ext cx="36576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6517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Excel（関数・ピボット・グラフ）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Python（pandas・numpy・scipy）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データ可視化・自動化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第1-7回のカリキュラム概要：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137160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07492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5074920"/>
            <a:ext cx="274320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07492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テーマ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5074920"/>
            <a:ext cx="70408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5074920"/>
            <a:ext cx="6949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主な内容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13832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5138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第1回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5513832"/>
            <a:ext cx="2743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55138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統計の基本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5513832"/>
            <a:ext cx="7040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513832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平均・最大・最小・範囲・Σ記号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989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第2回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598932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80" y="5989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ばらつきの統計量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5989320"/>
            <a:ext cx="7040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59893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分散・標準偏差・変動係数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64808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464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第3-4回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6464808"/>
            <a:ext cx="2743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6464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確率・分布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6464808"/>
            <a:ext cx="7040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6464808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正規分布・二項分布・t分布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94029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9402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第5-6回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37360" y="6940296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83080" y="694029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推測統計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6940296"/>
            <a:ext cx="7040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6940296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区間推定・仮説検定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7415784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741578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第7回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37360" y="7415784"/>
            <a:ext cx="2743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83080" y="741578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相関・回帰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7415784"/>
            <a:ext cx="7040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7415784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相関係数・単回帰分析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合計を求める記号：Σ（シグマ）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Summation Notation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303520" cy="5212080"/>
          </a:xfrm>
          <a:prstGeom prst="rect">
            <a:avLst/>
          </a:prstGeom>
          <a:solidFill>
            <a:srgbClr val="E1F5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3864"/>
                </a:solidFill>
                <a:latin typeface="メイリオ"/>
              </a:rPr>
              <a:t>Σ（シグマ）の意味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0" b="1">
                <a:solidFill>
                  <a:srgbClr val="4472C4"/>
                </a:solidFill>
                <a:latin typeface="メイリオ"/>
              </a:rPr>
              <a:t>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読み方：シグマ（Sigma）/ サメーション（Summation）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意味：添え字の初めの値から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　　　データの件数までの数を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　　　計算式に代入して合計する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960120"/>
            <a:ext cx="5852160" cy="521208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051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3864"/>
                </a:solidFill>
                <a:latin typeface="メイリオ"/>
              </a:rPr>
              <a:t>Σ の構成要素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783080"/>
            <a:ext cx="2194560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上限（n）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78308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データの件数（最後の添え字値）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971800"/>
            <a:ext cx="2194560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089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下限（i=1）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97180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添え字の初めの値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160520"/>
            <a:ext cx="2194560" cy="10058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2976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計算式（xi）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160520"/>
            <a:ext cx="3383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各データ要素に対する演算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例：Σxi（i=1からn）= x1 + x2 + x3 + … + xn　← 全データの合計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基本統計量：件数・合計・範囲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Basic Statistics: Count, Sum,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200400" cy="1417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データの件数 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05840"/>
            <a:ext cx="502920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143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データの総数（サンプルサイズ）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005840"/>
            <a:ext cx="3200400" cy="141732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143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メイリオ"/>
              </a:rPr>
              <a:t>例：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463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N = 7（7つのデータがある場合）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3200400" cy="1417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データの合計 Σxi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560320"/>
            <a:ext cx="502920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697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すべての要素を足し合わせた値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560320"/>
            <a:ext cx="3200400" cy="1417320"/>
          </a:xfrm>
          <a:prstGeom prst="rect">
            <a:avLst/>
          </a:prstGeom>
          <a:solidFill>
            <a:srgbClr val="E1F5FE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697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メイリオ"/>
              </a:rPr>
              <a:t>例：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x=[6,8,5,9,8,4,7] → Σxi = 47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3200400" cy="1417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データの範囲 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114800"/>
            <a:ext cx="502920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251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データの最大値と最小値の差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4114800"/>
            <a:ext cx="3200400" cy="1417320"/>
          </a:xfrm>
          <a:prstGeom prst="rect">
            <a:avLst/>
          </a:prstGeom>
          <a:solidFill>
            <a:srgbClr val="E1F5FE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251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メイリオ"/>
              </a:rPr>
              <a:t>例：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R = xmax − xmin = 9 − 4 =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69280"/>
            <a:ext cx="11430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42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B88600"/>
                </a:solidFill>
                <a:latin typeface="メイリオ"/>
              </a:rPr>
              <a:t>データ x = [ 6, 8, 5, 9, 8, 4, 7 ]　→　N=7, Σxi=47, xmax=9, xmin=4, 範囲R=5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平均値（算術平均）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Arithmetic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6400800" cy="3200400"/>
          </a:xfrm>
          <a:prstGeom prst="rect">
            <a:avLst/>
          </a:prstGeom>
          <a:solidFill>
            <a:srgbClr val="E1F5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3864"/>
                </a:solidFill>
                <a:latin typeface="メイリオ"/>
              </a:rPr>
              <a:t>平均値の定義式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4472C4"/>
                </a:solidFill>
                <a:latin typeface="メイリオ"/>
              </a:rPr>
              <a:t>E = (1/n) × Σxi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595959"/>
                </a:solidFill>
                <a:latin typeface="メイリオ"/>
              </a:rPr>
              <a:t>または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4472C4"/>
                </a:solidFill>
                <a:latin typeface="メイリオ"/>
              </a:rPr>
              <a:t>E = (x1 + x2 + … + xn) /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メイリオ"/>
              </a:rPr>
              <a:t>記号の説明：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94760"/>
            <a:ext cx="54864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840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平均値（Expected Value / Mean）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54864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389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データの件数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54864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937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xi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個々のデータの値（i番目）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960120"/>
            <a:ext cx="484632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051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3864"/>
                </a:solidFill>
                <a:latin typeface="メイリオ"/>
              </a:rPr>
              <a:t>平均値の特徴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1691640"/>
            <a:ext cx="4663440" cy="502920"/>
          </a:xfrm>
          <a:prstGeom prst="rect">
            <a:avLst/>
          </a:prstGeom>
          <a:solidFill>
            <a:srgbClr val="BDD7EE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1737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▶ 最も代表的な代表値：データの中心的傾向を示す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2286000"/>
            <a:ext cx="4663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3317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▶ 全データの影響を受ける：外れ値に影響されやすい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880360"/>
            <a:ext cx="4663440" cy="502920"/>
          </a:xfrm>
          <a:prstGeom prst="rect">
            <a:avLst/>
          </a:prstGeom>
          <a:solidFill>
            <a:srgbClr val="BDD7EE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▶ 「おもに算術平均」を指す：他に幾何平均・調和平均あり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474720"/>
            <a:ext cx="4663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520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▶ 期待値とも呼ばれる：確率論・統計学の基礎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他の代表値との比較：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228600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代表値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074920"/>
            <a:ext cx="411480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5074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定義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074920"/>
            <a:ext cx="47548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074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特徴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32120"/>
            <a:ext cx="22860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5321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算術平均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5532120"/>
            <a:ext cx="4114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553212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全データの和 ÷ 件数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532120"/>
            <a:ext cx="47548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553212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最も一般的。外れ値に敏感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03504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0350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中央値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603504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603504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データを並べた中央の値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0" y="6035040"/>
            <a:ext cx="4754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603504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外れ値に頑健。順序データ向き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537960"/>
            <a:ext cx="22860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379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最頻値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51760" y="6537960"/>
            <a:ext cx="41148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653796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最も頻繁に現れる値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6537960"/>
            <a:ext cx="475488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653796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カテゴリデータ向き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平均値の計算例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Calculating the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メイリオ"/>
              </a:rPr>
              <a:t>数列データ x = [ 6, 8, 5, 9, 8, 4, 7 ] の基本統計量を求める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78608"/>
            <a:ext cx="1005840" cy="15361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066544"/>
            <a:ext cx="1005840" cy="204825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834640"/>
            <a:ext cx="1005840" cy="1280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10512"/>
            <a:ext cx="1005840" cy="23042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4447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066544"/>
            <a:ext cx="1005840" cy="204825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170078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090672"/>
            <a:ext cx="1005840" cy="102412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724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2322576"/>
            <a:ext cx="1005840" cy="179222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9568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62626"/>
                </a:solidFill>
                <a:latin typeface="メイリオ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1605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595959"/>
                </a:solidFill>
                <a:latin typeface="メイリオ"/>
              </a:rPr>
              <a:t>x7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396825"/>
            <a:ext cx="8138160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221394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C000"/>
                </a:solidFill>
                <a:latin typeface="メイリオ"/>
              </a:rPr>
              <a:t>← 平均値 6.71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960120"/>
            <a:ext cx="283464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051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計算過程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16002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① 合計を求める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6+8+5+9+8+4+7 = 47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② 件数で割る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47 ÷ 7 = 6.714…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③ 結果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平均値 E ≈ 6.71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基本統計量まとめ：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54880"/>
            <a:ext cx="1554480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800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平均値 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03520"/>
            <a:ext cx="15544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4472C4"/>
                </a:solidFill>
                <a:latin typeface="メイリオ"/>
              </a:rPr>
              <a:t>6.71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754880"/>
            <a:ext cx="155448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4800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最大値 xmax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5303520"/>
            <a:ext cx="15544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00000"/>
                </a:solidFill>
                <a:latin typeface="メイリオ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754880"/>
            <a:ext cx="155448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4800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最小値 xmin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5303520"/>
            <a:ext cx="15544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0AD47"/>
                </a:solidFill>
                <a:latin typeface="メイリオ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4754880"/>
            <a:ext cx="1554480" cy="548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240" y="4800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範囲 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303520"/>
            <a:ext cx="15544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C000"/>
                </a:solidFill>
                <a:latin typeface="メイリオ"/>
              </a:rPr>
              <a:t>9 − 4 = 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4754880"/>
            <a:ext cx="1554480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4800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件数 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5303520"/>
            <a:ext cx="15544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7030A0"/>
                </a:solidFill>
                <a:latin typeface="メイリオ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88600"/>
                </a:solidFill>
                <a:latin typeface="メイリオ"/>
              </a:rPr>
              <a:t>Excel関数：=AVERAGE(範囲)　=MAX(範囲)　=MIN(範囲)　=COUNT(範囲)　=MAX()-MIN()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幾何平均と調和平均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Geometric &amp; Harmonic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86400" cy="5303520"/>
          </a:xfrm>
          <a:prstGeom prst="rect">
            <a:avLst/>
          </a:prstGeom>
          <a:solidFill>
            <a:srgbClr val="E1F5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4472C4"/>
                </a:solidFill>
                <a:latin typeface="メイリオ"/>
              </a:rPr>
              <a:t>幾何平均（Geometric Mean）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1F3864"/>
                </a:solidFill>
                <a:latin typeface="メイリオ"/>
              </a:rPr>
              <a:t>G = (X1 × X2 × … × Xn)^(1/n)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595959"/>
                </a:solidFill>
                <a:latin typeface="メイリオ"/>
              </a:rPr>
              <a:t>Excel：=GEOMEAN(範囲)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■ 使いどき：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・ 比率・成長率・倍率の平均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・ 投資リターンの平均計算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・ 物価指数・人口増加率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メイリオ"/>
              </a:rPr>
              <a:t>■ 計算例：家賃が1年で20%・10%・15%上昇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G = (1.20 × 1.10 × 1.15)^(1/3) ≈ 1.148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→ 年平均約14.8%上昇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5577840" cy="5303520"/>
          </a:xfrm>
          <a:prstGeom prst="rect">
            <a:avLst/>
          </a:prstGeom>
          <a:solidFill>
            <a:srgbClr val="E2EFDA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51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0706E"/>
                </a:solidFill>
                <a:latin typeface="メイリオ"/>
              </a:rPr>
              <a:t>調和平均（Harmonic Mean）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1F3864"/>
                </a:solidFill>
                <a:latin typeface="メイリオ"/>
              </a:rPr>
              <a:t>H = n / (1/X1 + 1/X2 + … + 1/Xn)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595959"/>
                </a:solidFill>
                <a:latin typeface="メイリオ"/>
              </a:rPr>
              <a:t>Excel：=HARMEAN(範囲)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706E"/>
                </a:solidFill>
                <a:latin typeface="メイリオ"/>
              </a:rPr>
              <a:t>■ 使いどき：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・ 速度・単価などの比率の平均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・ 「時間あたり」の量を扱う場面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・ 算術平均では誤差が出るとき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706E"/>
                </a:solidFill>
                <a:latin typeface="メイリオ"/>
              </a:rPr>
              <a:t>■ 計算例：100kmを時速50・40・60kmで区間走行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2578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計算：100 ÷ (20/50 + 50/40 + 30/60) ≈ 46.5km/h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→ 距離加重平均速度 ≈ 46.5 km/h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3つの平均の大小関係：調和平均 H ≦ 幾何平均 G ≦ 算術平均 E（等号は全データが等しい時）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Excelで基本統計量を求める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Excel Functions for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595959"/>
                </a:solidFill>
                <a:latin typeface="メイリオ"/>
              </a:rPr>
              <a:t>ビジネスデータを用いてExcelで基本統計量を計算する方法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関数名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463040"/>
            <a:ext cx="411480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6304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構文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463040"/>
            <a:ext cx="475488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46304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用途・説明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27432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938528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AVERAGE()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938528"/>
            <a:ext cx="41148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3852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=AVERAGE(A1:A10)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938528"/>
            <a:ext cx="475488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938528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算術平均を計算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50592"/>
            <a:ext cx="27432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450592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AVERAGEIF()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450592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2450592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=AVERAGEIF(条件範囲,条件,平均範囲)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450592"/>
            <a:ext cx="4754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450592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条件付き平均（例：女性のみ）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62656"/>
            <a:ext cx="27432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62656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MAX()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962656"/>
            <a:ext cx="41148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2962656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=MAX(A1:A10)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962656"/>
            <a:ext cx="475488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962656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最大値を返す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74720"/>
            <a:ext cx="27432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474720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MIN()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474720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3474720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=MIN(A1:A10)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474720"/>
            <a:ext cx="4754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474720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最小値を返す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86784"/>
            <a:ext cx="27432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986784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COUNT()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3986784"/>
            <a:ext cx="41148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80" y="3986784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=COUNT(A1:A10)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986784"/>
            <a:ext cx="475488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3986784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数値データの件数を数える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498848"/>
            <a:ext cx="27432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498848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GEOMEAN()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4498848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54680" y="4498848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=GEOMEAN(A1:A10)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4498848"/>
            <a:ext cx="4754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4498848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幾何平均を計算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010912"/>
            <a:ext cx="27432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010912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HARMEAN()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5010912"/>
            <a:ext cx="411480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5010912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=HARMEAN(A1:A10)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010912"/>
            <a:ext cx="4754880" cy="49377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5010912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調和平均を計算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522976"/>
            <a:ext cx="27432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522976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STDEV()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5522976"/>
            <a:ext cx="4114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54680" y="5522976"/>
            <a:ext cx="4023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=STDEV(A1:A10)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5522976"/>
            <a:ext cx="4754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9480" y="5522976"/>
            <a:ext cx="4663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標本標準偏差を計算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B88600"/>
                </a:solidFill>
                <a:latin typeface="メイリオ"/>
              </a:rPr>
              <a:t>AVERAGEIF の条件の書き方："=F"（女性）/ "&gt;=80"（80以上） / "="&amp;B4（セル参照）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第1回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今日学んだキーワードと概念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Σ（シグマ）記号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54480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27632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合計を簡潔に表す数学記号。i=1からnまでの計算式を合計する表現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データの件数 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12848"/>
            <a:ext cx="8686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標本サイズ。全データの数を表す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71216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443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データの合計 Σxi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871216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944368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全データ要素の和。Σ記号を用いて表現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9584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0273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データの範囲 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529584"/>
            <a:ext cx="8686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最大値 − 最小値。データのばらつきの最も単純な指標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87952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61104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算術平均 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4187952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261104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最も一般的な代表値。Σxi ÷ n で計算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46320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1947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幾何平均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846320"/>
            <a:ext cx="8686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4919472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比率・成長率の平均。(X1×…×Xn)^(1/n)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04688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調和平均 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5504688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5577840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速度・単価など比率の逆数の平均。H ≦ G ≦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B88600"/>
                </a:solidFill>
                <a:latin typeface="メイリオ"/>
              </a:rPr>
              <a:t>次回：ばらつきの統計量（分散・標準偏差）と正規分布の基礎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課題・演習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メイリオ"/>
              </a:rPr>
              <a:t>【課題】次のクラスデータから平均点を求めよ（初回は提出無し）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問1：あるクラス50人の100点満点の国語テスト結果から平均点を求めよ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ヒント：mean ≈ 59.72, max = 83, min = 41　　（Google Docs・ChatGPT等の利用可）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解き方のステップ：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1371600" cy="5303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3931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STEP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566160"/>
            <a:ext cx="99669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63931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データを確認する（50個の得点を整理）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37160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3367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STEP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160520"/>
            <a:ext cx="9966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23367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全データの合計 Σxi を求める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371600" cy="53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2803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STEP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754880"/>
            <a:ext cx="99669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82803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件数 n = 50 で割る（平均 = Σxi ÷ 50）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49240"/>
            <a:ext cx="1371600" cy="5303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2239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349240"/>
            <a:ext cx="9966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42239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最大値・最小値・範囲も求める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43600"/>
            <a:ext cx="1371600" cy="530352"/>
          </a:xfrm>
          <a:prstGeom prst="rect">
            <a:avLst/>
          </a:prstGeom>
          <a:solidFill>
            <a:srgbClr val="00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01675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STEP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943600"/>
            <a:ext cx="996696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00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6016752"/>
            <a:ext cx="9784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Excelで =AVERAGE(範囲) を使って確認する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967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次回からはレポートとして提出 — 答え合わせは翌週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中央値（メジアン）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Median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中央値（Median）= データを昇順に並べたとき、ちょうど中央に位置する値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BDD7EE"/>
                </a:solidFill>
                <a:latin typeface="メイリオ"/>
              </a:rPr>
              <a:t>外れ値（異常に大きい・小さい値）の影響を受けにくく、分布が偏っているデータに有効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486400" cy="3474720"/>
          </a:xfrm>
          <a:prstGeom prst="rect">
            <a:avLst/>
          </a:prstGeom>
          <a:solidFill>
            <a:srgbClr val="E1F5FE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【奇数個の場合】データ数 n =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データ：4, 5, 6, 7, 8, 9, 100（昇順）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位置：(7+1)÷2 = 4番目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512064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中央値 = 7（4番目の値）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00000"/>
                </a:solidFill>
                <a:latin typeface="メイリオ"/>
              </a:rPr>
              <a:t>平均値 = (4+5+6+7+8+9+100)÷7 ≈ 19.9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メイリオ"/>
              </a:rPr>
              <a:t>→ 中央値7が実態をより正確に反映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5486400" cy="3474720"/>
          </a:xfrm>
          <a:prstGeom prst="rect">
            <a:avLst/>
          </a:prstGeom>
          <a:solidFill>
            <a:srgbClr val="E2EFDA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【偶数個の場合】データ数 n =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データ：3, 5, 7, 9, 11, 13（昇順）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中央の2値：3番目=7、4番目=9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512064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中央値 = (7+9)÷2 =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偶数個：中央2値の平均が中央値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00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95959"/>
                </a:solidFill>
                <a:latin typeface="メイリオ"/>
              </a:rPr>
              <a:t>→ 平均値と同じ 8（均一分布の場合）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88600"/>
                </a:solidFill>
                <a:latin typeface="メイリオ"/>
              </a:rPr>
              <a:t>Excel関数：=MEDIAN(範囲)　　Python：scores.median()　　計算手順：①昇順並べ替え → ②中央の位置特定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最頻値（モード）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最頻値（Mode）= データの中で最も多く出現する値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BDD7EE"/>
                </a:solidFill>
                <a:latin typeface="メイリオ"/>
              </a:rPr>
              <a:t>カテゴリデータ（性別・血液型・商品種別）や、特定の値が集中するデータに最適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2560320"/>
          </a:xfrm>
          <a:prstGeom prst="rect">
            <a:avLst/>
          </a:prstGeom>
          <a:solidFill>
            <a:srgbClr val="F2F2F2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7030A0"/>
                </a:solidFill>
                <a:latin typeface="メイリオ"/>
              </a:rPr>
              <a:t>例1：テスト点数データ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70, 80, 80, 80, 90, 90, 95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493776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メイリオ"/>
              </a:rPr>
              <a:t>最頻値 = 80（3回出現）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最も多くの生徒が取った点数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「典型的な成績」を示す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5486400" cy="25603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C000"/>
                </a:solidFill>
                <a:latin typeface="メイリオ"/>
              </a:rPr>
              <a:t>例2：商品の売れ筋サイズ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S, M, M, L, M, XL, L, M（服のサイズ）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71800"/>
            <a:ext cx="512064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メイリオ"/>
              </a:rPr>
              <a:t>最頻値 = M（4回出現）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最も売れている「M」が最頻値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在庫管理・仕入れに活用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複数の最頻値（双峰・多峰分布）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11430000" cy="822960"/>
          </a:xfrm>
          <a:prstGeom prst="rect">
            <a:avLst/>
          </a:prstGeom>
          <a:solidFill>
            <a:srgbClr val="FFD0D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データ：1, 2, 2, 3, 4, 4, 5 → 最頻値 = 2 と 4（両方3回ではなく2回ずつ）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C00000"/>
                </a:solidFill>
                <a:latin typeface="メイリオ"/>
              </a:rPr>
              <a:t>→ 最頻値が2つある場合「双峰分布」といい、2つの集団が混在している可能性がある（例：身長の男女別分布）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88600"/>
                </a:solidFill>
                <a:latin typeface="メイリオ"/>
              </a:rPr>
              <a:t>Excel：=MODE(範囲)  または  =MODE.MULT(範囲)（複数最頻値）　　Python：scores.mode()[0]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平均・中央値・最頻値の使い分け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Mean vs Median vs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3つの「代表値」 — データの典型的な値を1つの数で表す統計量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01168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91640"/>
            <a:ext cx="301752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69164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算術平均 Mean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691640"/>
            <a:ext cx="301752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69164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中央値 Median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691640"/>
            <a:ext cx="3017520" cy="475488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9164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最頻値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2011680" cy="603504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12848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計算方法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167128"/>
            <a:ext cx="3017520" cy="603504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221284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全データの合計÷件数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167128"/>
            <a:ext cx="3017520" cy="603504"/>
          </a:xfrm>
          <a:prstGeom prst="rect">
            <a:avLst/>
          </a:prstGeom>
          <a:solidFill>
            <a:srgbClr val="E1F5FE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21284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F3864"/>
                </a:solidFill>
                <a:latin typeface="メイリオ"/>
              </a:rPr>
              <a:t>昇順の中央の値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167128"/>
            <a:ext cx="3017520" cy="603504"/>
          </a:xfrm>
          <a:prstGeom prst="rect">
            <a:avLst/>
          </a:prstGeom>
          <a:solidFill>
            <a:srgbClr val="E2EFDA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212848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70AD47"/>
                </a:solidFill>
                <a:latin typeface="メイリオ"/>
              </a:rPr>
              <a:t>最多出現値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25496"/>
            <a:ext cx="201168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871216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外れ値の影響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825496"/>
            <a:ext cx="30175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287121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大きく受ける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2825496"/>
            <a:ext cx="30175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287121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F3864"/>
                </a:solidFill>
                <a:latin typeface="メイリオ"/>
              </a:rPr>
              <a:t>ほとんど受けない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825496"/>
            <a:ext cx="30175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871216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70AD47"/>
                </a:solidFill>
                <a:latin typeface="メイリオ"/>
              </a:rPr>
              <a:t>受けない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83864"/>
            <a:ext cx="2011680" cy="603504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529584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データ種別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483864"/>
            <a:ext cx="3017520" cy="603504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60" y="3529584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数値データ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3483864"/>
            <a:ext cx="3017520" cy="603504"/>
          </a:xfrm>
          <a:prstGeom prst="rect">
            <a:avLst/>
          </a:prstGeom>
          <a:solidFill>
            <a:srgbClr val="E1F5FE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3529584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F3864"/>
                </a:solidFill>
                <a:latin typeface="メイリオ"/>
              </a:rPr>
              <a:t>数値データ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3483864"/>
            <a:ext cx="3017520" cy="603504"/>
          </a:xfrm>
          <a:prstGeom prst="rect">
            <a:avLst/>
          </a:prstGeom>
          <a:solidFill>
            <a:srgbClr val="E2EFDA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3529584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70AD47"/>
                </a:solidFill>
                <a:latin typeface="メイリオ"/>
              </a:rPr>
              <a:t>数値・カテゴリ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42232"/>
            <a:ext cx="201168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187952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適したケース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4142232"/>
            <a:ext cx="30175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3160" y="4187952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正規分布・均一分布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4960" y="4142232"/>
            <a:ext cx="30175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F3864"/>
                </a:solidFill>
                <a:latin typeface="メイリオ"/>
              </a:rPr>
              <a:t>偏った分布・年収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142232"/>
            <a:ext cx="30175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4187952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70AD47"/>
                </a:solidFill>
                <a:latin typeface="メイリオ"/>
              </a:rPr>
              <a:t>カテゴリ・売れ筋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00600"/>
            <a:ext cx="2011680" cy="603504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846320"/>
            <a:ext cx="1920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例：年収データ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800600"/>
            <a:ext cx="3017520" cy="603504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484632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外れ値で高くなる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4800600"/>
            <a:ext cx="3017520" cy="603504"/>
          </a:xfrm>
          <a:prstGeom prst="rect">
            <a:avLst/>
          </a:prstGeom>
          <a:solidFill>
            <a:srgbClr val="E1F5FE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484632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1F3864"/>
                </a:solidFill>
                <a:latin typeface="メイリオ"/>
              </a:rPr>
              <a:t>実態を正確に反映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4800600"/>
            <a:ext cx="3017520" cy="603504"/>
          </a:xfrm>
          <a:prstGeom prst="rect">
            <a:avLst/>
          </a:prstGeom>
          <a:solidFill>
            <a:srgbClr val="E2EFDA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4846320"/>
            <a:ext cx="2926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70AD47"/>
                </a:solidFill>
                <a:latin typeface="メイリオ"/>
              </a:rPr>
              <a:t>最多の所得層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5778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88600"/>
                </a:solidFill>
                <a:latin typeface="メイリオ"/>
              </a:rPr>
              <a:t>実務での使い分け：年収・地価→中央値 ／ 販売数・成績分析→平均値 ／ 人気商品・血液型→最頻値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→ 3つを並べて比較することでデータの分布形状（対称・右偏・左偏）が把握できる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度数分布表とヒストグラム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Frequency Distribution &amp; Histogram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度数分布表：データをいくつかの区間（階級）に分けて、各区間の件数を集計した表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BDD7EE"/>
                </a:solidFill>
                <a:latin typeface="メイリオ"/>
              </a:rPr>
              <a:t>大量データの全体像を把握するための基本的な集計方法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303520" cy="4389120"/>
          </a:xfrm>
          <a:prstGeom prst="rect">
            <a:avLst/>
          </a:prstGeom>
          <a:solidFill>
            <a:srgbClr val="F2F2F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メイリオ"/>
              </a:rPr>
              <a:t>例：50人のテスト点数（100点満点）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20116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階級（点数）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423160"/>
            <a:ext cx="15544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42316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度数（人）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423160"/>
            <a:ext cx="15544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242316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相対度数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62072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62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40〜49点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862072"/>
            <a:ext cx="1554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28620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3人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862072"/>
            <a:ext cx="1554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28620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50〜59点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33756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337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8人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337560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3337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16%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13048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13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60〜69点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813048"/>
            <a:ext cx="1554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3813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15人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3813048"/>
            <a:ext cx="1554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40" y="3813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88536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28853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70〜79点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4288536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23160" y="42885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14人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4288536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7640" y="428853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28%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64024"/>
            <a:ext cx="20116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7640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80〜89点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4764024"/>
            <a:ext cx="1554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23160" y="47640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8人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4764024"/>
            <a:ext cx="15544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77640" y="47640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16%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23951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2395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90〜99点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5239512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52395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2人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5239512"/>
            <a:ext cx="1554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40" y="52395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1828800"/>
            <a:ext cx="57607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1920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メイリオ"/>
              </a:rPr>
              <a:t>ヒストグラム（棒グラフで度数を表示）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4937760"/>
            <a:ext cx="640080" cy="640080"/>
          </a:xfrm>
          <a:prstGeom prst="rect">
            <a:avLst/>
          </a:prstGeom>
          <a:solidFill>
            <a:srgbClr val="4472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メイリオ"/>
              </a:rPr>
              <a:t>40-49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6634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メイリオ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12280" y="3870960"/>
            <a:ext cx="640080" cy="1706880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メイリオ"/>
              </a:rPr>
              <a:t>50-59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3596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メイリオ"/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0" y="2377440"/>
            <a:ext cx="640080" cy="320040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メイリオ"/>
              </a:rPr>
              <a:t>60-69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0" y="21031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メイリオ"/>
              </a:rPr>
              <a:t>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3880" y="2590800"/>
            <a:ext cx="640080" cy="298704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8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メイリオ"/>
              </a:rPr>
              <a:t>70-79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80" y="23164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メイリオ"/>
              </a:rPr>
              <a:t>14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3870960"/>
            <a:ext cx="640080" cy="1706880"/>
          </a:xfrm>
          <a:prstGeom prst="rect">
            <a:avLst/>
          </a:prstGeom>
          <a:solidFill>
            <a:srgbClr val="70AD4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6968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メイリオ"/>
              </a:rPr>
              <a:t>80-89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359664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メイリオ"/>
              </a:rPr>
              <a:t>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55480" y="5151120"/>
            <a:ext cx="640080" cy="426720"/>
          </a:xfrm>
          <a:prstGeom prst="rect">
            <a:avLst/>
          </a:prstGeom>
          <a:solidFill>
            <a:srgbClr val="4472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55480" y="56235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メイリオ"/>
              </a:rPr>
              <a:t>90-99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5480" y="48768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メイリオ"/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88600"/>
                </a:solidFill>
                <a:latin typeface="メイリオ"/>
              </a:rPr>
              <a:t>Excel：ヒストグラム挿入 → [挿入]→[グラフ]→[統計グラフ]→[ヒストグラム]　　Python：plt.hist(scores, bins=6)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Excelで統計計算を実践する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Statistics with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Excelの統計関数を使えば、数式を書かずにボタン1つで基本統計量が計算できる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■ よく使うExcel統計関数一覧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228600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統計量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194560"/>
            <a:ext cx="320040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19456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Excel関数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194560"/>
            <a:ext cx="56692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19456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例（A1:A50）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33472"/>
            <a:ext cx="22860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3347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件数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633472"/>
            <a:ext cx="32004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633472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=COUNT(範囲)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633472"/>
            <a:ext cx="566928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633472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=COUNT(A1:A50) → 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99816"/>
            <a:ext cx="2286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099816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合計 Σxi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099816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3099816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=SUM(範囲)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099816"/>
            <a:ext cx="56692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3099816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=SUM(A1:A50) → 2986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22860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566160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算術平均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3566160"/>
            <a:ext cx="32004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3566160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=AVERAGE(範囲)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566160"/>
            <a:ext cx="566928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3566160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=AVERAGE(A1:A50) → 59.72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32504"/>
            <a:ext cx="2286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032504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中央値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032504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4032504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=MEDIAN(範囲)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4032504"/>
            <a:ext cx="56692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4032504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=MEDIAN(A1:A50) → 60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498848"/>
            <a:ext cx="22860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498848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最頻値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4498848"/>
            <a:ext cx="32004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4498848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=MODE(範囲)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498848"/>
            <a:ext cx="566928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80" y="4498848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=MODE(A1:A50) → 62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65192"/>
            <a:ext cx="2286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96519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最大値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4965192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4965192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=MAX(範囲)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4965192"/>
            <a:ext cx="56692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97880" y="4965192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=MAX(A1:A50) → 83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31536"/>
            <a:ext cx="22860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431536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最小値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51760" y="5431536"/>
            <a:ext cx="320040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80" y="5431536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=MIN(範囲)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5431536"/>
            <a:ext cx="5669280" cy="448056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5431536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=MIN(A1:A50) → 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97880"/>
            <a:ext cx="2286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897880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範囲 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5897880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5897880"/>
            <a:ext cx="31089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=MAX()-MIN()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5897880"/>
            <a:ext cx="566928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97880" y="5897880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=MAX(A1:A50)-MIN(A1:A50) → 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</a:rPr>
              <a:t>「分析ツール」アドイン：[データ]→[データ分析]→[基本統計量] で全統計量を一括出力できる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まとめ・次回予告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Summary &amp;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86400" cy="5212080"/>
          </a:xfrm>
          <a:prstGeom prst="rect">
            <a:avLst/>
          </a:prstGeom>
          <a:solidFill>
            <a:srgbClr val="F2F2F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第1回で学んだこと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Σ記号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6733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合計を表す数学記号。Σxi = x1+x2+…+xn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件数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1762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データの総数（サンプルサイズ）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791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合計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791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全データを足し合わせた値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821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範囲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1821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最大値 − 最小値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850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算術平均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6850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合計 ÷ 件数（外れ値に敏感）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879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幾何平均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8795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n乗根。成長率・比率の平均に使用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908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中央値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6908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並べた中央の値（外れ値に強い）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937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最頻値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19379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最も多く出現する値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23560"/>
            <a:ext cx="1645920" cy="457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6967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度数分布表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56967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階級別に件数を集計した表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960120"/>
            <a:ext cx="5669280" cy="5212080"/>
          </a:xfrm>
          <a:prstGeom prst="rect">
            <a:avLst/>
          </a:prstGeom>
          <a:solidFill>
            <a:srgbClr val="E1F5FE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次回（第2回）：ばらつきの統計量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600200"/>
            <a:ext cx="173736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71907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分散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160020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7190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各データと平均の差の2乗の平均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423160"/>
            <a:ext cx="173736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54203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標準偏差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242316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分散の平方根。ばらつきの基本単位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246120"/>
            <a:ext cx="173736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36499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変動係数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324612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33649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標準偏差÷平均。異なる単位の比較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069080"/>
            <a:ext cx="1737360" cy="7315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18795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偏差値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406908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41879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平均50・標準偏差10に変換した指標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892040"/>
            <a:ext cx="173736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01091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正規分布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489204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5010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ベル型の確率分布の基礎を学ぶ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次回までに：Excelでテストデータの平均・中央値・最頻値を実際に計算してみよう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